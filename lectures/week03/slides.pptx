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5" r:id="rId12"/>
    <p:sldId id="286" r:id="rId13"/>
    <p:sldId id="287" r:id="rId14"/>
    <p:sldId id="266" r:id="rId15"/>
    <p:sldId id="267" r:id="rId16"/>
    <p:sldId id="268" r:id="rId17"/>
    <p:sldId id="273" r:id="rId18"/>
    <p:sldId id="274" r:id="rId19"/>
    <p:sldId id="291" r:id="rId41"/>
    <p:sldId id="292" r:id="rId42"/>
    <p:sldId id="293" r:id="rId43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8" r:id="rId29"/>
    <p:sldId id="284" r:id="rId30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269" r:id="rId31"/>
    <p:sldId id="289" r:id="rId32"/>
    <p:sldId id="290" r:id="rId33"/>
    <p:sldId id="270" r:id="rId34"/>
    <p:sldId id="271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4"/>
  </p:normalViewPr>
  <p:slideViewPr>
    <p:cSldViewPr snapToGrid="0" snapToObjects="1">
      <p:cViewPr varScale="1">
        <p:scale>
          <a:sx n="119" d="100"/>
          <a:sy n="119" d="100"/>
        </p:scale>
        <p:origin x="76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42.xml"/><Relationship Id="rId32" Type="http://schemas.openxmlformats.org/officeDocument/2006/relationships/slide" Target="slides/slide43.xml"/><Relationship Id="rId33" Type="http://schemas.openxmlformats.org/officeDocument/2006/relationships/slide" Target="slides/slide44.xml"/><Relationship Id="rId34" Type="http://schemas.openxmlformats.org/officeDocument/2006/relationships/slide" Target="slides/slide45.xml"/><Relationship Id="rId35" Type="http://schemas.openxmlformats.org/officeDocument/2006/relationships/slide" Target="slides/slide46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openxmlformats.org/officeDocument/2006/relationships/slide" Target="slides/slide19.xml"/><Relationship Id="rId42" Type="http://schemas.openxmlformats.org/officeDocument/2006/relationships/slide" Target="slides/slide20.xml"/><Relationship Id="rId43" Type="http://schemas.openxmlformats.org/officeDocument/2006/relationships/slide" Target="slides/slide21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999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182880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1C2B"/>
                </a:solidFill>
                <a:latin typeface="Calibri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331720"/>
            <a:ext cx="981425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E1A1A"/>
                </a:solidFill>
                <a:latin typeface="Georgia"/>
              </a:rPr>
              <a:t>Sport data literacy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069080"/>
            <a:ext cx="92656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7504D"/>
                </a:solidFill>
                <a:latin typeface="Calibri"/>
              </a:rPr>
              <a:t>Where the numbers come from, what they actually measure, and the quality problems
that quietly destroy an analysis before it starts.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580644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07C"/>
                </a:solidFill>
                <a:latin typeface="Calibri"/>
              </a:rPr>
              <a:t>PES 3850 · Artificial Intelligence Applications in Sport · METU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WHY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Why a whole session on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Every hour you spend on a model is worth less than the first hour you spend on the data.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In real projects, cleaning and understanding the data takes most of the time. Nobody advertises this.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Almost every wrong answer in applied sport analytics is a data problem wearing a model's clothes.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You cannot judge whether a model is trustworthy if you cannot judge whether its data was.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Where sport data comes from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Eight sources, and what each one lies about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Eight sources you will meet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35935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11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66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How often it samples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Its classic failure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Event data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per event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passes, shots, tackles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two providers define 'a tackle' differently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Optical tracking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10–25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x,y of every player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two players cross and swap identity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GPS / LPS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10–18 per second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distance, speed, acceleration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each vendor sets its own 'high speed'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IMU / accelerometer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100–1000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acceleration, rotation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where it was worn; which way up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Heart rate, HRV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 per second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internal load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strap contact, movement artefact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Force plate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1000 per second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force, power, asymmetry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filter choices change the answer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28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Video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25–240 frames/s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everything and nothing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camera angle and perspective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295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Questionnaires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per session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wellness, RPE, soreness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people stop filling them in — and not at random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Sampling rate is a decision about what you are allowed to see.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650" b="0" i="0">
                <a:solidFill>
                  <a:srgbClr val="57504D"/>
                </a:solidFill>
                <a:latin typeface="Calibri"/>
              </a:rPr>
              <a:t>A 10 Hz GPS unit cannot see a foot strike. A 30 fps phone cannot resolve take-off in a jump.
No amount of AI recovers something the sensor never recorded.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Getting it into a usable shape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One row, one observation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shape that works, and the shape coaches send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048256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Tidy — one row is one observation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date | athlete | session | RPE | duration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Every variable has its own column.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Adding an athlete adds rows, not columns.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Every tool in this course expects this shape.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Boring to look at. Trivial to analyse.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2048256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47307" y="2212848"/>
            <a:ext cx="506714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What actually arrives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7" y="2697480"/>
            <a:ext cx="5067147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One sheet per athlete, twenty-two sheets.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One column per week, so a new week means a new column.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Merged cells, a photograph of a whiteboard, colour meaning something.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Totals in the middle of the data.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200"/>
              </a:spcAft>
            </a:pPr>
            <a:r>
              <a:rPr sz="1550" b="0" i="0">
                <a:solidFill>
                  <a:srgbClr val="1E1A1A"/>
                </a:solidFill>
                <a:latin typeface="Calibri"/>
              </a:rPr>
              <a:t>•  Beautiful to look at. Nearly impossible to analyse.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Quality problems that kill a model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Four, and they are all invisible in a summary 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1 — Missing values, and when they go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The count of missing values tells you almost nothing. The pattern tells you everything.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270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In our monitoring dataset, wellness is missing on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5%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of ordinary days.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On the day after a match it is missing on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23%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of days.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Those are exactly the days when athletes are most fatigued and most at risk.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Delete those rows and you delete the hardest days from the analysis.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Fill them with the average and you have told the model post-match days were average.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Neither choice appears in the methods section of most papers. Both change the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2 — Units, and 3 — outliers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6559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Units.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Metres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and yards. Minutes and '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h:mm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'. Kilograms and newtons. Two clubs, two conventions, one merged file, one silent disaster.</a:t>
            </a:r>
          </a:p>
          <a:p>
            <a:pPr algn="l">
              <a:lnSpc>
                <a:spcPct val="124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i="0" dirty="0">
                <a:solidFill>
                  <a:srgbClr val="57504D"/>
                </a:solidFill>
                <a:latin typeface="Calibri"/>
              </a:rPr>
              <a:t>     –  Always print the minimum and maximum of every column. A 3.98 s twenty-</a:t>
            </a:r>
            <a:r>
              <a:rPr sz="1600" b="0" i="0" dirty="0" err="1">
                <a:solidFill>
                  <a:srgbClr val="57504D"/>
                </a:solidFill>
                <a:latin typeface="Calibri"/>
              </a:rPr>
              <a:t>metre</a:t>
            </a:r>
            <a:r>
              <a:rPr sz="1600" b="0" i="0" dirty="0">
                <a:solidFill>
                  <a:srgbClr val="57504D"/>
                </a:solidFill>
                <a:latin typeface="Calibri"/>
              </a:rPr>
              <a:t> sprint is a typing error; a 1.98 s one is a different unit.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Outliers.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Some are errors. Some are the most interesting athlete in the squad.</a:t>
            </a:r>
          </a:p>
          <a:p>
            <a:pPr algn="l">
              <a:lnSpc>
                <a:spcPct val="124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i="0" dirty="0">
                <a:solidFill>
                  <a:srgbClr val="57504D"/>
                </a:solidFill>
                <a:latin typeface="Calibri"/>
              </a:rPr>
              <a:t>     –  You cannot tell which from the number alone. You have to go back to the session, the video, or the person.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Deleting outliers because they are inconvenient is the most common form of quiet scientific misconduct in our field.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faults, one command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TYPE THIS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gps.describe().T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WHAT COMES BACK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                 mean       min       max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duration_min    66.92     15.00    120.40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distance      5123.13    200.00  14512.10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top_speed        9.42      1.56     35.23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sprint20m_s      3.01      1.98      3.98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WHAT IT JUST TOLD YOU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top speed 35.23   four athletes exported in km/h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distance 14512    three recorded in yards, not metres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1.98 s for 20 m   a different timing gate entirely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A1A"/>
                </a:solidFill>
                <a:latin typeface="Consolas"/>
              </a:rPr>
              <a:t>3.98 s for 20 m   somebody typed 3 where they meant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Four faults nobody mentioned, in one line, before you have modelled anything.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column that was not in the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7504D"/>
                </a:solidFill>
                <a:latin typeface="Calibri"/>
              </a:rPr>
              <a:t>rpe is the rating of perceived exertion: how hard the athlete rated the session, from 0 to 10.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95728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As it 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017520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3172968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gps['rpe'].dtype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dtype('O')   &lt;- text, not a number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8B807C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gps['rpe'].astype(float)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ValueError: could not convert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 string to float: '5,5'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0587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describe() never mentioned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7307" y="2395728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47307" y="2560320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line to repair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7307" y="3017520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8475" y="3172968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 = pd.to_numeric(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gps['rpe'].str.replace(',', '.'),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errors='coerce')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gps['rpe'].mean()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6.31      and nothing was lost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4700587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5,090 values, 0 nulls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 Turkish keyboard writes 6,5. One comma anywhere in a column and pandas reads the whole column as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an automatic outlier rule actually removes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Drop anything beyond 3 SD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m, sd = s.mean(), s.std()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s[(s - m).abs() &gt; 3 * sd]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1.98  2.52  2.56  2.58  2.59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2.61  3.42  3.42  3.43  3.98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10 rows removed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8 of those 10 were real sessions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Look at the 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1.98   a different timing gate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3.98   3 typed where 2 was meant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2.52 2.56 2.58 2.59 2.61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3.42 3.42 3.43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the fastest and slowest athletes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 in the squad, measured correctly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2 errors, and 8 athletes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 3-SD rule removes about 0.3% of any normal column, whether or not anything is wrong with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4 — Your measurement is not exact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Every test has a typical error — the wobble you get when nothing has changed.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If your jump test has a typical error of 1.5 cm, no model built on it can reliably detect a 1 cm change.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A model cannot be more precise than what went into it. It can, and will, look more precise.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Before you model anything, ask: is the effect I am hunting bigger than the noise in my measurement?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The n = 22 problem.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650" b="0" i="0">
                <a:solidFill>
                  <a:srgbClr val="57504D"/>
                </a:solidFill>
                <a:latin typeface="Calibri"/>
              </a:rPr>
              <a:t>One squad, forty variables, twenty-two athletes. There are more ways to be wrong than there are athletes.
This is the permanent condition of sport science, and it shapes everything we do from Week 4 onwards.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Getting data you are allowed to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211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Open datasets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StatsBomb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, public repositories, journal supplementary files. Fastest, and no ethics delay.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Your own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organisation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needs a written permission letter, and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anonymisation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before it reaches </a:t>
            </a:r>
            <a:r>
              <a:rPr sz="1850" b="0" i="0" dirty="0" err="1">
                <a:solidFill>
                  <a:srgbClr val="1E1A1A"/>
                </a:solidFill>
                <a:latin typeface="Calibri"/>
              </a:rPr>
              <a:t>Colab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 dirty="0">
                <a:solidFill>
                  <a:srgbClr val="1E1A1A"/>
                </a:solidFill>
                <a:latin typeface="Calibri"/>
              </a:rPr>
              <a:t>•  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Scraping websites</a:t>
            </a:r>
            <a:r>
              <a:rPr lang="en-TR" sz="1850" b="0" i="0" dirty="0">
                <a:solidFill>
                  <a:srgbClr val="1E1A1A"/>
                </a:solidFill>
                <a:latin typeface="Calibri"/>
              </a:rPr>
              <a:t>"</a:t>
            </a:r>
            <a:r>
              <a:rPr sz="1850" b="0" i="0" dirty="0">
                <a:solidFill>
                  <a:srgbClr val="1E1A1A"/>
                </a:solidFill>
                <a:latin typeface="Calibri"/>
              </a:rPr>
              <a:t> — usually against the terms of service. Do not build a project on it.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 dirty="0">
                <a:solidFill>
                  <a:srgbClr val="8A1C2B"/>
                </a:solidFill>
                <a:latin typeface="Calibri"/>
              </a:rPr>
              <a:t>An athlete's GPS trace is personal data about a named individual. Treat it the way you would treat their medical file.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217C0D-1E60-D4D3-F506-940F6AF3A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12" y="0"/>
            <a:ext cx="11080376" cy="679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019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From a coach's file to a modelling table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Four operations. You will use all four in every project from here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preprocessing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Everything you do to the data between receiving it and analysing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Data is recorded for the system that produced it — a GPS unit, an app, a coach's spreadsheet — not for your question.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Preprocessing turns it into one table that answers your question: one row per thing you study, every column a number you trust.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It is not tidying up. Every step is a decision, and every decision can change the answer.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Every step you take here belongs in your methods section.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Why it matters: what skipping a step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441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698"/>
                <a:gridCol w="4467630"/>
                <a:gridCol w="4254886"/>
              </a:tblGrid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Skipped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 to your answer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today's files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Units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mixes two scales in one column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top speed 35.23, from km/h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Types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 variable silently disappears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rpe missing from describe()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Joins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rows are lost, or invented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5,090 sessions became 5,126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Gaps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hardest days look ordinary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soreness 4.29 fell to 3.96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row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sessions counted as if they were athletes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5,090 rows, but 30 athletes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700016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Each one is silent. None of them raises an error.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How: the steps, in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2825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698"/>
                <a:gridCol w="4893118"/>
                <a:gridCol w="3829397"/>
              </a:tblGrid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do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pandas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 · Look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shape, types, summary, what is missing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.shape  .dtypes  .describe()  .isna()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2 · Fix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text into numbers, one unit for everything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pd.to_numeric()  .str.replace()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3 · Check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impossible values and duplicates — by looking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.min()  .max()  .duplicated()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 · Combine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one row per observation, files joined on a repaired key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.melt()  .merge()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364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5 · Decide the row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aggregate to what you are studying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.groupby().agg()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3644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6 · Prepare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gaps on purpose, categories encoded, features built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.fillna()  pd.get_dummies()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084064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Write down every decision. A reader should be able to rebuild your table from your methods section.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is actually on the disk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Four files, synthetic, shaped exactly like the ones that arrive.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gps_sessions.csv — 5,090 rows. One row per session.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wellness_daily.csv — 4,588 rows. One row per athlete per morning.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squad.csv — 30 rows. Position, date of birth, dominant limb.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coach_training_load.xlsx — 30 rows, one column per week.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Not one of them joins to another without work.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One column per week, and what it has to become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As the spreadsheet opens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wide = pd.read_excel(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'coach_training_load.xlsx',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sheet_name='Load', skiprows=2)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wide.shape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(31, 27)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31 rows, and there are 30 athletes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row per athlete-week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long = wide.melt(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id_vars='Athlete',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var_name='week',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value_name='minutes').dropna()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long.shape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(780, 3)      30 athletes x 26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Now every tool in the course can read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The 31st row is TOTAL. It vanished only because those cells hold formulas.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The join, before and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Keys as they were typed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 = gps.merge(well,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on=['athlete','date'], how='left')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len(df)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5112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df['sleep_h'].isna().mean()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0.385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38.5% of the wellness 'missing'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Keys repaired, duplicates removed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'a3' and 'A03' are the same athlete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n = gps['athlete'].str.extract(r'(\d+)')[0]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gps['athlete'] = 'A' + n.str.zfill(2)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well = well.drop_duplicates(['athlete','date'])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df = gps.merge(well, on=['athlete','date'],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  how='left')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5090 rows, 0.143 missing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14.3% — the real figure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Same two files, same join. The first number was an artefact of how somebody typed an id.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Three ways a join goes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1673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8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9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see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to do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Rows you expected are empty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key is written differently in the two files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normalise the key before joining, every time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337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More rows than you started with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key is not unique on one side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count duplicates on both sides first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34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Athletes have quietly disappeared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an inner join kept only the rows that matched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join with how='left', then count what is missing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931920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In these files: 38.5% empty, 36 rows conjured out of nothing, and A28, A29, A30 gone without a word.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is one row?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Answer this before you aggregate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675 athlete-days in this file carry two sessions — a gym session in the afternoon.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Group by athlete and date and you have silently averaged them into one.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30 athletes measured 170 times each is still 30 athletes.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Decide the unit of analysis now. In Week 5 it decides how you are allowed to split the 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ways to handle a gap, four different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1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1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5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do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Mean post-match soreness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you have claimed</a:t>
                      </a:r>
                    </a:p>
                  </a:txBody>
                  <a:tcPr marT="50292" marB="50292">
                    <a:solidFill>
                      <a:srgbClr val="8A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Use only what was recorded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4.29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nothing — but a quarter of those days are gone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Fill with the column mean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post-match days were ordinary days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Carry the last value forward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3.92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nothing changed overnight after a match</a:t>
                      </a:r>
                    </a:p>
                  </a:txBody>
                  <a:tcPr marT="50292" marB="5029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Keep it, add a 'was missing' column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4.29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that the gap itself may carry information</a:t>
                      </a:r>
                    </a:p>
                  </a:txBody>
                  <a:tcPr marT="50292" marB="50292">
                    <a:solidFill>
                      <a:srgbClr val="F4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Ordinary days average 2.80. The missing days are not noise — they are the hardest days in the season.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Every gap you fill is a sentence
you put in the model's mouth.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Filling is not the neutral choice. Neither is deleting. Both are claims, and both belong in your methods section.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Text columns, and what a model will take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Straight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 = squad[['position', 'dominant_limb']]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model.fit(X, 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ValueError: could not convert 'MF'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One column per 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 = pd.get_dummies(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squad[['position','dominant_limb']],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drop_first=True)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X.shape        # (30, 4)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position_FW, position_GK, position_MF,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dominant_limb_Right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Four 0/1 columns it can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drop_first keeps one category as the baseline, so the new columns are not redundant.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When the size of a number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Distance is in thousands of metres. RPE runs 1 to 10. Sleep is about 7.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k-means, k-NN and anything regularised read that as 'distance is the important one'.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Trees and forests do not care — they split on order, not on size.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Scale after you split the data, never before, and fit the scaler on the training part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A column worth more than the two it came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What you were handed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duration_min    rpe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95    7,0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72    6,0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38    3,0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minutes, and a number out of 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Neither one is training 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Session load, built from both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741074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4301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gps['load'] = gps['rpe'] * gps['duration_min']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gps.groupby('session_type')['load'].mean()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 sz="1100" b="0" i="0">
              <a:solidFill>
                <a:srgbClr val="1E1A1A"/>
              </a:solidFill>
              <a:latin typeface="Consolas"/>
            </a:endParaR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Match       601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Training    456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Gym         280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Recovery    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484274"/>
            <a:ext cx="50671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The number coaches plan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And it exists only because you repaired the comma first. Features are built, not found.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PREPARING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Week 4 needs from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This is the table you hand to a model next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One row per athlete-week. 780 rows, not 5,090.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Keys repaired, duplicates counted, every unit in one system.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Categories encoded. Gaps handled on purpose, and written down.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One column that is the thing you are trying to predict.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Everything from Week 4 onwards assumes this table already exists.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1C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23774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7000" b="1" i="0">
                <a:solidFill>
                  <a:srgbClr val="E09AA2"/>
                </a:solidFill>
                <a:latin typeface="Georgia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34640" y="2514600"/>
            <a:ext cx="81683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you do with the table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0" i="0">
                <a:solidFill>
                  <a:srgbClr val="EEC9CD"/>
                </a:solidFill>
                <a:latin typeface="Calibri"/>
              </a:rPr>
              <a:t>Look first. Reach for a model only when you need to predict.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Four kinds of question you can ask of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954"/>
                <a:gridCol w="2127443"/>
                <a:gridCol w="4042141"/>
                <a:gridCol w="2765675"/>
              </a:tblGrid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 sport example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Descriptive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What happened?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What was the squad's average weekly load?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averages, spread, a plot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Exploratory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Is there a pattern?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Are heavier weeks sorer weeks?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groups, plots, correlation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Inferential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Is it real, or chance?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Do midfielders really carry more load?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 test, a confidence interval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Predictive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What will happen?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Who is likely to be sore next week?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machine learning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The next two slides answer the first three, on today's table. From Week 4 onwards, the fourth.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Describe it, then look for a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Descriptive: what happened?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weekly['load'].describe()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mean 2758 AU   sd 470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min  1254      max 4163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weekly.groupby('position')['load'].mean()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DF 2721   FW 2790   GK 2717   MF 2790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A typical week, and how much weeks vary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Exploratory: is there a pattern?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weekly[['load', 'soreness']].corr()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r = 0.06   over 702 athlete-weeks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heavier weeks are not sorer weeks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in these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No — and that is an answer too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Two lines each. Most questions a coach asks stop here.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Is the difference real? It depends on what you 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5067147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0671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Every athlete-week as a 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752344"/>
            <a:ext cx="4701387" cy="122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mids  = weekly[weekly.position == 'MF']['load']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backs = weekly[weekly.position == 'DF']['load']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stats.ttest_ind(mids, backs)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n = 312 against 286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difference 69 AU,   p = 0.07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79963"/>
            <a:ext cx="50671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A1C2B"/>
                </a:solidFill>
                <a:latin typeface="Calibri"/>
              </a:rPr>
              <a:t>Looks close to 'significant'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7307" y="1975104"/>
            <a:ext cx="5067147" cy="32004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7307" y="2139696"/>
            <a:ext cx="50671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B6470"/>
                </a:solidFill>
                <a:latin typeface="Calibri"/>
              </a:rPr>
              <a:t>Each athlete counted once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7307" y="2596896"/>
            <a:ext cx="5067147" cy="1536763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8475" y="2752344"/>
            <a:ext cx="4701387" cy="122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per = (weekly.groupby(['athlete', 'position'])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>             ['load'].mean().reset_index())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E1A1A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n = 12 against 11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07C"/>
                </a:solidFill>
                <a:latin typeface="Consolas"/>
              </a:rPr>
              <a:t># difference 69 AU,   p = 0.18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4279963"/>
            <a:ext cx="50671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The same 69 AU. Weak evidence of anything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44768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7504D"/>
                </a:solidFill>
                <a:latin typeface="Calibri"/>
              </a:rPr>
              <a:t>Nothing changed but the counting. Thirty athletes are thirty pieces of evidence, not seven hundred.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783080"/>
            <a:ext cx="9997135" cy="3291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E1A1A"/>
                </a:solidFill>
                <a:latin typeface="Georgia"/>
              </a:rPr>
              <a:t>Most questions a coach asks are answered
by a good table and a plot.</a:t>
            </a:r>
          </a:p>
          <a:p>
            <a:pPr algn="ctr">
              <a:lnSpc>
                <a:spcPct val="128000"/>
              </a:lnSpc>
              <a:spcBef>
                <a:spcPts val="1600"/>
              </a:spcBef>
              <a:spcAft>
                <a:spcPts val="600"/>
              </a:spcAft>
            </a:pPr>
            <a:r>
              <a:rPr sz="1700" b="0" i="0">
                <a:solidFill>
                  <a:srgbClr val="57504D"/>
                </a:solidFill>
                <a:latin typeface="Calibri"/>
              </a:rPr>
              <a:t>A model is for when you need to predict something that has not happened yet.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What a machine learning model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57504D"/>
                </a:solidFill>
                <a:latin typeface="Calibri"/>
              </a:rPr>
              <a:t>It learns a pattern from past examples, instead of being given a rule.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0362895" cy="36393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You give it inputs — load, sleep, age — and, for past cases, the answer: injured or not, a sprint time.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It finds the pattern that links them, then uses it on new cases where the answer is not known yet.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Supervised: you have the answer for past cases. Unsupervised: you do not, and it looks for structure.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It finds patterns, not causes. 'Predicts injury' never means 'explains injury'.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Learning from answers: the supervised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2441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3191164"/>
                <a:gridCol w="4254886"/>
                <a:gridCol w="1063721"/>
              </a:tblGrid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 sport question it answers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fits a straight-line relationship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20 m sprint time from jump height and body mass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Ridge regression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same, with no input dominating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same, with many overlapping tests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a flowchart of yes/no questions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is this athlete's week a risky one?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hundreds of trees, voting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injury risk; walking vs running from a phone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4, 6, 9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06908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trees in sequence, each fixing the last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the same questions, on larger data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700016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Week 4 runs the first five side by side on thirty athletes — and the straight line wins.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Finding structure, and learning from raw signals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57400"/>
          <a:ext cx="10637214" cy="1673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3191164"/>
                <a:gridCol w="4254886"/>
                <a:gridCol w="1063721"/>
              </a:tblGrid>
              <a:tr h="418337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 sport question it answers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91440" marR="91440" marT="50292" marB="50292">
                    <a:solidFill>
                      <a:srgbClr val="8A1C2B"/>
                    </a:solidFill>
                  </a:tcPr>
                </a:tc>
              </a:tr>
              <a:tr h="418337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groups athletes, no answer needed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which athletes have similar profiles?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  <a:tr h="418337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PCA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reduces many tests to a few qualities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18 fitness tests: how many qualities?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91440" marR="91440" marT="50292" marB="50292">
                    <a:solidFill>
                      <a:srgbClr val="F4F1ED"/>
                    </a:solidFill>
                  </a:tcPr>
                </a:tc>
              </a:tr>
              <a:tr h="41834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Deep learning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learns straight from images or signals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joint angles from ordinary video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E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91440" marR="91440" marT="50292" marB="5029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931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Week 1's pose demonstration was deep learning. You will not build one; you will learn to check one.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WEEK 3 ·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Choosing a method: three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362895" cy="424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Do you have the answer for past cases? Yes: supervised. No: unsupervised.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Is the answer a number or a category? A number: regression. A category: classification.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200"/>
              </a:spcAft>
            </a:pPr>
            <a:r>
              <a:rPr sz="1850" b="0" i="0">
                <a:solidFill>
                  <a:srgbClr val="1E1A1A"/>
                </a:solidFill>
                <a:latin typeface="Calibri"/>
              </a:rPr>
              <a:t>•  How many athletes? With thirty, the simplest model that could work usually does.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  <a:spcAft>
                <a:spcPts val="200"/>
              </a:spcAft>
            </a:pPr>
            <a:r>
              <a:rPr sz="1700" b="1" i="0">
                <a:solidFill>
                  <a:srgbClr val="8A1C2B"/>
                </a:solidFill>
                <a:latin typeface="Calibri"/>
              </a:rPr>
              <a:t>Start simple. Week 4 shows why, on real numbers.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F0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6470"/>
                </a:solidFill>
                <a:latin typeface="Calibri"/>
              </a:rPr>
              <a:t>LABORATORY · THIS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1800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1A1A"/>
                </a:solidFill>
                <a:latin typeface="Georgia"/>
              </a:rPr>
              <a:t>Lab 3 — From four files to one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 b="0" i="0">
                <a:solidFill>
                  <a:srgbClr val="1E1A1A"/>
                </a:solidFill>
                <a:latin typeface="Calibri"/>
              </a:rPr>
              <a:t>•  The same four files you just watched on screen, downloaded into Colab.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Four commands — then write down what looks wrong before you read the answer.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Repair the comma, the km/h and the yards. A checkpoint says which fault is still there.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Join the two files properly: 5,090 rows in, 5,090 rows out, nobody deleted.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Build the calendar of mornings that should exist, and find the pattern in what is missing.</a:t>
            </a:r>
          </a:p>
          <a:p>
            <a:pPr>
              <a:lnSpc>
                <a:spcPct val="126000"/>
              </a:lnSpc>
              <a:spcBef>
                <a:spcPts val="800"/>
              </a:spcBef>
              <a:spcAft>
                <a:spcPts val="200"/>
              </a:spcAft>
            </a:pPr>
            <a:r>
              <a:rPr sz="1750">
                <a:solidFill>
                  <a:srgbClr val="1E1A1A"/>
                </a:solidFill>
                <a:latin typeface="Calibri"/>
              </a:rPr>
              <a:t>•  Hand over the table Week 4 starts from: one row per athlete-week, every column a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06440"/>
            <a:ext cx="106372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6470"/>
                </a:solidFill>
                <a:latin typeface="Calibri"/>
              </a:rPr>
              <a:t>Submit:  Notebook with both checkpoints passing, plus which fault here would most distort an injury model, and why.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LABORATORY · BLOCK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Block 3 — the code to fill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1 · RPE: REPLACE THE COMMA WITH A DOT, THEN MAKE IT A NUMBER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 = gps.copy()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gps_clean['rpe'] = pd.to_numeric(gps_clean['rpe'].str.replace(</a:t>
            </a:r>
            <a:r>
              <a:rPr sz="1200" b="1">
                <a:solidFill>
                  <a:srgbClr val="1B6470"/>
                </a:solidFill>
                <a:latin typeface="Consolas"/>
              </a:rPr>
              <a:t>','</a:t>
            </a:r>
            <a:r>
              <a:rPr sz="1200" b="0">
                <a:solidFill>
                  <a:srgbClr val="1E1A1A"/>
                </a:solidFill>
                <a:latin typeface="Consolas"/>
              </a:rPr>
              <a:t>, </a:t>
            </a:r>
            <a:r>
              <a:rPr sz="1200" b="1">
                <a:solidFill>
                  <a:srgbClr val="1B6470"/>
                </a:solidFill>
                <a:latin typeface="Consolas"/>
              </a:rPr>
              <a:t>'.'</a:t>
            </a:r>
            <a:r>
              <a:rPr sz="1200" b="0">
                <a:solidFill>
                  <a:srgbClr val="1E1A1A"/>
                </a:solidFill>
                <a:latin typeface="Consolas"/>
              </a:rPr>
              <a:t>))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2 · ONE CLEAN ID, HOWEVER IT WAS TYPED: A7 BECOMES A07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key = 'A' + gps_clean['athlete'].str.extract(r'(\d+)')[0].str.zfill(2)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3 · KM/H TO M/S, FOR THE FOUR ATHLETES WHOSE GPS EXPORTED KM/H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gps_clean.loc[key.isin(['A12','A13','A14','A15']), 'top_speed'] /= </a:t>
            </a:r>
            <a:r>
              <a:rPr sz="1200" b="1">
                <a:solidFill>
                  <a:srgbClr val="1B6470"/>
                </a:solidFill>
                <a:latin typeface="Consolas"/>
              </a:rPr>
              <a:t>3.6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4 · YARDS TO METRES, FOR THE THREE RECORDED IN YARDS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gps_clean.loc[key.isin(['A07','A08','A09']), 'distance'] /= </a:t>
            </a:r>
            <a:r>
              <a:rPr sz="1200" b="1">
                <a:solidFill>
                  <a:srgbClr val="1B6470"/>
                </a:solidFill>
                <a:latin typeface="Consolas"/>
              </a:rPr>
              <a:t>1.09361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10637215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In the notebook, only the highlighted parts of the code are blank. Everything else is already typed.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1C2B"/>
                </a:solidFill>
                <a:latin typeface="Calibri"/>
              </a:rPr>
              <a:t>LABORATORY · BLOCK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E1A1A"/>
                </a:solidFill>
                <a:latin typeface="Georgia"/>
              </a:rPr>
              <a:t>Block 4 — the code to fill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00784"/>
            <a:ext cx="1371600" cy="32004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975104"/>
            <a:ext cx="10637215" cy="4224528"/>
          </a:xfrm>
          <a:prstGeom prst="rect">
            <a:avLst/>
          </a:prstGeom>
          <a:solidFill>
            <a:srgbClr val="F4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75104"/>
            <a:ext cx="45720" cy="4224528"/>
          </a:xfrm>
          <a:prstGeom prst="rect">
            <a:avLst/>
          </a:prstGeom>
          <a:solidFill>
            <a:srgbClr val="8A1C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39696"/>
            <a:ext cx="9951415" cy="3895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1 · REPAIR THE ID, EXACTLY AS IN BLOCK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n = gps_clean['athlete'].str.extract(r'(\d+)')[0]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g = gps_clean.assign(athlete='A' + n.str.zfill(2))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2 · ONE WELLNESS ROW PER ATHLETE PER MORNING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w = wellness.drop_duplicates(subset=</a:t>
            </a:r>
            <a:r>
              <a:rPr sz="1200" b="1">
                <a:solidFill>
                  <a:srgbClr val="1B6470"/>
                </a:solidFill>
                <a:latin typeface="Consolas"/>
              </a:rPr>
              <a:t>['athlete','date']</a:t>
            </a:r>
            <a:r>
              <a:rPr sz="1200" b="0">
                <a:solidFill>
                  <a:srgbClr val="1E1A1A"/>
                </a:solidFill>
                <a:latin typeface="Consolas"/>
              </a:rPr>
              <a:t>)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200"/>
              </a:spcAft>
            </a:pPr>
            <a:r>
              <a:rPr sz="950" b="1" i="0">
                <a:solidFill>
                  <a:srgbClr val="8A1C2B"/>
                </a:solidFill>
                <a:latin typeface="Calibri"/>
              </a:rPr>
              <a:t>3 · KEEP EVERY SESSION, MATCHED OR NOT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1A1A"/>
                </a:solidFill>
                <a:latin typeface="Consolas"/>
              </a:rPr>
              <a:t>joined = g.merge(w, on=['athlete','date'], how=</a:t>
            </a:r>
            <a:r>
              <a:rPr sz="1200" b="1">
                <a:solidFill>
                  <a:srgbClr val="1B6470"/>
                </a:solidFill>
                <a:latin typeface="Consolas"/>
              </a:rPr>
              <a:t>'left'</a:t>
            </a:r>
            <a:r>
              <a:rPr sz="1200" b="0">
                <a:solidFill>
                  <a:srgbClr val="1E1A1A"/>
                </a:solidFill>
                <a:latin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10637215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7504D"/>
                </a:solidFill>
                <a:latin typeface="Calibri"/>
              </a:rPr>
              <a:t>Two blanks: the columns that make a morning unique, and the how= that keeps every athlete.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6470"/>
                </a:solidFill>
                <a:latin typeface="Calibri"/>
              </a:rPr>
              <a:t>OPEN CLINIC · LAST 20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27145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E1A1A"/>
                </a:solidFill>
                <a:latin typeface="Georgia"/>
              </a:rPr>
              <a:t>Bring your own disaster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1800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1.   Open the data file you actually have. What shape is it in?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2.   What is missing, and do you know why it is missing?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3.   What units is everything in, and are you sure?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  <a:spcAft>
                <a:spcPts val="300"/>
              </a:spcAft>
            </a:pPr>
            <a:r>
              <a:rPr sz="1900" b="0" i="0">
                <a:solidFill>
                  <a:srgbClr val="1E1A1A"/>
                </a:solidFill>
                <a:latin typeface="Calibri"/>
              </a:rPr>
              <a:t>4.   How many observations do you really have — rows, or people?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807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6470"/>
                </a:solidFill>
                <a:latin typeface="Calibri"/>
              </a:rPr>
              <a:t>Twenty minutes. Bring the file; we will look at it together.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21792"/>
            <a:ext cx="106372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CFBF9"/>
                </a:solidFill>
                <a:latin typeface="Georgia"/>
              </a:rPr>
              <a:t>What to take away from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91056"/>
            <a:ext cx="1371600" cy="32004"/>
          </a:xfrm>
          <a:prstGeom prst="rect">
            <a:avLst/>
          </a:prstGeom>
          <a:solidFill>
            <a:srgbClr val="E58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180015" cy="4581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1.   Every source samples at a rate, and that rate decides what you are permitted to see.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2.   One row, one observation. Restructure before you analyse, always.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3.   Missingness is information. Ask when values go missing, not just how many.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200"/>
              </a:spcAft>
            </a:pPr>
            <a:r>
              <a:rPr sz="1900" b="0" i="0">
                <a:solidFill>
                  <a:srgbClr val="FCFBF9"/>
                </a:solidFill>
                <a:latin typeface="Calibri"/>
              </a:rPr>
              <a:t>4.   Rows are not observations. Twenty-two athletes measured a hundred times is still twenty-two athletes.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4377</Words>
  <Application>Microsoft Macintosh PowerPoint</Application>
  <PresentationFormat>Widescreen</PresentationFormat>
  <Paragraphs>375</Paragraphs>
  <Slides>34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Galip AYDIN</cp:lastModifiedBy>
  <cp:revision>4</cp:revision>
  <dcterms:created xsi:type="dcterms:W3CDTF">2013-01-27T09:14:16Z</dcterms:created>
  <dcterms:modified xsi:type="dcterms:W3CDTF">2026-10-20T19:59:44Z</dcterms:modified>
  <cp:category/>
</cp:coreProperties>
</file>