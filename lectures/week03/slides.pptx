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86" r:id="rId13"/>
    <p:sldId id="287" r:id="rId14"/>
    <p:sldId id="266" r:id="rId15"/>
    <p:sldId id="267" r:id="rId16"/>
    <p:sldId id="268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8" r:id="rId29"/>
    <p:sldId id="284" r:id="rId30"/>
    <p:sldId id="269" r:id="rId31"/>
    <p:sldId id="289" r:id="rId32"/>
    <p:sldId id="290" r:id="rId33"/>
    <p:sldId id="270" r:id="rId34"/>
    <p:sldId id="27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 snapToObjects="1">
      <p:cViewPr varScale="1">
        <p:scale>
          <a:sx n="119" d="100"/>
          <a:sy n="119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999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1C2B"/>
                </a:solidFill>
                <a:latin typeface="Calibri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331720"/>
            <a:ext cx="981425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E1A1A"/>
                </a:solidFill>
                <a:latin typeface="Georgia"/>
              </a:rPr>
              <a:t>Sport data literacy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9265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7504D"/>
                </a:solidFill>
                <a:latin typeface="Calibri"/>
              </a:rPr>
              <a:t>Where the numbers come from, what they actually measure, and the quality problems
that quietly destroy an analysis before it starts.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80644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alibri"/>
              </a:rPr>
              <a:t>PES 3850 · Artificial Intelligence Applications in Sport · METU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WHY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Why a whole session on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hour you spend on a model is worth less than the first hour you spend on the data.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In real projects, cleaning and understanding the data takes most of the time. Nobody advertises this.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Almost every wrong answer in applied sport analytics is a data problem wearing a model's clothes.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You cannot judge whether a model is trustworthy if you cannot judge whether its data was.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sport data comes from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Eight sources, and what each one lies about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Eight sources you will meet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1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66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 often it samples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Its classic failure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Event data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event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passes, shots, tackles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providers define 'a tackle' differently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Optical tracking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10–25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x,y of every player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players cross and swap identity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GPS / LPS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10–18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distance, speed, acceleration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each vendor sets its own 'high speed'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IMU / accelerometer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100–1000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acceleration, rotation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where it was worn; which way up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Heart rate, HRV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internal load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strap contact, movement artefact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 plate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force, power, asymmetry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filter choices change the answer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Video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25–240 frames/s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everything and nothing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camera angle and perspective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295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Questionnaires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session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wellness, RPE, soreness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people stop filling them in — and not at random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Sampling rate is a decision about what you are allowed to see.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A 10 Hz GPS unit cannot see a foot strike. A 30 fps phone cannot resolve take-off in a jump.
No amount of AI recovers something the sensor never recorded.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Getting it into a usable shape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One row, one observation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shape that works, and the shape coaches send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Tidy — one row is one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date | athlete | session | RPE | duration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variable has its own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Adding an athlete adds rows, not columns.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tool in this course expects this shape.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Boring to look at. Trivial to analyse.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What actually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sheet per athlete, twenty-two sheets.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column per week, so a new week means a new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Merged cells, a photograph of a whiteboard, colour meaning something.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Totals in the middle of the data.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Beautiful to look at. Nearly impossible to analyse.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Quality problems that kill a model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Four, and they are all invisible in a summary 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1 — Missing values, and when they go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The count of missing values tells you almost nothing. The pattern tells you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70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In our monitoring dataset, wellness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5%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ordinary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On the day after a match it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23%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Those are exactly the days when athletes are most fatigued and most at risk.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Delete those rows and you delete the hardest days from the analysis.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Fill them with the average and you have told the model post-match days were average.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Neither choice appears in the methods section of most papers. Both change the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2 — Units, and 3 — outliers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6559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Units.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Metres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and yards. Minutes and '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h:mm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'. Kilograms and newtons. Two clubs, two conventions, one merged file, one silent disaster.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Always print the minimum and maximum of every column. A 3.98 s twenty-</a:t>
            </a:r>
            <a:r>
              <a:rPr sz="1600" b="0" i="0" dirty="0" err="1">
                <a:solidFill>
                  <a:srgbClr val="57504D"/>
                </a:solidFill>
                <a:latin typeface="Calibri"/>
              </a:rPr>
              <a:t>metre</a:t>
            </a:r>
            <a:r>
              <a:rPr sz="1600" b="0" i="0" dirty="0">
                <a:solidFill>
                  <a:srgbClr val="57504D"/>
                </a:solidFill>
                <a:latin typeface="Calibri"/>
              </a:rPr>
              <a:t> sprint is a typing error; a 1.98 s one is a different unit.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Outliers.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Some are errors. Some are the most interesting athlete in the squad.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You cannot tell which from the number alone. You have to go back to the session, the video, or the person.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Deleting outliers because they are inconvenient is the most common form of quiet scientific misconduct in our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faults, one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TYPE THIS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gps.describe().T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COMES BACK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                 mean       min       max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duration_min    66.92     15.00    120.40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     5123.13    200.00  14512.10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top_speed        9.42      1.56     35.23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sprint20m_s      3.01      1.98      3.98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IT JUST TOLD YOU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 speed 35.23   four athletes exported in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14512    three recorded in yards, not metres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1.98 s for 20 m   a different timing gate entirely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3.98 s for 20 m   somebody typed 3 where they meant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Four faults nobody mentioned, in one line, before you have modelled anything.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column that was not in the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rpe is the rating of perceived exertion: how hard the athlete rated the session, from 0 to 10.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95728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it 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gps['rpe'].dtype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dtype('O')   &lt;- text, not a number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8B807C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gps['rpe'].astype(float)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ValueError: could not convert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 string to float: '5,5'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describe() never mentioned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7307" y="2395728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7307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line to repair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7307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8475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 = pd.to_numeric(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gps['rpe'].str.replace(',', '.'),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errors='coerce')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6.31      and nothing was lost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5,090 values, 0 nulls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Turkish keyboard writes 6,5. One comma anywhere in a column and pandas reads the whole column as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an automatic outlier rule actually removes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Drop anything beyond 3 SD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m, sd = s.mean(), s.std()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s[(s - m).abs() &gt; 3 * sd]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1.98  2.52  2.56  2.58  2.59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2.61  3.42  3.42  3.43  3.98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10 rows removed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8 of those 10 were real sessions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Look at the 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1.98   a different timing gate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3.98   3 typed where 2 was meant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2.52 2.56 2.58 2.59 2.61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3.42 3.42 3.43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the fastest and slowest athletes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in the squad, 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2 errors, and 8 athletes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3-SD rule removes about 0.3% of any normal column, whether or not anything is wrong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4 — Your measurement is not exact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test has a typical error — the wobble you get when nothing has changed.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If your jump test has a typical error of 1.5 cm, no model built on it can reliably detect a 1 cm change.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model cannot be more precise than what went into it. It can, and will, look more precise.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Before you model anything, ask: is the effect I am hunting bigger than the noise in my measurement?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The n = 22 problem.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One squad, forty variables, twenty-two athletes. There are more ways to be wrong than there are athletes.
This is the permanent condition of sport science, and it shapes everything we do from Week 4 onwards.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Getting data you are allowed to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11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Open datasets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StatsBomb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public repositories, journal supplementary files. Fastest, and no ethics delay.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Your own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organisation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needs a written permission letter, and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anonymisation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before it reaches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Colab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Scraping websites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usually against the terms of service. Do not build a project on it.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An athlete's GPS trace is personal data about a named individual. Treat it the way you would treat their medical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217C0D-1E60-D4D3-F506-940F6AF3A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12" y="0"/>
            <a:ext cx="11080376" cy="679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019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From a coach's file to a modelling table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 operations. You will use all four in every project from here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actually on the disk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Four files, synthetic, shaped exactly like the ones that arrive.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gps_sessions.csv — 5,090 rows. One row per session.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wellness_daily.csv — 4,588 rows. One row per athlete per morning.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squad.csv — 30 rows. Position, date of birth, dominant limb.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coach_training_load.xlsx — 30 rows, one column per week.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Not one of them joins to another without work.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One column per week, and what it has to become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the spreadsheet opens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 = pd.read_excel(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'coach_training_load.xlsx',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sheet_name='Load', skiprows=2)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(31, 27)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31 rows, and there are 30 athletes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row per athlete-week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 = wide.melt(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id_vars='Athlete',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var_name='week',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value_name='minutes').dropna()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(780, 3)      30 athletes x 26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Now every tool in the course can read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The 31st row is TOTAL. It vanished only because those cells hold formulas.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join, before and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Keys as they were typed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on=['athlete','date'],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len(df)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5112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df['sleep_h'].isna().mean()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0.385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38.5% of the wellness 'missing'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Keys repaired, duplicates removed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'a3' and 'A03' are the same athlete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n = gps['athlete'].str.extract(r'(\d+)')[0]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gps['athlete'] = 'A' + n.str.zfill(2)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well = well.drop_duplicates(['athlete','date'])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 on=['athlete','date'],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 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5090 rows, 0.143 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14.3% — the real figure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Same two files, same join. The first number was an artefact of how somebody typed an id.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Three ways a join goes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1673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see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to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Rows you expected are empty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written differently in the two files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normalise the key before joining, every time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More rows than you started with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not unique on one side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count duplicates on both sides first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34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Athletes have quietly disappeared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an inner join kept only the rows that matched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 with how='left', then count what is missing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93192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these files: 38.5% empty, 36 rows conjured out of nothing, and A28, A29, A30 gone without a word.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one row?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Answer this before you aggregate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675 athlete-days in this file carry two sessions — a gym session in the afternoon.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Group by athlete and date and you have silently averaged them into one.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30 athletes measured 170 times each is still 30 athletes.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Decide the unit of analysis now. In Week 5 it decides how you are allowed to split the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ways to handle a gap, four different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1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1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5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Mean post-match soreness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have claimed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Use only what was recorded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nothing — but a quarter of those days are gone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Fill with the column mean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post-match days were ordinary days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Carry the last value forward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nothing changed overnight after a match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Keep it, add a 'was missing' column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the gap itself may carry information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Ordinary days average 2.80. The missing days are not noise — they are the hardest days in the season.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Every gap you fill is a sentence
you put in the model's mouth.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Filling is not the neutral choice. Neither is deleting. Both are claims, and both belong in your methods section.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Text columns, and what a model will 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Straight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squad[['position', 'dominant_limb']]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model.fit(X, 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ValueError: could not convert 'MF'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column per 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pd.get_dummies(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squad[['position','dominant_limb']],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drop_first=True)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X.shape        # (30, 4)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position_FW, position_GK, position_MF,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dominant_limb_Right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Four 0/1 columns it can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drop_first keeps one category as the baseline, so the new columns are not redundant.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When the size of a number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Distance is in thousands of metres. RPE runs 1 to 10. Sleep is about 7.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k-means, k-NN and anything regularised read that as 'distance is the important one'.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Trees and forests do not care — they split on order, not on size.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Scale after you split the data, never before, and fit the scaler on the training part only.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column worth more than the two it came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What you were handed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duration_min    rpe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95    7,0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72    6,0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38    3,0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minutes, and a number out of 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Neither one is training 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Session load, built from both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gps['load'] = gps['rpe'] * gps['duration_min']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gps.groupby('session_type')['load'].mean()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Match       601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Training    456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Gym         280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Recovery    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The number coaches plan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And it exists only because you repaired the comma first. Features are built, not found.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Week 4 needs from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This is the table you hand to a model next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row per athlete-week. 780 rows, not 5,090.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Keys repaired, duplicates counted, every unit in one system.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Categories encoded. Gaps handled on purpose, and written down.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column that is the thing you are trying to predict.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Everything from Week 4 onwards assumes this table already exists.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6470"/>
                </a:solidFill>
                <a:latin typeface="Calibri"/>
              </a:rPr>
              <a:t>LABORATORY ·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1800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1A1A"/>
                </a:solidFill>
                <a:latin typeface="Georgia"/>
              </a:rPr>
              <a:t>Lab 3 — From four files to one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The same four files you just watched on screen, downloaded into Colab.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Four commands — then write down what looks wrong before you read the answer.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Repair the comma, the km/h and the yards. A checkpoint says which fault is still there.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Join the two files properly: 5,090 rows in, 5,090 rows out, nobody deleted.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Build the calendar of mornings that should exist, and find the pattern in what is missing.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Hand over the table Week 4 starts from: one row per athlete-week, every column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Submit:  Notebook with both checkpoints passing, plus which fault here would most distort an injury model, and why.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3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RPE: REPLACE THE COMMA WITH A DOT, THEN MAKE IT A NUMBER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 = gps.copy()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gps_clean['rpe'] = pd.to_numeric(gps_clean['rpe'].str.replace(</a:t>
            </a:r>
            <a:r>
              <a:rPr sz="1200" b="1">
                <a:solidFill>
                  <a:srgbClr val="1B6470"/>
                </a:solidFill>
                <a:latin typeface="Consolas"/>
              </a:rPr>
              <a:t>','</a:t>
            </a:r>
            <a:r>
              <a:rPr sz="1200" b="0">
                <a:solidFill>
                  <a:srgbClr val="1E1A1A"/>
                </a:solidFill>
                <a:latin typeface="Consolas"/>
              </a:rPr>
              <a:t>, </a:t>
            </a:r>
            <a:r>
              <a:rPr sz="1200" b="1">
                <a:solidFill>
                  <a:srgbClr val="1B6470"/>
                </a:solidFill>
                <a:latin typeface="Consolas"/>
              </a:rPr>
              <a:t>'.'</a:t>
            </a:r>
            <a:r>
              <a:rPr sz="1200" b="0">
                <a:solidFill>
                  <a:srgbClr val="1E1A1A"/>
                </a:solidFill>
                <a:latin typeface="Consolas"/>
              </a:rPr>
              <a:t>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CLEAN ID, HOWEVER IT WAS TYPED: A7 BECOMES A07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key = 'A' + gps_clean['athlete'].str.extract(r'(\d+)')[0].str.zfill(2)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KM/H TO M/S, FOR THE FOUR ATHLETES WHOSE GPS EXPORTED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gps_clean.loc[key.isin(['A12','A13','A14','A15']), 'top_speed']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3.6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4 · YARDS TO METRES, FOR THE THREE RECORDED IN YARDS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gps_clean.loc[key.isin(['A07','A08','A09']), 'distance']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1.09361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 notebook, only the highlighted parts of the code are blank. Everything else is already typed.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4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REPAIR THE ID, EXACTLY AS IN BLOCK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n = gps_clean['athlete'].str.extract(r'(\d+)')[0]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 = gps_clean.assign(athlete='A' + n.str.zfill(2))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WELLNESS ROW PER ATHLETE PER MORNING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w = wellness.drop_duplicates(subset=</a:t>
            </a:r>
            <a:r>
              <a:rPr sz="1200" b="1">
                <a:solidFill>
                  <a:srgbClr val="1B6470"/>
                </a:solidFill>
                <a:latin typeface="Consolas"/>
              </a:rPr>
              <a:t>['athlete','date']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KEEP EVERY SESSION, MATCHED OR NOT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joined = g.merge(w, on=['athlete','date'], how=</a:t>
            </a:r>
            <a:r>
              <a:rPr sz="1200" b="1">
                <a:solidFill>
                  <a:srgbClr val="1B6470"/>
                </a:solidFill>
                <a:latin typeface="Consolas"/>
              </a:rPr>
              <a:t>'left'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Two blanks: the columns that make a morning unique, and the how= that keeps every athlete.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6470"/>
                </a:solidFill>
                <a:latin typeface="Calibri"/>
              </a:rPr>
              <a:t>OPEN CLINIC · LAST 20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Bring your own disaster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Open the data file you actually have. What shape is it in?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What is missing, and do you know why it is missing?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What units is everything in, and are you sure?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4.   How many observations do you really have — rows, or people?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807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6470"/>
                </a:solidFill>
                <a:latin typeface="Calibri"/>
              </a:rPr>
              <a:t>Twenty minutes. Bring the file; we will look at it together.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21792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CFBF9"/>
                </a:solidFill>
                <a:latin typeface="Georgia"/>
              </a:rPr>
              <a:t>What to take away from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91056"/>
            <a:ext cx="1371600" cy="32004"/>
          </a:xfrm>
          <a:prstGeom prst="rect">
            <a:avLst/>
          </a:prstGeom>
          <a:solidFill>
            <a:srgbClr val="E58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180015" cy="4581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1.   Every source samples at a rate, and that rate decides what you are permitted to see.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2.   One row, one observation. Restructure before you analyse, always.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3.   Missingness is information. Ask when values go missing, not just how many.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4.   Rows are not observations. Twenty-two athletes measured a hundred times is still twenty-two athletes.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4377</Words>
  <Application>Microsoft Macintosh PowerPoint</Application>
  <PresentationFormat>Widescreen</PresentationFormat>
  <Paragraphs>375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Galip AYDIN</cp:lastModifiedBy>
  <cp:revision>4</cp:revision>
  <dcterms:created xsi:type="dcterms:W3CDTF">2013-01-27T09:14:16Z</dcterms:created>
  <dcterms:modified xsi:type="dcterms:W3CDTF">2026-10-20T19:59:44Z</dcterms:modified>
  <cp:category/>
</cp:coreProperties>
</file>