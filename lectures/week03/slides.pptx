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5" r:id="rId12"/>
    <p:sldId id="286" r:id="rId13"/>
    <p:sldId id="287" r:id="rId14"/>
    <p:sldId id="266" r:id="rId15"/>
    <p:sldId id="267" r:id="rId16"/>
    <p:sldId id="268" r:id="rId17"/>
    <p:sldId id="273" r:id="rId18"/>
    <p:sldId id="274" r:id="rId19"/>
    <p:sldId id="291" r:id="rId41"/>
    <p:sldId id="303" r:id="rId53"/>
    <p:sldId id="292" r:id="rId42"/>
    <p:sldId id="293" r:id="rId43"/>
    <p:sldId id="275" r:id="rId20"/>
    <p:sldId id="304" r:id="rId54"/>
    <p:sldId id="305" r:id="rId55"/>
    <p:sldId id="306" r:id="rId56"/>
    <p:sldId id="307" r:id="rId57"/>
    <p:sldId id="308" r:id="rId58"/>
    <p:sldId id="309" r:id="rId59"/>
    <p:sldId id="276" r:id="rId21"/>
    <p:sldId id="310" r:id="rId60"/>
    <p:sldId id="277" r:id="rId22"/>
    <p:sldId id="278" r:id="rId23"/>
    <p:sldId id="311" r:id="rId61"/>
    <p:sldId id="279" r:id="rId24"/>
    <p:sldId id="312" r:id="rId62"/>
    <p:sldId id="280" r:id="rId25"/>
    <p:sldId id="281" r:id="rId26"/>
    <p:sldId id="313" r:id="rId63"/>
    <p:sldId id="282" r:id="rId27"/>
    <p:sldId id="314" r:id="rId64"/>
    <p:sldId id="283" r:id="rId28"/>
    <p:sldId id="315" r:id="rId65"/>
    <p:sldId id="288" r:id="rId29"/>
    <p:sldId id="284" r:id="rId30"/>
    <p:sldId id="294" r:id="rId44"/>
    <p:sldId id="316" r:id="rId66"/>
    <p:sldId id="295" r:id="rId45"/>
    <p:sldId id="317" r:id="rId67"/>
    <p:sldId id="318" r:id="rId68"/>
    <p:sldId id="319" r:id="rId69"/>
    <p:sldId id="320" r:id="rId70"/>
    <p:sldId id="321" r:id="rId71"/>
    <p:sldId id="322" r:id="rId72"/>
    <p:sldId id="296" r:id="rId46"/>
    <p:sldId id="323" r:id="rId73"/>
    <p:sldId id="324" r:id="rId74"/>
    <p:sldId id="297" r:id="rId47"/>
    <p:sldId id="325" r:id="rId75"/>
    <p:sldId id="298" r:id="rId48"/>
    <p:sldId id="299" r:id="rId49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00" r:id="rId50"/>
    <p:sldId id="335" r:id="rId85"/>
    <p:sldId id="336" r:id="rId86"/>
    <p:sldId id="337" r:id="rId87"/>
    <p:sldId id="301" r:id="rId51"/>
    <p:sldId id="302" r:id="rId52"/>
    <p:sldId id="269" r:id="rId31"/>
    <p:sldId id="289" r:id="rId32"/>
    <p:sldId id="290" r:id="rId33"/>
    <p:sldId id="270" r:id="rId34"/>
    <p:sldId id="271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 snapToObjects="1">
      <p:cViewPr varScale="1">
        <p:scale>
          <a:sx n="119" d="100"/>
          <a:sy n="119" d="100"/>
        </p:scale>
        <p:origin x="76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23.xml"/><Relationship Id="rId21" Type="http://schemas.openxmlformats.org/officeDocument/2006/relationships/slide" Target="slides/slide30.xml"/><Relationship Id="rId22" Type="http://schemas.openxmlformats.org/officeDocument/2006/relationships/slide" Target="slides/slide32.xml"/><Relationship Id="rId23" Type="http://schemas.openxmlformats.org/officeDocument/2006/relationships/slide" Target="slides/slide33.xml"/><Relationship Id="rId24" Type="http://schemas.openxmlformats.org/officeDocument/2006/relationships/slide" Target="slides/slide35.xml"/><Relationship Id="rId25" Type="http://schemas.openxmlformats.org/officeDocument/2006/relationships/slide" Target="slides/slide37.xml"/><Relationship Id="rId26" Type="http://schemas.openxmlformats.org/officeDocument/2006/relationships/slide" Target="slides/slide38.xml"/><Relationship Id="rId27" Type="http://schemas.openxmlformats.org/officeDocument/2006/relationships/slide" Target="slides/slide40.xml"/><Relationship Id="rId28" Type="http://schemas.openxmlformats.org/officeDocument/2006/relationships/slide" Target="slides/slide42.xml"/><Relationship Id="rId29" Type="http://schemas.openxmlformats.org/officeDocument/2006/relationships/slide" Target="slides/slide44.xml"/><Relationship Id="rId30" Type="http://schemas.openxmlformats.org/officeDocument/2006/relationships/slide" Target="slides/slide45.xml"/><Relationship Id="rId31" Type="http://schemas.openxmlformats.org/officeDocument/2006/relationships/slide" Target="slides/slide77.xml"/><Relationship Id="rId32" Type="http://schemas.openxmlformats.org/officeDocument/2006/relationships/slide" Target="slides/slide78.xml"/><Relationship Id="rId33" Type="http://schemas.openxmlformats.org/officeDocument/2006/relationships/slide" Target="slides/slide79.xml"/><Relationship Id="rId34" Type="http://schemas.openxmlformats.org/officeDocument/2006/relationships/slide" Target="slides/slide80.xml"/><Relationship Id="rId35" Type="http://schemas.openxmlformats.org/officeDocument/2006/relationships/slide" Target="slides/slide81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Relationship Id="rId41" Type="http://schemas.openxmlformats.org/officeDocument/2006/relationships/slide" Target="slides/slide19.xml"/><Relationship Id="rId42" Type="http://schemas.openxmlformats.org/officeDocument/2006/relationships/slide" Target="slides/slide21.xml"/><Relationship Id="rId43" Type="http://schemas.openxmlformats.org/officeDocument/2006/relationships/slide" Target="slides/slide22.xml"/><Relationship Id="rId44" Type="http://schemas.openxmlformats.org/officeDocument/2006/relationships/slide" Target="slides/slide46.xml"/><Relationship Id="rId45" Type="http://schemas.openxmlformats.org/officeDocument/2006/relationships/slide" Target="slides/slide48.xml"/><Relationship Id="rId46" Type="http://schemas.openxmlformats.org/officeDocument/2006/relationships/slide" Target="slides/slide55.xml"/><Relationship Id="rId47" Type="http://schemas.openxmlformats.org/officeDocument/2006/relationships/slide" Target="slides/slide58.xml"/><Relationship Id="rId48" Type="http://schemas.openxmlformats.org/officeDocument/2006/relationships/slide" Target="slides/slide60.xml"/><Relationship Id="rId49" Type="http://schemas.openxmlformats.org/officeDocument/2006/relationships/slide" Target="slides/slide61.xml"/><Relationship Id="rId50" Type="http://schemas.openxmlformats.org/officeDocument/2006/relationships/slide" Target="slides/slide71.xml"/><Relationship Id="rId51" Type="http://schemas.openxmlformats.org/officeDocument/2006/relationships/slide" Target="slides/slide75.xml"/><Relationship Id="rId52" Type="http://schemas.openxmlformats.org/officeDocument/2006/relationships/slide" Target="slides/slide76.xml"/><Relationship Id="rId53" Type="http://schemas.openxmlformats.org/officeDocument/2006/relationships/slide" Target="slides/slide20.xml"/><Relationship Id="rId54" Type="http://schemas.openxmlformats.org/officeDocument/2006/relationships/slide" Target="slides/slide24.xml"/><Relationship Id="rId55" Type="http://schemas.openxmlformats.org/officeDocument/2006/relationships/slide" Target="slides/slide25.xml"/><Relationship Id="rId56" Type="http://schemas.openxmlformats.org/officeDocument/2006/relationships/slide" Target="slides/slide26.xml"/><Relationship Id="rId57" Type="http://schemas.openxmlformats.org/officeDocument/2006/relationships/slide" Target="slides/slide27.xml"/><Relationship Id="rId58" Type="http://schemas.openxmlformats.org/officeDocument/2006/relationships/slide" Target="slides/slide28.xml"/><Relationship Id="rId59" Type="http://schemas.openxmlformats.org/officeDocument/2006/relationships/slide" Target="slides/slide29.xml"/><Relationship Id="rId60" Type="http://schemas.openxmlformats.org/officeDocument/2006/relationships/slide" Target="slides/slide31.xml"/><Relationship Id="rId61" Type="http://schemas.openxmlformats.org/officeDocument/2006/relationships/slide" Target="slides/slide34.xml"/><Relationship Id="rId62" Type="http://schemas.openxmlformats.org/officeDocument/2006/relationships/slide" Target="slides/slide36.xml"/><Relationship Id="rId63" Type="http://schemas.openxmlformats.org/officeDocument/2006/relationships/slide" Target="slides/slide39.xml"/><Relationship Id="rId64" Type="http://schemas.openxmlformats.org/officeDocument/2006/relationships/slide" Target="slides/slide41.xml"/><Relationship Id="rId65" Type="http://schemas.openxmlformats.org/officeDocument/2006/relationships/slide" Target="slides/slide43.xml"/><Relationship Id="rId66" Type="http://schemas.openxmlformats.org/officeDocument/2006/relationships/slide" Target="slides/slide47.xml"/><Relationship Id="rId67" Type="http://schemas.openxmlformats.org/officeDocument/2006/relationships/slide" Target="slides/slide49.xml"/><Relationship Id="rId68" Type="http://schemas.openxmlformats.org/officeDocument/2006/relationships/slide" Target="slides/slide50.xml"/><Relationship Id="rId69" Type="http://schemas.openxmlformats.org/officeDocument/2006/relationships/slide" Target="slides/slide51.xml"/><Relationship Id="rId70" Type="http://schemas.openxmlformats.org/officeDocument/2006/relationships/slide" Target="slides/slide52.xml"/><Relationship Id="rId71" Type="http://schemas.openxmlformats.org/officeDocument/2006/relationships/slide" Target="slides/slide53.xml"/><Relationship Id="rId72" Type="http://schemas.openxmlformats.org/officeDocument/2006/relationships/slide" Target="slides/slide54.xml"/><Relationship Id="rId73" Type="http://schemas.openxmlformats.org/officeDocument/2006/relationships/slide" Target="slides/slide56.xml"/><Relationship Id="rId74" Type="http://schemas.openxmlformats.org/officeDocument/2006/relationships/slide" Target="slides/slide57.xml"/><Relationship Id="rId75" Type="http://schemas.openxmlformats.org/officeDocument/2006/relationships/slide" Target="slides/slide59.xml"/><Relationship Id="rId76" Type="http://schemas.openxmlformats.org/officeDocument/2006/relationships/slide" Target="slides/slide62.xml"/><Relationship Id="rId77" Type="http://schemas.openxmlformats.org/officeDocument/2006/relationships/slide" Target="slides/slide63.xml"/><Relationship Id="rId78" Type="http://schemas.openxmlformats.org/officeDocument/2006/relationships/slide" Target="slides/slide64.xml"/><Relationship Id="rId79" Type="http://schemas.openxmlformats.org/officeDocument/2006/relationships/slide" Target="slides/slide65.xml"/><Relationship Id="rId80" Type="http://schemas.openxmlformats.org/officeDocument/2006/relationships/slide" Target="slides/slide66.xml"/><Relationship Id="rId81" Type="http://schemas.openxmlformats.org/officeDocument/2006/relationships/slide" Target="slides/slide67.xml"/><Relationship Id="rId82" Type="http://schemas.openxmlformats.org/officeDocument/2006/relationships/slide" Target="slides/slide68.xml"/><Relationship Id="rId83" Type="http://schemas.openxmlformats.org/officeDocument/2006/relationships/slide" Target="slides/slide69.xml"/><Relationship Id="rId84" Type="http://schemas.openxmlformats.org/officeDocument/2006/relationships/slide" Target="slides/slide70.xml"/><Relationship Id="rId85" Type="http://schemas.openxmlformats.org/officeDocument/2006/relationships/slide" Target="slides/slide72.xml"/><Relationship Id="rId86" Type="http://schemas.openxmlformats.org/officeDocument/2006/relationships/slide" Target="slides/slide73.xml"/><Relationship Id="rId87" Type="http://schemas.openxmlformats.org/officeDocument/2006/relationships/slide" Target="slides/slide7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5999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6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7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7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74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75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78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79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80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" y="1828800"/>
            <a:ext cx="9905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A1C2B"/>
                </a:solidFill>
                <a:latin typeface="Calibri"/>
              </a:rPr>
              <a:t>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331720"/>
            <a:ext cx="9814255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1E1A1A"/>
                </a:solidFill>
                <a:latin typeface="Georgia"/>
              </a:rPr>
              <a:t>Sport data literacy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069080"/>
            <a:ext cx="926561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7504D"/>
                </a:solidFill>
                <a:latin typeface="Calibri"/>
              </a:rPr>
              <a:t>Where the numbers come from, what they actually measure, and the quality problems
that quietly destroy an analysis before it starts.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5806440"/>
            <a:ext cx="9905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807C"/>
                </a:solidFill>
                <a:latin typeface="Calibri"/>
              </a:rPr>
              <a:t>PES 3850 · Artificial Intelligence Applications in Sport · METU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WHY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Why a whole session on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362895" cy="42428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Every hour you spend on a model is worth less than the first hour you spend on the data.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In real projects, cleaning and understanding the data takes most of the time. Nobody advertises this.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Almost every wrong answer in applied sport analytics is a data problem wearing a model's clothes.</a:t>
            </a:r>
          </a:p>
          <a:p>
            <a:pPr algn="l">
              <a:lnSpc>
                <a:spcPct val="126000"/>
              </a:lnSpc>
              <a:spcBef>
                <a:spcPts val="900"/>
              </a:spcBef>
              <a:spcAft>
                <a:spcPts val="200"/>
              </a:spcAft>
            </a:pPr>
            <a:r>
              <a:rPr sz="1700" b="1" i="0">
                <a:solidFill>
                  <a:srgbClr val="8A1C2B"/>
                </a:solidFill>
                <a:latin typeface="Calibri"/>
              </a:rPr>
              <a:t>You cannot judge whether a model is trustworthy if you cannot judge whether its data was.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A1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2377440"/>
            <a:ext cx="1828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000" b="1" i="0">
                <a:solidFill>
                  <a:srgbClr val="E09AA2"/>
                </a:solidFill>
                <a:latin typeface="Georgia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0" y="2514600"/>
            <a:ext cx="8168335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Where sport data comes from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0" i="0">
                <a:solidFill>
                  <a:srgbClr val="EEC9CD"/>
                </a:solidFill>
                <a:latin typeface="Calibri"/>
              </a:rPr>
              <a:t>Eight sources, and what each one lies about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Eight sources you will meet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057400"/>
          <a:ext cx="10637213" cy="35935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8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11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66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9287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T="50292" marB="5029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How often it samples</a:t>
                      </a:r>
                    </a:p>
                  </a:txBody>
                  <a:tcPr marT="50292" marB="5029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What it measures</a:t>
                      </a:r>
                    </a:p>
                  </a:txBody>
                  <a:tcPr marT="50292" marB="5029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Its classic failure</a:t>
                      </a:r>
                    </a:p>
                  </a:txBody>
                  <a:tcPr marT="50292" marB="50292">
                    <a:solidFill>
                      <a:srgbClr val="8A1C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287"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Event data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per event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passes, shots, tackles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two providers define 'a tackle' differently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287"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Optical tracking</a:t>
                      </a:r>
                    </a:p>
                  </a:txBody>
                  <a:tcPr marT="50292" marB="5029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10–25 per second</a:t>
                      </a:r>
                    </a:p>
                  </a:txBody>
                  <a:tcPr marT="50292" marB="5029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x,y of every player</a:t>
                      </a:r>
                    </a:p>
                  </a:txBody>
                  <a:tcPr marT="50292" marB="5029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two players cross and swap identity</a:t>
                      </a:r>
                    </a:p>
                  </a:txBody>
                  <a:tcPr marT="50292" marB="50292">
                    <a:solidFill>
                      <a:srgbClr val="F4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287"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GPS / LPS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10–18 per second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distance, speed, acceleration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each vendor sets its own 'high speed'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287"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IMU / accelerometer</a:t>
                      </a:r>
                    </a:p>
                  </a:txBody>
                  <a:tcPr marT="50292" marB="5029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100–1000 per second</a:t>
                      </a:r>
                    </a:p>
                  </a:txBody>
                  <a:tcPr marT="50292" marB="5029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acceleration, rotation</a:t>
                      </a:r>
                    </a:p>
                  </a:txBody>
                  <a:tcPr marT="50292" marB="5029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where it was worn; which way up</a:t>
                      </a:r>
                    </a:p>
                  </a:txBody>
                  <a:tcPr marT="50292" marB="50292">
                    <a:solidFill>
                      <a:srgbClr val="F4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287"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Heart rate, HRV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1 per second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internal load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strap contact, movement artefact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287"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Force plate</a:t>
                      </a:r>
                    </a:p>
                  </a:txBody>
                  <a:tcPr marT="50292" marB="5029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1000 per second</a:t>
                      </a:r>
                    </a:p>
                  </a:txBody>
                  <a:tcPr marT="50292" marB="5029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force, power, asymmetry</a:t>
                      </a:r>
                    </a:p>
                  </a:txBody>
                  <a:tcPr marT="50292" marB="5029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filter choices change the answer</a:t>
                      </a:r>
                    </a:p>
                  </a:txBody>
                  <a:tcPr marT="50292" marB="50292">
                    <a:solidFill>
                      <a:srgbClr val="F4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9287"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Video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25–240 frames/s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everything and nothing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camera angle and perspective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9295"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Questionnaires</a:t>
                      </a:r>
                    </a:p>
                  </a:txBody>
                  <a:tcPr marT="50292" marB="5029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per session</a:t>
                      </a:r>
                    </a:p>
                  </a:txBody>
                  <a:tcPr marT="50292" marB="5029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wellness, RPE, soreness</a:t>
                      </a:r>
                    </a:p>
                  </a:txBody>
                  <a:tcPr marT="50292" marB="5029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people stop filling them in — and not at random</a:t>
                      </a:r>
                    </a:p>
                  </a:txBody>
                  <a:tcPr marT="50292" marB="50292">
                    <a:solidFill>
                      <a:srgbClr val="F4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783080"/>
            <a:ext cx="9997135" cy="3291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E1A1A"/>
                </a:solidFill>
                <a:latin typeface="Georgia"/>
              </a:rPr>
              <a:t>Sampling rate is a decision about what you are allowed to see.</a:t>
            </a:r>
          </a:p>
          <a:p>
            <a:pPr algn="ctr">
              <a:lnSpc>
                <a:spcPct val="128000"/>
              </a:lnSpc>
              <a:spcBef>
                <a:spcPts val="1600"/>
              </a:spcBef>
              <a:spcAft>
                <a:spcPts val="600"/>
              </a:spcAft>
            </a:pPr>
            <a:r>
              <a:rPr sz="1650" b="0" i="0">
                <a:solidFill>
                  <a:srgbClr val="57504D"/>
                </a:solidFill>
                <a:latin typeface="Calibri"/>
              </a:rPr>
              <a:t>A 10 Hz GPS unit cannot see a foot strike. A 30 fps phone cannot resolve take-off in a jump.
No amount of AI recovers something the sensor never recorded.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A1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2377440"/>
            <a:ext cx="1828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000" b="1" i="0">
                <a:solidFill>
                  <a:srgbClr val="E09AA2"/>
                </a:solidFill>
                <a:latin typeface="Georgia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0" y="2514600"/>
            <a:ext cx="8168335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Georgia"/>
              </a:rPr>
              <a:t>Getting it into a usable shape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0" i="0">
                <a:solidFill>
                  <a:srgbClr val="EEC9CD"/>
                </a:solidFill>
                <a:latin typeface="Calibri"/>
              </a:rPr>
              <a:t>One row, one observation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The shape that works, and the shape coaches send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048256"/>
            <a:ext cx="5067147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212848"/>
            <a:ext cx="506714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8A1C2B"/>
                </a:solidFill>
                <a:latin typeface="Calibri"/>
              </a:rPr>
              <a:t>Tidy — one row is one observation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5067147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date | athlete | session | RPE | duration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Every variable has its own column.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Adding an athlete adds rows, not columns.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Every tool in this course expects this shape.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Boring to look at. Trivial to analyse.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47307" y="2048256"/>
            <a:ext cx="5067147" cy="32004"/>
          </a:xfrm>
          <a:prstGeom prst="rect">
            <a:avLst/>
          </a:prstGeom>
          <a:solidFill>
            <a:srgbClr val="1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47307" y="2212848"/>
            <a:ext cx="506714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B6470"/>
                </a:solidFill>
                <a:latin typeface="Calibri"/>
              </a:rPr>
              <a:t>What actually arrives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7307" y="2697480"/>
            <a:ext cx="5067147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One sheet per athlete, twenty-two sheets.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One column per week, so a new week means a new column.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Merged cells, a photograph of a whiteboard, colour meaning something.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Totals in the middle of the data.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Beautiful to look at. Nearly impossible to analyse.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A1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2377440"/>
            <a:ext cx="1828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000" b="1" i="0">
                <a:solidFill>
                  <a:srgbClr val="E09AA2"/>
                </a:solidFill>
                <a:latin typeface="Georgia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0" y="2514600"/>
            <a:ext cx="8168335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Georgia"/>
              </a:rPr>
              <a:t>Quality problems that kill a model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0" i="0">
                <a:solidFill>
                  <a:srgbClr val="EEC9CD"/>
                </a:solidFill>
                <a:latin typeface="Calibri"/>
              </a:rPr>
              <a:t>Four, and they are all invisible in a summary table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1 — Missing values, and when they go missing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27145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7504D"/>
                </a:solidFill>
                <a:latin typeface="Calibri"/>
              </a:rPr>
              <a:t>The count of missing values tells you almost nothing. The pattern tells you everything.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78608"/>
            <a:ext cx="10362895" cy="2700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In our monitoring dataset, wellness is missing on 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5%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 of ordinary days.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On the day after a match it is missing on 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23%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 of days.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Those are exactly the days when athletes are most fatigued and most at risk.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Delete those rows and you delete the hardest days from the analysis.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Fill them with the average and you have told the model post-match days were average.</a:t>
            </a:r>
          </a:p>
          <a:p>
            <a:pPr algn="l">
              <a:lnSpc>
                <a:spcPct val="126000"/>
              </a:lnSpc>
              <a:spcBef>
                <a:spcPts val="900"/>
              </a:spcBef>
              <a:spcAft>
                <a:spcPts val="200"/>
              </a:spcAft>
            </a:pPr>
            <a:r>
              <a:rPr sz="1700" b="1" i="0" dirty="0">
                <a:solidFill>
                  <a:srgbClr val="8A1C2B"/>
                </a:solidFill>
                <a:latin typeface="Calibri"/>
              </a:rPr>
              <a:t>Neither choice appears in the methods section of most papers. Both change the answer.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2 — Units, and 3 — outliers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362895" cy="2655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Units.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 </a:t>
            </a:r>
            <a:r>
              <a:rPr sz="1850" b="0" i="0" dirty="0" err="1">
                <a:solidFill>
                  <a:srgbClr val="1E1A1A"/>
                </a:solidFill>
                <a:latin typeface="Calibri"/>
              </a:rPr>
              <a:t>Metres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 and yards. Minutes and '</a:t>
            </a:r>
            <a:r>
              <a:rPr sz="1850" b="0" i="0" dirty="0" err="1">
                <a:solidFill>
                  <a:srgbClr val="1E1A1A"/>
                </a:solidFill>
                <a:latin typeface="Calibri"/>
              </a:rPr>
              <a:t>h:mm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'. Kilograms and newtons. Two clubs, two conventions, one merged file, one silent disaster.</a:t>
            </a:r>
          </a:p>
          <a:p>
            <a:pPr algn="l">
              <a:lnSpc>
                <a:spcPct val="124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i="0" dirty="0">
                <a:solidFill>
                  <a:srgbClr val="57504D"/>
                </a:solidFill>
                <a:latin typeface="Calibri"/>
              </a:rPr>
              <a:t>     –  Always print the minimum and maximum of every column. A 3.98 s twenty-</a:t>
            </a:r>
            <a:r>
              <a:rPr sz="1600" b="0" i="0" dirty="0" err="1">
                <a:solidFill>
                  <a:srgbClr val="57504D"/>
                </a:solidFill>
                <a:latin typeface="Calibri"/>
              </a:rPr>
              <a:t>metre</a:t>
            </a:r>
            <a:r>
              <a:rPr sz="1600" b="0" i="0" dirty="0">
                <a:solidFill>
                  <a:srgbClr val="57504D"/>
                </a:solidFill>
                <a:latin typeface="Calibri"/>
              </a:rPr>
              <a:t> sprint is a typing error; a 1.98 s one is a different unit.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Outliers.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 Some are errors. Some are the most interesting athlete in the squad.</a:t>
            </a:r>
          </a:p>
          <a:p>
            <a:pPr algn="l">
              <a:lnSpc>
                <a:spcPct val="124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i="0" dirty="0">
                <a:solidFill>
                  <a:srgbClr val="57504D"/>
                </a:solidFill>
                <a:latin typeface="Calibri"/>
              </a:rPr>
              <a:t>     –  You cannot tell which from the number alone. You have to go back to the session, the video, or the person.</a:t>
            </a:r>
          </a:p>
          <a:p>
            <a:pPr algn="l">
              <a:lnSpc>
                <a:spcPct val="126000"/>
              </a:lnSpc>
              <a:spcBef>
                <a:spcPts val="900"/>
              </a:spcBef>
              <a:spcAft>
                <a:spcPts val="200"/>
              </a:spcAft>
            </a:pPr>
            <a:r>
              <a:rPr sz="1700" b="1" i="0" dirty="0">
                <a:solidFill>
                  <a:srgbClr val="8A1C2B"/>
                </a:solidFill>
                <a:latin typeface="Calibri"/>
              </a:rPr>
              <a:t>Deleting outliers because they are inconvenient is the most common form of quiet scientific misconduct in our field.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Four faults, one command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1975104"/>
            <a:ext cx="10637215" cy="4224528"/>
          </a:xfrm>
          <a:prstGeom prst="rect">
            <a:avLst/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975104"/>
            <a:ext cx="45720" cy="4224528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139696"/>
            <a:ext cx="9951415" cy="3895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8A1C2B"/>
                </a:solidFill>
                <a:latin typeface="Calibri"/>
              </a:rPr>
              <a:t>TYPE THIS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1A1A"/>
                </a:solidFill>
                <a:latin typeface="Consolas"/>
              </a:rPr>
              <a:t>gps.describe().T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950" b="1" i="0">
                <a:solidFill>
                  <a:srgbClr val="8A1C2B"/>
                </a:solidFill>
                <a:latin typeface="Calibri"/>
              </a:rPr>
              <a:t>WHAT COMES BACK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1A1A"/>
                </a:solidFill>
                <a:latin typeface="Consolas"/>
              </a:rPr>
              <a:t>                 mean       min       max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1A1A"/>
                </a:solidFill>
                <a:latin typeface="Consolas"/>
              </a:rPr>
              <a:t>duration_min    66.92     15.00    120.40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1A1A"/>
                </a:solidFill>
                <a:latin typeface="Consolas"/>
              </a:rPr>
              <a:t>distance      5123.13    200.00  14512.10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1A1A"/>
                </a:solidFill>
                <a:latin typeface="Consolas"/>
              </a:rPr>
              <a:t>top_speed        9.42      1.56     35.23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1A1A"/>
                </a:solidFill>
                <a:latin typeface="Consolas"/>
              </a:rPr>
              <a:t>sprint20m_s      3.01      1.98      3.98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950" b="1" i="0">
                <a:solidFill>
                  <a:srgbClr val="8A1C2B"/>
                </a:solidFill>
                <a:latin typeface="Calibri"/>
              </a:rPr>
              <a:t>WHAT IT JUST TOLD YOU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1A1A"/>
                </a:solidFill>
                <a:latin typeface="Consolas"/>
              </a:rPr>
              <a:t>top speed 35.23   four athletes exported in km/h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1A1A"/>
                </a:solidFill>
                <a:latin typeface="Consolas"/>
              </a:rPr>
              <a:t>distance 14512    three recorded in yards, not metres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1A1A"/>
                </a:solidFill>
                <a:latin typeface="Consolas"/>
              </a:rPr>
              <a:t>1.98 s for 20 m   a different timing gate entirely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1A1A"/>
                </a:solidFill>
                <a:latin typeface="Consolas"/>
              </a:rPr>
              <a:t>3.98 s for 20 m   somebody typed 3 where they meant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106372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7504D"/>
                </a:solidFill>
                <a:latin typeface="Calibri"/>
              </a:rPr>
              <a:t>Four faults nobody mentioned, in one line, before you have modelled anything.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The column that was not in the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2714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57504D"/>
                </a:solidFill>
                <a:latin typeface="Calibri"/>
              </a:rPr>
              <a:t>rpe is the rating of perceived exertion: how hard the athlete rated the session, from 0 to 10.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95728"/>
            <a:ext cx="5067147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506714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8A1C2B"/>
                </a:solidFill>
                <a:latin typeface="Calibri"/>
              </a:rPr>
              <a:t>As it loads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017520"/>
            <a:ext cx="5067147" cy="1536763"/>
          </a:xfrm>
          <a:prstGeom prst="rect">
            <a:avLst/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3172968"/>
            <a:ext cx="4701387" cy="12258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gps['rpe'].dtype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07C"/>
                </a:solidFill>
                <a:latin typeface="Consolas"/>
              </a:rPr>
              <a:t># dtype('O')   &lt;- text, not a number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1100" b="0" i="0">
              <a:solidFill>
                <a:srgbClr val="8B807C"/>
              </a:solidFill>
              <a:latin typeface="Consolas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gps['rpe'].astype(float)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07C"/>
                </a:solidFill>
                <a:latin typeface="Consolas"/>
              </a:rPr>
              <a:t># ValueError: could not convert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07C"/>
                </a:solidFill>
                <a:latin typeface="Consolas"/>
              </a:rPr>
              <a:t>#   string to float: '5,5'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00587"/>
            <a:ext cx="50671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A1C2B"/>
                </a:solidFill>
                <a:latin typeface="Calibri"/>
              </a:rPr>
              <a:t>describe() never mentioned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47307" y="2395728"/>
            <a:ext cx="5067147" cy="32004"/>
          </a:xfrm>
          <a:prstGeom prst="rect">
            <a:avLst/>
          </a:prstGeom>
          <a:solidFill>
            <a:srgbClr val="1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47307" y="2560320"/>
            <a:ext cx="506714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B6470"/>
                </a:solidFill>
                <a:latin typeface="Calibri"/>
              </a:rPr>
              <a:t>One line to repair 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47307" y="3017520"/>
            <a:ext cx="5067147" cy="1536763"/>
          </a:xfrm>
          <a:prstGeom prst="rect">
            <a:avLst/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48475" y="3172968"/>
            <a:ext cx="4701387" cy="12258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gps['rpe'] = pd.to_numeric(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    gps['rpe'].str.replace(',', '.'),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    errors='coerce')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1100" b="0" i="0">
              <a:solidFill>
                <a:srgbClr val="1E1A1A"/>
              </a:solidFill>
              <a:latin typeface="Consolas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gps['rpe'].mean()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07C"/>
                </a:solidFill>
                <a:latin typeface="Consolas"/>
              </a:rPr>
              <a:t># 6.31      and nothing was lost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7307" y="4700587"/>
            <a:ext cx="50671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6470"/>
                </a:solidFill>
                <a:latin typeface="Calibri"/>
              </a:rPr>
              <a:t>5,090 values, 0 nulls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144768"/>
            <a:ext cx="10637215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1">
                <a:solidFill>
                  <a:srgbClr val="57504D"/>
                </a:solidFill>
                <a:latin typeface="Calibri"/>
              </a:rPr>
              <a:t>A Turkish keyboard writes 6,5. One comma anywhere in a column and pandas reads the whole column as text.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What an automatic outlier rule actually removes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1975104"/>
            <a:ext cx="5067147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139696"/>
            <a:ext cx="506714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8A1C2B"/>
                </a:solidFill>
                <a:latin typeface="Calibri"/>
              </a:rPr>
              <a:t>Drop anything beyond 3 SD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596896"/>
            <a:ext cx="5067147" cy="1741074"/>
          </a:xfrm>
          <a:prstGeom prst="rect">
            <a:avLst/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2752344"/>
            <a:ext cx="4701387" cy="14301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m, sd = s.mean(), s.std()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s[(s - m).abs() &gt; 3 * sd]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1100" b="0" i="0">
              <a:solidFill>
                <a:srgbClr val="1E1A1A"/>
              </a:solidFill>
              <a:latin typeface="Consolas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07C"/>
                </a:solidFill>
                <a:latin typeface="Consolas"/>
              </a:rPr>
              <a:t># 1.98  2.52  2.56  2.58  2.59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07C"/>
                </a:solidFill>
                <a:latin typeface="Consolas"/>
              </a:rPr>
              <a:t># 2.61  3.42  3.42  3.43  3.98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07C"/>
                </a:solidFill>
                <a:latin typeface="Consolas"/>
              </a:rPr>
              <a:t># 10 rows removed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84274"/>
            <a:ext cx="50671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A1C2B"/>
                </a:solidFill>
                <a:latin typeface="Calibri"/>
              </a:rPr>
              <a:t>8 of those 10 were real sessions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47307" y="1975104"/>
            <a:ext cx="5067147" cy="32004"/>
          </a:xfrm>
          <a:prstGeom prst="rect">
            <a:avLst/>
          </a:prstGeom>
          <a:solidFill>
            <a:srgbClr val="1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47307" y="2139696"/>
            <a:ext cx="506714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B6470"/>
                </a:solidFill>
                <a:latin typeface="Calibri"/>
              </a:rPr>
              <a:t>Look at the ten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7307" y="2596896"/>
            <a:ext cx="5067147" cy="1741074"/>
          </a:xfrm>
          <a:prstGeom prst="rect">
            <a:avLst/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48475" y="2752344"/>
            <a:ext cx="4701387" cy="14301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1.98   a different timing gate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3.98   3 typed where 2 was meant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1100" b="0" i="0">
              <a:solidFill>
                <a:srgbClr val="1E1A1A"/>
              </a:solidFill>
              <a:latin typeface="Consolas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2.52 2.56 2.58 2.59 2.61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3.42 3.42 3.43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07C"/>
                </a:solidFill>
                <a:latin typeface="Consolas"/>
              </a:rPr>
              <a:t>#  the fastest and slowest athletes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07C"/>
                </a:solidFill>
                <a:latin typeface="Consolas"/>
              </a:rPr>
              <a:t>#  in the squad, measured correctly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7307" y="4484274"/>
            <a:ext cx="50671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6470"/>
                </a:solidFill>
                <a:latin typeface="Calibri"/>
              </a:rPr>
              <a:t>2 errors, and 8 athletes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99632"/>
            <a:ext cx="106372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1">
                <a:solidFill>
                  <a:srgbClr val="57504D"/>
                </a:solidFill>
                <a:latin typeface="Calibri"/>
              </a:rPr>
              <a:t>A 3-SD rule removes about 0.3% of any normal column, whether or not anything is wrong with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4 — Your measurement is not exact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578608"/>
            <a:ext cx="10362895" cy="36393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Every test has a typical error — the wobble you get when nothing has changed.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If your jump test has a typical error of 1.5 cm, no model built on it can reliably detect a 1 cm change.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A model cannot be more precise than what went into it. It can, and will, look more precise.</a:t>
            </a:r>
          </a:p>
          <a:p>
            <a:pPr algn="l">
              <a:lnSpc>
                <a:spcPct val="126000"/>
              </a:lnSpc>
              <a:spcBef>
                <a:spcPts val="900"/>
              </a:spcBef>
              <a:spcAft>
                <a:spcPts val="200"/>
              </a:spcAft>
            </a:pPr>
            <a:r>
              <a:rPr sz="1700" b="1" i="0">
                <a:solidFill>
                  <a:srgbClr val="8A1C2B"/>
                </a:solidFill>
                <a:latin typeface="Calibri"/>
              </a:rPr>
              <a:t>Before you model anything, ask: is the effect I am hunting bigger than the noise in my measurement?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783080"/>
            <a:ext cx="9997135" cy="3291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E1A1A"/>
                </a:solidFill>
                <a:latin typeface="Georgia"/>
              </a:rPr>
              <a:t>The n = 22 problem.</a:t>
            </a:r>
          </a:p>
          <a:p>
            <a:pPr algn="ctr">
              <a:lnSpc>
                <a:spcPct val="128000"/>
              </a:lnSpc>
              <a:spcBef>
                <a:spcPts val="1600"/>
              </a:spcBef>
              <a:spcAft>
                <a:spcPts val="600"/>
              </a:spcAft>
            </a:pPr>
            <a:r>
              <a:rPr sz="1650" b="0" i="0">
                <a:solidFill>
                  <a:srgbClr val="57504D"/>
                </a:solidFill>
                <a:latin typeface="Calibri"/>
              </a:rPr>
              <a:t>One squad, forty variables, twenty-two athletes. There are more ways to be wrong than there are athletes.
This is the permanent condition of sport science, and it shapes everything we do from Week 4 onwards.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Getting data you are allowed to have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362895" cy="211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Open datasets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 — </a:t>
            </a:r>
            <a:r>
              <a:rPr sz="1850" b="0" i="0" dirty="0" err="1">
                <a:solidFill>
                  <a:srgbClr val="1E1A1A"/>
                </a:solidFill>
                <a:latin typeface="Calibri"/>
              </a:rPr>
              <a:t>StatsBomb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, public repositories, journal supplementary files. Fastest, and no ethics delay.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Your own </a:t>
            </a:r>
            <a:r>
              <a:rPr sz="1850" b="0" i="0" dirty="0" err="1">
                <a:solidFill>
                  <a:srgbClr val="1E1A1A"/>
                </a:solidFill>
                <a:latin typeface="Calibri"/>
              </a:rPr>
              <a:t>organisation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 — needs a written permission letter, and </a:t>
            </a:r>
            <a:r>
              <a:rPr sz="1850" b="0" i="0" dirty="0" err="1">
                <a:solidFill>
                  <a:srgbClr val="1E1A1A"/>
                </a:solidFill>
                <a:latin typeface="Calibri"/>
              </a:rPr>
              <a:t>anonymisation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 before it reaches </a:t>
            </a:r>
            <a:r>
              <a:rPr sz="1850" b="0" i="0" dirty="0" err="1">
                <a:solidFill>
                  <a:srgbClr val="1E1A1A"/>
                </a:solidFill>
                <a:latin typeface="Calibri"/>
              </a:rPr>
              <a:t>Colab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Scraping websites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 — usually against the terms of service. Do not build a project on it.</a:t>
            </a:r>
          </a:p>
          <a:p>
            <a:pPr algn="l">
              <a:lnSpc>
                <a:spcPct val="126000"/>
              </a:lnSpc>
              <a:spcBef>
                <a:spcPts val="900"/>
              </a:spcBef>
              <a:spcAft>
                <a:spcPts val="200"/>
              </a:spcAft>
            </a:pPr>
            <a:r>
              <a:rPr sz="1700" b="1" i="0" dirty="0">
                <a:solidFill>
                  <a:srgbClr val="8A1C2B"/>
                </a:solidFill>
                <a:latin typeface="Calibri"/>
              </a:rPr>
              <a:t>An athlete's GPS trace is personal data about a named individual. Treat it the way you would treat their medical file.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A217C0D-1E60-D4D3-F506-940F6AF3A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812" y="0"/>
            <a:ext cx="11080376" cy="679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0194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A1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2377440"/>
            <a:ext cx="1828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000" b="1" i="0">
                <a:solidFill>
                  <a:srgbClr val="E09AA2"/>
                </a:solidFill>
                <a:latin typeface="Georgia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0" y="2514600"/>
            <a:ext cx="8168335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Georgia"/>
              </a:rPr>
              <a:t>From a coach's file to a modelling table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0" i="0">
                <a:solidFill>
                  <a:srgbClr val="EEC9CD"/>
                </a:solidFill>
                <a:latin typeface="Calibri"/>
              </a:rPr>
              <a:t>Four operations. You will use all four in every project from here 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What preprocessing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2714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7504D"/>
                </a:solidFill>
                <a:latin typeface="Calibri"/>
              </a:rPr>
              <a:t>Everything you do to the data between receiving it and analysing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78608"/>
            <a:ext cx="10362895" cy="36393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Data is recorded for the system that produced it — a GPS unit, an app, a coach's spreadsheet — not for your question.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Preprocessing turns it into one table that answers your question: one row per thing you study, every column a number you trust.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It is not tidying up. Every step is a decision, and every decision can change the answer.</a:t>
            </a:r>
          </a:p>
          <a:p>
            <a:pPr algn="l">
              <a:lnSpc>
                <a:spcPct val="126000"/>
              </a:lnSpc>
              <a:spcBef>
                <a:spcPts val="900"/>
              </a:spcBef>
              <a:spcAft>
                <a:spcPts val="200"/>
              </a:spcAft>
            </a:pPr>
            <a:r>
              <a:rPr sz="1700" b="1" i="0">
                <a:solidFill>
                  <a:srgbClr val="8A1C2B"/>
                </a:solidFill>
                <a:latin typeface="Calibri"/>
              </a:rPr>
              <a:t>Every step you take here belongs in your methods section.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Five sessions: as they arrive, and as they should be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38528"/>
            <a:ext cx="102714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57504D"/>
                </a:solidFill>
                <a:latin typeface="Calibri"/>
              </a:rPr>
              <a:t>Five real rows from gps_sessions.csv, 9 September. Four of the five are wrong, and nothing in the file says so.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724912"/>
            <a:ext cx="4952847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16352"/>
            <a:ext cx="495284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8A1C2B"/>
                </a:solidFill>
                <a:latin typeface="Calibri"/>
              </a:rPr>
              <a:t>As they arrive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3200400"/>
          <a:ext cx="4952844" cy="2029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8211"/>
                <a:gridCol w="1238211"/>
                <a:gridCol w="1238211"/>
                <a:gridCol w="1238211"/>
              </a:tblGrid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athlete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top_speed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distance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rpe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8A1C2B"/>
                          </a:solidFill>
                          <a:latin typeface="Consolas"/>
                        </a:rPr>
                        <a:t>a4</a:t>
                      </a:r>
                    </a:p>
                  </a:txBody>
                  <a:tcPr marL="64008" marR="64008" marT="27432" marB="27432">
                    <a:solidFill>
                      <a:srgbClr val="F6EA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7.63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6822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4.9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A03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7.93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4435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8A1C2B"/>
                          </a:solidFill>
                          <a:latin typeface="Consolas"/>
                        </a:rPr>
                        <a:t>4,0</a:t>
                      </a:r>
                    </a:p>
                  </a:txBody>
                  <a:tcPr marL="64008" marR="64008" marT="27432" marB="27432">
                    <a:solidFill>
                      <a:srgbClr val="F6EAE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A13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8A1C2B"/>
                          </a:solidFill>
                          <a:latin typeface="Consolas"/>
                        </a:rPr>
                        <a:t>29.90</a:t>
                      </a:r>
                    </a:p>
                  </a:txBody>
                  <a:tcPr marL="64008" marR="64008" marT="27432" marB="27432">
                    <a:solidFill>
                      <a:srgbClr val="F6EA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4151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7.2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A08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8.20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8A1C2B"/>
                          </a:solidFill>
                          <a:latin typeface="Consolas"/>
                        </a:rPr>
                        <a:t>5564</a:t>
                      </a:r>
                    </a:p>
                  </a:txBody>
                  <a:tcPr marL="64008" marR="64008" marT="27432" marB="27432">
                    <a:solidFill>
                      <a:srgbClr val="F6EA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5.9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A01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6.95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5904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4.1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61607" y="2724912"/>
            <a:ext cx="4952847" cy="32004"/>
          </a:xfrm>
          <a:prstGeom prst="rect">
            <a:avLst/>
          </a:prstGeom>
          <a:solidFill>
            <a:srgbClr val="1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2816352"/>
            <a:ext cx="495284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B6470"/>
                </a:solidFill>
                <a:latin typeface="Calibri"/>
              </a:rPr>
              <a:t>Ready to analyse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61607" y="3200400"/>
          <a:ext cx="4952844" cy="2029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8211"/>
                <a:gridCol w="1238211"/>
                <a:gridCol w="1238211"/>
                <a:gridCol w="1238211"/>
              </a:tblGrid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athlete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top_speed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distance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rpe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A04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7.63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6822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4.9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A03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7.93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4435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4.0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A13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8.31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4151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7.2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A08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8.20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5087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5.9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A01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6.95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5904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4.1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30087" y="3941064"/>
            <a:ext cx="731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8B807C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144768"/>
            <a:ext cx="1063721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7504D"/>
                </a:solidFill>
                <a:latin typeface="Calibri"/>
              </a:rPr>
              <a:t>An id typed in lower case, a comma for a decimal point, a speed in km/h, a distance in yards. That is preprocessing.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Why it matters: what skipping a step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057400"/>
          <a:ext cx="10637214" cy="2441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698"/>
                <a:gridCol w="4467630"/>
                <a:gridCol w="4254886"/>
              </a:tblGrid>
              <a:tr h="406908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Skipped</a:t>
                      </a:r>
                    </a:p>
                  </a:txBody>
                  <a:tcPr marL="91440" marR="91440" marT="50292" marB="50292">
                    <a:solidFill>
                      <a:srgbClr val="8A1C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What it does to your answer</a:t>
                      </a:r>
                    </a:p>
                  </a:txBody>
                  <a:tcPr marL="91440" marR="91440" marT="50292" marB="50292">
                    <a:solidFill>
                      <a:srgbClr val="8A1C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In today's files</a:t>
                      </a:r>
                    </a:p>
                  </a:txBody>
                  <a:tcPr marL="91440" marR="91440" marT="50292" marB="50292">
                    <a:solidFill>
                      <a:srgbClr val="8A1C2B"/>
                    </a:solidFill>
                  </a:tcPr>
                </a:tc>
              </a:tr>
              <a:tr h="406908"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Units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mixes two scales in one column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top speed 35.23, from km/h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Types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a variable silently disappears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rpe missing from describe()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</a:tr>
              <a:tr h="406908"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Joins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rows are lost, or invented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5,090 sessions became 5,126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Gaps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the hardest days look ordinary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soreness 4.29 fell to 3.96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</a:tr>
              <a:tr h="406908"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The row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sessions counted as if they were athletes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5,090 rows, but 30 athletes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700016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7504D"/>
                </a:solidFill>
                <a:latin typeface="Calibri"/>
              </a:rPr>
              <a:t>Each one is silent. None of them raises an error.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How: the steps, in 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057400"/>
          <a:ext cx="10637213" cy="2825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698"/>
                <a:gridCol w="4893118"/>
                <a:gridCol w="3829397"/>
              </a:tblGrid>
              <a:tr h="403642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91440" marR="91440" marT="50292" marB="50292">
                    <a:solidFill>
                      <a:srgbClr val="8A1C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What you do</a:t>
                      </a:r>
                    </a:p>
                  </a:txBody>
                  <a:tcPr marL="91440" marR="91440" marT="50292" marB="50292">
                    <a:solidFill>
                      <a:srgbClr val="8A1C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In pandas</a:t>
                      </a:r>
                    </a:p>
                  </a:txBody>
                  <a:tcPr marL="91440" marR="91440" marT="50292" marB="50292">
                    <a:solidFill>
                      <a:srgbClr val="8A1C2B"/>
                    </a:solidFill>
                  </a:tcPr>
                </a:tc>
              </a:tr>
              <a:tr h="403642"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1 · Look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shape, types, summary, what is missing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.shape  .dtypes  .describe()  .isna()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</a:tr>
              <a:tr h="403642"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2 · Fix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text into numbers, one unit for everything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pd.to_numeric()  .str.replace()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</a:tr>
              <a:tr h="403642"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3 · Check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impossible values and duplicates — by looking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.min()  .max()  .duplicated()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</a:tr>
              <a:tr h="403642"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4 · Combine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one row per observation, files joined on a repaired key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.melt()  .merge()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</a:tr>
              <a:tr h="403642"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5 · Decide the row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aggregate to what you are studying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.groupby().agg()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</a:tr>
              <a:tr h="403644"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6 · Prepare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gaps on purpose, categories encoded, features built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.fillna()  pd.get_dummies()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084064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7504D"/>
                </a:solidFill>
                <a:latin typeface="Calibri"/>
              </a:rPr>
              <a:t>Write down every decision. A reader should be able to rebuild your table from your methods section.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PREPARING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What is actually on the disk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27145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7504D"/>
                </a:solidFill>
                <a:latin typeface="Calibri"/>
              </a:rPr>
              <a:t>Four files, synthetic, shaped exactly like the ones that arrive.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78608"/>
            <a:ext cx="10362895" cy="36393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gps_sessions.csv — 5,090 rows. One row per session.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wellness_daily.csv — 4,588 rows. One row per athlete per morning.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squad.csv — 30 rows. Position, date of birth, dominant limb.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coach_training_load.xlsx — 30 rows, one column per week.</a:t>
            </a:r>
          </a:p>
          <a:p>
            <a:pPr algn="l">
              <a:lnSpc>
                <a:spcPct val="126000"/>
              </a:lnSpc>
              <a:spcBef>
                <a:spcPts val="900"/>
              </a:spcBef>
              <a:spcAft>
                <a:spcPts val="200"/>
              </a:spcAft>
            </a:pPr>
            <a:r>
              <a:rPr sz="1700" b="1" i="0">
                <a:solidFill>
                  <a:srgbClr val="8A1C2B"/>
                </a:solidFill>
                <a:latin typeface="Calibri"/>
              </a:rPr>
              <a:t>Not one of them joins to another without work.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Step 1 · Look: a plot finds what a summary hides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_un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01952"/>
            <a:ext cx="6430975" cy="3892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28255" y="1947672"/>
            <a:ext cx="3886200" cy="4498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Every session's top speed, as recorded.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Most of the squad sits between 5 and 10. That is m/s, and it is human.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A second hump sits between 22 and 34: 581 sessions from four athletes whose GPS exported km/h.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An average of the two would describe nobody.</a:t>
            </a:r>
          </a:p>
          <a:p>
            <a:pPr algn="l">
              <a:lnSpc>
                <a:spcPct val="122000"/>
              </a:lnSpc>
              <a:spcBef>
                <a:spcPts val="1000"/>
              </a:spcBef>
              <a:spcAft>
                <a:spcPts val="200"/>
              </a:spcAft>
            </a:pPr>
            <a:r>
              <a:rPr sz="1500" b="1" i="0">
                <a:solidFill>
                  <a:srgbClr val="8A1C2B"/>
                </a:solidFill>
                <a:latin typeface="Calibri"/>
              </a:rPr>
              <a:t>Before anything else: one plot per column.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Step 2 · Fix: one kind of number, one unit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38528"/>
            <a:ext cx="10271455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57504D"/>
                </a:solidFill>
                <a:latin typeface="Calibri"/>
              </a:rPr>
              <a:t>Four sessions of athlete A13. The speed is in the wrong unit and the RPE is stored as text.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423160"/>
            <a:ext cx="4952847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495284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8A1C2B"/>
                </a:solidFill>
                <a:latin typeface="Calibri"/>
              </a:rPr>
              <a:t>As recorded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2898648"/>
          <a:ext cx="4952845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512"/>
                <a:gridCol w="1683967"/>
                <a:gridCol w="1287740"/>
                <a:gridCol w="1089626"/>
              </a:tblGrid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athlete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top_speed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rpe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A13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2026-09-01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8A1C2B"/>
                          </a:solidFill>
                          <a:latin typeface="Consolas"/>
                        </a:rPr>
                        <a:t>26.70</a:t>
                      </a:r>
                    </a:p>
                  </a:txBody>
                  <a:tcPr marL="64008" marR="64008" marT="27432" marB="27432">
                    <a:solidFill>
                      <a:srgbClr val="F6EA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8A1C2B"/>
                          </a:solidFill>
                          <a:latin typeface="Consolas"/>
                        </a:rPr>
                        <a:t>7,3</a:t>
                      </a:r>
                    </a:p>
                  </a:txBody>
                  <a:tcPr marL="64008" marR="64008" marT="27432" marB="27432">
                    <a:solidFill>
                      <a:srgbClr val="F6EAE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A13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2026-09-06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8A1C2B"/>
                          </a:solidFill>
                          <a:latin typeface="Consolas"/>
                        </a:rPr>
                        <a:t>30.11</a:t>
                      </a:r>
                    </a:p>
                  </a:txBody>
                  <a:tcPr marL="64008" marR="64008" marT="27432" marB="27432">
                    <a:solidFill>
                      <a:srgbClr val="F6EA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8A1C2B"/>
                          </a:solidFill>
                          <a:latin typeface="Consolas"/>
                        </a:rPr>
                        <a:t>6,9</a:t>
                      </a:r>
                    </a:p>
                  </a:txBody>
                  <a:tcPr marL="64008" marR="64008" marT="27432" marB="27432">
                    <a:solidFill>
                      <a:srgbClr val="F6EAE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A13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2026-09-13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8A1C2B"/>
                          </a:solidFill>
                          <a:latin typeface="Consolas"/>
                        </a:rPr>
                        <a:t>28.13</a:t>
                      </a:r>
                    </a:p>
                  </a:txBody>
                  <a:tcPr marL="64008" marR="64008" marT="27432" marB="27432">
                    <a:solidFill>
                      <a:srgbClr val="F6EA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8A1C2B"/>
                          </a:solidFill>
                          <a:latin typeface="Consolas"/>
                        </a:rPr>
                        <a:t>7,1</a:t>
                      </a:r>
                    </a:p>
                  </a:txBody>
                  <a:tcPr marL="64008" marR="64008" marT="27432" marB="27432">
                    <a:solidFill>
                      <a:srgbClr val="F6EAE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A13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2026-09-22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8A1C2B"/>
                          </a:solidFill>
                          <a:latin typeface="Consolas"/>
                        </a:rPr>
                        <a:t>20.74</a:t>
                      </a:r>
                    </a:p>
                  </a:txBody>
                  <a:tcPr marL="64008" marR="64008" marT="27432" marB="27432">
                    <a:solidFill>
                      <a:srgbClr val="F6EA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8A1C2B"/>
                          </a:solidFill>
                          <a:latin typeface="Consolas"/>
                        </a:rPr>
                        <a:t>5,8</a:t>
                      </a:r>
                    </a:p>
                  </a:txBody>
                  <a:tcPr marL="64008" marR="64008" marT="27432" marB="27432">
                    <a:solidFill>
                      <a:srgbClr val="F6EAE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61607" y="2423160"/>
            <a:ext cx="4952847" cy="32004"/>
          </a:xfrm>
          <a:prstGeom prst="rect">
            <a:avLst/>
          </a:prstGeom>
          <a:solidFill>
            <a:srgbClr val="1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2514600"/>
            <a:ext cx="495284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B6470"/>
                </a:solidFill>
                <a:latin typeface="Calibri"/>
              </a:rPr>
              <a:t>Fixed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61607" y="2898648"/>
          <a:ext cx="4952845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512"/>
                <a:gridCol w="1683967"/>
                <a:gridCol w="1287740"/>
                <a:gridCol w="1089626"/>
              </a:tblGrid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athlete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top_speed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rpe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A13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2026-09-01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7.42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7.3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A13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2026-09-06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8.36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6.9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A13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2026-09-13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7.81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7.1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A13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2026-09-22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5.76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5.8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30087" y="3470148"/>
            <a:ext cx="731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8B807C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144768"/>
            <a:ext cx="1063721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7504D"/>
                </a:solidFill>
                <a:latin typeface="Calibri"/>
              </a:rPr>
              <a:t>km/h ÷ 3.6 = m/s. And '6,5' with a comma is text to the computer; 6.5 with a dot is a number.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Step 2 · Fix: one athlete, one name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38528"/>
            <a:ext cx="10271455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57504D"/>
                </a:solidFill>
                <a:latin typeface="Calibri"/>
              </a:rPr>
              <a:t>Whoever had the tablet typed the id. To a computer, 'A07' and 'a7' are two different athletes.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423160"/>
            <a:ext cx="4952847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495284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8A1C2B"/>
                </a:solidFill>
                <a:latin typeface="Calibri"/>
              </a:rPr>
              <a:t>As typed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2898648"/>
          <a:ext cx="4952847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0949"/>
                <a:gridCol w="1650949"/>
                <a:gridCol w="1650949"/>
              </a:tblGrid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athlete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session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A07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2026-09-01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Recovery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8A1C2B"/>
                          </a:solidFill>
                          <a:latin typeface="Consolas"/>
                        </a:rPr>
                        <a:t>a7</a:t>
                      </a:r>
                    </a:p>
                  </a:txBody>
                  <a:tcPr marL="64008" marR="64008" marT="27432" marB="27432">
                    <a:solidFill>
                      <a:srgbClr val="F6EA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2026-09-02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Training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8A1C2B"/>
                          </a:solidFill>
                          <a:latin typeface="Consolas"/>
                        </a:rPr>
                        <a:t>a7</a:t>
                      </a:r>
                    </a:p>
                  </a:txBody>
                  <a:tcPr marL="64008" marR="64008" marT="27432" marB="27432">
                    <a:solidFill>
                      <a:srgbClr val="F6EA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2026-09-03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Training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A07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2026-09-05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Training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61607" y="2423160"/>
            <a:ext cx="4952847" cy="32004"/>
          </a:xfrm>
          <a:prstGeom prst="rect">
            <a:avLst/>
          </a:prstGeom>
          <a:solidFill>
            <a:srgbClr val="1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2514600"/>
            <a:ext cx="495284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B6470"/>
                </a:solidFill>
                <a:latin typeface="Calibri"/>
              </a:rPr>
              <a:t>One spelling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61607" y="2898648"/>
          <a:ext cx="4952847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0949"/>
                <a:gridCol w="1650949"/>
                <a:gridCol w="1650949"/>
              </a:tblGrid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athlete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session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A07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2026-09-01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Recovery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A07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2026-09-02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Training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A07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2026-09-03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Training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A07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2026-09-05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Training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30087" y="3470148"/>
            <a:ext cx="731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8B807C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144768"/>
            <a:ext cx="1063721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7504D"/>
                </a:solidFill>
                <a:latin typeface="Calibri"/>
              </a:rPr>
              <a:t>Across the file: 60 different spellings for 30 athletes. Unrepaired, every count and every join is wrong.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Step 3 · Check: the same morning, twice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38528"/>
            <a:ext cx="102714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57504D"/>
                </a:solidFill>
                <a:latin typeface="Calibri"/>
              </a:rPr>
              <a:t>Athlete A03 submitted the wellness form twice on 16 October. Both rows are real, and one of them is spurious.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724912"/>
            <a:ext cx="4952847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16352"/>
            <a:ext cx="495284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8A1C2B"/>
                </a:solidFill>
                <a:latin typeface="Calibri"/>
              </a:rPr>
              <a:t>As submitted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3200400"/>
          <a:ext cx="4952844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8211"/>
                <a:gridCol w="1238211"/>
                <a:gridCol w="1238211"/>
                <a:gridCol w="1238211"/>
              </a:tblGrid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athlete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sleep_h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soreness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A03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2026-10-15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6.7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A03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8A1C2B"/>
                          </a:solidFill>
                          <a:latin typeface="Consolas"/>
                        </a:rPr>
                        <a:t>2026-10-16</a:t>
                      </a:r>
                    </a:p>
                  </a:txBody>
                  <a:tcPr marL="64008" marR="64008" marT="27432" marB="27432">
                    <a:solidFill>
                      <a:srgbClr val="F6EA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5.8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A03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8A1C2B"/>
                          </a:solidFill>
                          <a:latin typeface="Consolas"/>
                        </a:rPr>
                        <a:t>2026-10-16</a:t>
                      </a:r>
                    </a:p>
                  </a:txBody>
                  <a:tcPr marL="64008" marR="64008" marT="27432" marB="27432">
                    <a:solidFill>
                      <a:srgbClr val="F6EA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5.8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A03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2026-10-17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6.9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61607" y="2724912"/>
            <a:ext cx="4952847" cy="32004"/>
          </a:xfrm>
          <a:prstGeom prst="rect">
            <a:avLst/>
          </a:prstGeom>
          <a:solidFill>
            <a:srgbClr val="1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2816352"/>
            <a:ext cx="495284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B6470"/>
                </a:solidFill>
                <a:latin typeface="Calibri"/>
              </a:rPr>
              <a:t>One row per morning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61607" y="3200400"/>
          <a:ext cx="4952844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8211"/>
                <a:gridCol w="1238211"/>
                <a:gridCol w="1238211"/>
                <a:gridCol w="1238211"/>
              </a:tblGrid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athlete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sleep_h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soreness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A03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2026-10-15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6.7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A03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2026-10-16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5.8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A03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2026-10-17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6.9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30087" y="3771900"/>
            <a:ext cx="731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8B807C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144768"/>
            <a:ext cx="1063721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7504D"/>
                </a:solidFill>
                <a:latin typeface="Calibri"/>
              </a:rPr>
              <a:t>There are 41 of these in the wellness file. Kept, each one quietly doubles a session when the files are joined.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Step 3 · Check: an error is not an extreme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_outl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01952"/>
            <a:ext cx="6430975" cy="33847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28255" y="1947672"/>
            <a:ext cx="3886200" cy="4498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4,415 sprint times, one dot each.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Two are impossible: 1.98 s is a different timing gate, 3.98 s is a 3 typed for a 2. Those are errors.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The dots at the edges of the crowd are not errors. They are the fastest and slowest athletes in the squad.</a:t>
            </a:r>
          </a:p>
          <a:p>
            <a:pPr algn="l">
              <a:lnSpc>
                <a:spcPct val="122000"/>
              </a:lnSpc>
              <a:spcBef>
                <a:spcPts val="1000"/>
              </a:spcBef>
              <a:spcAft>
                <a:spcPts val="200"/>
              </a:spcAft>
            </a:pPr>
            <a:r>
              <a:rPr sz="1500" b="1" i="0">
                <a:solidFill>
                  <a:srgbClr val="8A1C2B"/>
                </a:solidFill>
                <a:latin typeface="Calibri"/>
              </a:rPr>
              <a:t>Fix errors. Keep extremes. You can only tell them apart by looking.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Step 4 · Combine: wide to long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38528"/>
            <a:ext cx="102714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57504D"/>
                </a:solidFill>
                <a:latin typeface="Calibri"/>
              </a:rPr>
              <a:t>Three athletes and three weeks from the coach's spreadsheet. The numbers do not change; only the shape does.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724912"/>
            <a:ext cx="5044287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16352"/>
            <a:ext cx="504428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8A1C2B"/>
                </a:solidFill>
                <a:latin typeface="Calibri"/>
              </a:rPr>
              <a:t>Wide — as the coach keeps it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3200400"/>
          <a:ext cx="5044284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071"/>
                <a:gridCol w="1261071"/>
                <a:gridCol w="1261071"/>
                <a:gridCol w="1261071"/>
              </a:tblGrid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Athlete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W1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W2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W3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A01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8A1C2B"/>
                          </a:solidFill>
                          <a:latin typeface="Consolas"/>
                        </a:rPr>
                        <a:t>331</a:t>
                      </a:r>
                    </a:p>
                  </a:txBody>
                  <a:tcPr marL="64008" marR="64008" marT="27432" marB="27432">
                    <a:solidFill>
                      <a:srgbClr val="F6EA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8A1C2B"/>
                          </a:solidFill>
                          <a:latin typeface="Consolas"/>
                        </a:rPr>
                        <a:t>487</a:t>
                      </a:r>
                    </a:p>
                  </a:txBody>
                  <a:tcPr marL="64008" marR="64008" marT="27432" marB="27432">
                    <a:solidFill>
                      <a:srgbClr val="F6EA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8A1C2B"/>
                          </a:solidFill>
                          <a:latin typeface="Consolas"/>
                        </a:rPr>
                        <a:t>400</a:t>
                      </a:r>
                    </a:p>
                  </a:txBody>
                  <a:tcPr marL="64008" marR="64008" marT="27432" marB="27432">
                    <a:solidFill>
                      <a:srgbClr val="F6EAE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A02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417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377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335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A03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458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476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446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370167" y="2724912"/>
            <a:ext cx="5044287" cy="32004"/>
          </a:xfrm>
          <a:prstGeom prst="rect">
            <a:avLst/>
          </a:prstGeom>
          <a:solidFill>
            <a:srgbClr val="1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0167" y="2816352"/>
            <a:ext cx="504428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B6470"/>
                </a:solidFill>
                <a:latin typeface="Calibri"/>
              </a:rPr>
              <a:t>Long — one row, one observation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70167" y="3200400"/>
          <a:ext cx="5044287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429"/>
                <a:gridCol w="1681429"/>
                <a:gridCol w="1681429"/>
              </a:tblGrid>
              <a:tr h="246888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Athlete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week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minutes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E1A1A"/>
                          </a:solidFill>
                          <a:latin typeface="Consolas"/>
                        </a:rPr>
                        <a:t>A01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E1A1A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1B6470"/>
                          </a:solidFill>
                          <a:latin typeface="Consolas"/>
                        </a:rPr>
                        <a:t>331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E1A1A"/>
                          </a:solidFill>
                          <a:latin typeface="Consolas"/>
                        </a:rPr>
                        <a:t>A01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E1A1A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1B6470"/>
                          </a:solidFill>
                          <a:latin typeface="Consolas"/>
                        </a:rPr>
                        <a:t>487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E1A1A"/>
                          </a:solidFill>
                          <a:latin typeface="Consolas"/>
                        </a:rPr>
                        <a:t>A01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E1A1A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1B6470"/>
                          </a:solidFill>
                          <a:latin typeface="Consolas"/>
                        </a:rPr>
                        <a:t>400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E1A1A"/>
                          </a:solidFill>
                          <a:latin typeface="Consolas"/>
                        </a:rPr>
                        <a:t>A02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E1A1A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E1A1A"/>
                          </a:solidFill>
                          <a:latin typeface="Consolas"/>
                        </a:rPr>
                        <a:t>417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E1A1A"/>
                          </a:solidFill>
                          <a:latin typeface="Consolas"/>
                        </a:rPr>
                        <a:t>A02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E1A1A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E1A1A"/>
                          </a:solidFill>
                          <a:latin typeface="Consolas"/>
                        </a:rPr>
                        <a:t>377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E1A1A"/>
                          </a:solidFill>
                          <a:latin typeface="Consolas"/>
                        </a:rPr>
                        <a:t>A02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E1A1A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E1A1A"/>
                          </a:solidFill>
                          <a:latin typeface="Consolas"/>
                        </a:rPr>
                        <a:t>335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E1A1A"/>
                          </a:solidFill>
                          <a:latin typeface="Consolas"/>
                        </a:rPr>
                        <a:t>A03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E1A1A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E1A1A"/>
                          </a:solidFill>
                          <a:latin typeface="Consolas"/>
                        </a:rPr>
                        <a:t>458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E1A1A"/>
                          </a:solidFill>
                          <a:latin typeface="Consolas"/>
                        </a:rPr>
                        <a:t>A03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E1A1A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E1A1A"/>
                          </a:solidFill>
                          <a:latin typeface="Consolas"/>
                        </a:rPr>
                        <a:t>476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E1A1A"/>
                          </a:solidFill>
                          <a:latin typeface="Consolas"/>
                        </a:rPr>
                        <a:t>A03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E1A1A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E1A1A"/>
                          </a:solidFill>
                          <a:latin typeface="Consolas"/>
                        </a:rPr>
                        <a:t>446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821527" y="41605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8B807C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144768"/>
            <a:ext cx="1063721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7504D"/>
                </a:solidFill>
                <a:latin typeface="Calibri"/>
              </a:rPr>
              <a:t>Wide is easy to read. Long is what every analysis tool expects — adding a week adds rows, not columns.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PREPARING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One column per week, and what it has to become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1975104"/>
            <a:ext cx="5067147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139696"/>
            <a:ext cx="506714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8A1C2B"/>
                </a:solidFill>
                <a:latin typeface="Calibri"/>
              </a:rPr>
              <a:t>As the spreadsheet opens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596896"/>
            <a:ext cx="5067147" cy="1536763"/>
          </a:xfrm>
          <a:prstGeom prst="rect">
            <a:avLst/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2752344"/>
            <a:ext cx="4701387" cy="12258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wide = pd.read_excel(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    'coach_training_load.xlsx',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    sheet_name='Load', skiprows=2)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wide.shape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07C"/>
                </a:solidFill>
                <a:latin typeface="Consolas"/>
              </a:rPr>
              <a:t># (31, 27)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79963"/>
            <a:ext cx="50671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A1C2B"/>
                </a:solidFill>
                <a:latin typeface="Calibri"/>
              </a:rPr>
              <a:t>31 rows, and there are 30 athletes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47307" y="1975104"/>
            <a:ext cx="5067147" cy="32004"/>
          </a:xfrm>
          <a:prstGeom prst="rect">
            <a:avLst/>
          </a:prstGeom>
          <a:solidFill>
            <a:srgbClr val="1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47307" y="2139696"/>
            <a:ext cx="506714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B6470"/>
                </a:solidFill>
                <a:latin typeface="Calibri"/>
              </a:rPr>
              <a:t>One row per athlete-week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7307" y="2596896"/>
            <a:ext cx="5067147" cy="1536763"/>
          </a:xfrm>
          <a:prstGeom prst="rect">
            <a:avLst/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48475" y="2752344"/>
            <a:ext cx="4701387" cy="12258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long = wide.melt(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    id_vars='Athlete',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    var_name='week',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    value_name='minutes').dropna()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long.shape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07C"/>
                </a:solidFill>
                <a:latin typeface="Consolas"/>
              </a:rPr>
              <a:t># (780, 3)      30 athletes x 26 weeks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7307" y="4279963"/>
            <a:ext cx="50671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6470"/>
                </a:solidFill>
                <a:latin typeface="Calibri"/>
              </a:rPr>
              <a:t>Now every tool in the course can read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99632"/>
            <a:ext cx="106372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1">
                <a:solidFill>
                  <a:srgbClr val="57504D"/>
                </a:solidFill>
                <a:latin typeface="Calibri"/>
              </a:rPr>
              <a:t>The 31st row is TOTAL. It vanished only because those cells hold formulas.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Step 4 · Combine: a join, on three athletes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38528"/>
            <a:ext cx="102714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57504D"/>
                </a:solidFill>
                <a:latin typeface="Calibri"/>
              </a:rPr>
              <a:t>Each session looks up that athlete's wellness for the same morning. A28 was never added to the wellness 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724912"/>
            <a:ext cx="4952847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16352"/>
            <a:ext cx="495284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8A1C2B"/>
                </a:solidFill>
                <a:latin typeface="Calibri"/>
              </a:rPr>
              <a:t>Sessions (from the GPS file)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3200400"/>
          <a:ext cx="4952847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0949"/>
                <a:gridCol w="1650949"/>
                <a:gridCol w="1650949"/>
              </a:tblGrid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athlete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rpe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A05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2026-09-09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7.5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A06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2026-09-09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6.3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A28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2026-09-09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7.5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61607" y="2724912"/>
            <a:ext cx="4952847" cy="32004"/>
          </a:xfrm>
          <a:prstGeom prst="rect">
            <a:avLst/>
          </a:prstGeom>
          <a:solidFill>
            <a:srgbClr val="1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2816352"/>
            <a:ext cx="495284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B6470"/>
                </a:solidFill>
                <a:latin typeface="Calibri"/>
              </a:rPr>
              <a:t>Sessions with wellness joined on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61607" y="3200400"/>
          <a:ext cx="4952844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8211"/>
                <a:gridCol w="1238211"/>
                <a:gridCol w="1238211"/>
                <a:gridCol w="1238211"/>
              </a:tblGrid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athlete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rpe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sleep_h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soreness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A05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7.5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7.8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A06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6.3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7.0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A28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7.5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30087" y="3602736"/>
            <a:ext cx="731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8B807C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144768"/>
            <a:ext cx="1063721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7504D"/>
                </a:solidFill>
                <a:latin typeface="Calibri"/>
              </a:rPr>
              <a:t>Matched on athlete and date. Where there is no match the gap stays visible — the row is kept, not thrown away.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PREPARING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The join, before and after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1975104"/>
            <a:ext cx="5067147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139696"/>
            <a:ext cx="506714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8A1C2B"/>
                </a:solidFill>
                <a:latin typeface="Calibri"/>
              </a:rPr>
              <a:t>Keys as they were typed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596896"/>
            <a:ext cx="5067147" cy="1741074"/>
          </a:xfrm>
          <a:prstGeom prst="rect">
            <a:avLst/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2752344"/>
            <a:ext cx="4701387" cy="14301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df = gps.merge(well,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         on=['athlete','date'], how='left')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len(df)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07C"/>
                </a:solidFill>
                <a:latin typeface="Consolas"/>
              </a:rPr>
              <a:t># 5112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df['sleep_h'].isna().mean()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07C"/>
                </a:solidFill>
                <a:latin typeface="Consolas"/>
              </a:rPr>
              <a:t># 0.385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84274"/>
            <a:ext cx="50671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A1C2B"/>
                </a:solidFill>
                <a:latin typeface="Calibri"/>
              </a:rPr>
              <a:t>38.5% of the wellness 'missing'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47307" y="1975104"/>
            <a:ext cx="5067147" cy="32004"/>
          </a:xfrm>
          <a:prstGeom prst="rect">
            <a:avLst/>
          </a:prstGeom>
          <a:solidFill>
            <a:srgbClr val="1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47307" y="2139696"/>
            <a:ext cx="506714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B6470"/>
                </a:solidFill>
                <a:latin typeface="Calibri"/>
              </a:rPr>
              <a:t>Keys repaired, duplicates removed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7307" y="2596896"/>
            <a:ext cx="5067147" cy="1741074"/>
          </a:xfrm>
          <a:prstGeom prst="rect">
            <a:avLst/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48475" y="2752344"/>
            <a:ext cx="4701387" cy="14301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07C"/>
                </a:solidFill>
                <a:latin typeface="Consolas"/>
              </a:rPr>
              <a:t># 'a3' and 'A03' are the same athlete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n = gps['athlete'].str.extract(r'(\d+)')[0]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gps['athlete'] = 'A' + n.str.zfill(2)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well = well.drop_duplicates(['athlete','date'])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df = gps.merge(well, on=['athlete','date'],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               how='left')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07C"/>
                </a:solidFill>
                <a:latin typeface="Consolas"/>
              </a:rPr>
              <a:t># 5090 rows, 0.143 missing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7307" y="4484274"/>
            <a:ext cx="50671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6470"/>
                </a:solidFill>
                <a:latin typeface="Calibri"/>
              </a:rPr>
              <a:t>14.3% — the real figure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99632"/>
            <a:ext cx="106372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1">
                <a:solidFill>
                  <a:srgbClr val="57504D"/>
                </a:solidFill>
                <a:latin typeface="Calibri"/>
              </a:rPr>
              <a:t>Same two files, same join. The first number was an artefact of how somebody typed an id.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PREPARING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Three ways a join goes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057400"/>
          <a:ext cx="10637214" cy="16733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8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337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What you see</a:t>
                      </a:r>
                    </a:p>
                  </a:txBody>
                  <a:tcPr marT="50292" marB="5029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What happened</a:t>
                      </a:r>
                    </a:p>
                  </a:txBody>
                  <a:tcPr marT="50292" marB="5029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What to do</a:t>
                      </a:r>
                    </a:p>
                  </a:txBody>
                  <a:tcPr marT="50292" marB="50292">
                    <a:solidFill>
                      <a:srgbClr val="8A1C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337"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Rows you expected are empty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the key is written differently in the two files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normalise the key before joining, every time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337"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More rows than you started with</a:t>
                      </a:r>
                    </a:p>
                  </a:txBody>
                  <a:tcPr marT="50292" marB="5029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the key is not unique on one side</a:t>
                      </a:r>
                    </a:p>
                  </a:txBody>
                  <a:tcPr marT="50292" marB="5029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count duplicates on both sides first</a:t>
                      </a:r>
                    </a:p>
                  </a:txBody>
                  <a:tcPr marT="50292" marB="50292">
                    <a:solidFill>
                      <a:srgbClr val="F4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340"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Athletes have quietly disappeared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an inner join kept only the rows that matched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join with how='left', then count what is missing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3931920"/>
            <a:ext cx="106372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7504D"/>
                </a:solidFill>
                <a:latin typeface="Calibri"/>
              </a:rPr>
              <a:t>In these files: 38.5% empty, 36 rows conjured out of nothing, and A28, A29, A30 gone without a word.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Step 5 · Decide the row: from sessions to a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38528"/>
            <a:ext cx="10271455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57504D"/>
                </a:solidFill>
                <a:latin typeface="Calibri"/>
              </a:rPr>
              <a:t>Athlete A04, week 2 of the season. A coach plans in weeks, so the analysis usually does too.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423160"/>
            <a:ext cx="585216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5852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8A1C2B"/>
                </a:solidFill>
                <a:latin typeface="Calibri"/>
              </a:rPr>
              <a:t>One row per session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2898648"/>
          <a:ext cx="5852158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432"/>
                <a:gridCol w="1521561"/>
                <a:gridCol w="936345"/>
                <a:gridCol w="936345"/>
                <a:gridCol w="1287475"/>
              </a:tblGrid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session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rpe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load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08 Sep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Recovery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46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7.1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8A1C2B"/>
                          </a:solidFill>
                          <a:latin typeface="Consolas"/>
                        </a:rPr>
                        <a:t>329</a:t>
                      </a:r>
                    </a:p>
                  </a:txBody>
                  <a:tcPr marL="64008" marR="64008" marT="27432" marB="27432">
                    <a:solidFill>
                      <a:srgbClr val="F6EA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09 Sep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Training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63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4.9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8A1C2B"/>
                          </a:solidFill>
                          <a:latin typeface="Consolas"/>
                        </a:rPr>
                        <a:t>307</a:t>
                      </a:r>
                    </a:p>
                  </a:txBody>
                  <a:tcPr marL="64008" marR="64008" marT="27432" marB="27432">
                    <a:solidFill>
                      <a:srgbClr val="F6EA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10 Sep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Training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63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4.4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8A1C2B"/>
                          </a:solidFill>
                          <a:latin typeface="Consolas"/>
                        </a:rPr>
                        <a:t>278</a:t>
                      </a:r>
                    </a:p>
                  </a:txBody>
                  <a:tcPr marL="64008" marR="64008" marT="27432" marB="27432">
                    <a:solidFill>
                      <a:srgbClr val="F6EA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11 Sep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Training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72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5.5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8A1C2B"/>
                          </a:solidFill>
                          <a:latin typeface="Consolas"/>
                        </a:rPr>
                        <a:t>396</a:t>
                      </a:r>
                    </a:p>
                  </a:txBody>
                  <a:tcPr marL="64008" marR="64008" marT="27432" marB="27432">
                    <a:solidFill>
                      <a:srgbClr val="F6EA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12 Sep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Training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79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7.7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8A1C2B"/>
                          </a:solidFill>
                          <a:latin typeface="Consolas"/>
                        </a:rPr>
                        <a:t>611</a:t>
                      </a:r>
                    </a:p>
                  </a:txBody>
                  <a:tcPr marL="64008" marR="64008" marT="27432" marB="27432">
                    <a:solidFill>
                      <a:srgbClr val="F6EA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13 Sep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Match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94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4.1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8A1C2B"/>
                          </a:solidFill>
                          <a:latin typeface="Consolas"/>
                        </a:rPr>
                        <a:t>384</a:t>
                      </a:r>
                    </a:p>
                  </a:txBody>
                  <a:tcPr marL="64008" marR="64008" marT="27432" marB="27432">
                    <a:solidFill>
                      <a:srgbClr val="F6EAE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132320" y="2423160"/>
            <a:ext cx="4282135" cy="32004"/>
          </a:xfrm>
          <a:prstGeom prst="rect">
            <a:avLst/>
          </a:prstGeom>
          <a:solidFill>
            <a:srgbClr val="1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2514600"/>
            <a:ext cx="428213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B6470"/>
                </a:solidFill>
                <a:latin typeface="Calibri"/>
              </a:rPr>
              <a:t>One row per athlete-week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132320" y="2898648"/>
          <a:ext cx="4282132" cy="676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2069"/>
                <a:gridCol w="685141"/>
                <a:gridCol w="942069"/>
                <a:gridCol w="770784"/>
                <a:gridCol w="942069"/>
              </a:tblGrid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athlete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week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sessions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load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A04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417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2305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629400" y="3648456"/>
            <a:ext cx="502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8B807C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144768"/>
            <a:ext cx="1063721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7504D"/>
                </a:solidFill>
                <a:latin typeface="Calibri"/>
              </a:rPr>
              <a:t>Sum the load, count the sessions, average the soreness. One athlete-week, and 780 of them in the season.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PREPARING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What is one row?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27145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7504D"/>
                </a:solidFill>
                <a:latin typeface="Calibri"/>
              </a:rPr>
              <a:t>Answer this before you aggregate anything.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78608"/>
            <a:ext cx="10362895" cy="36393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675 athlete-days in this file carry two sessions — a gym session in the afternoon.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Group by athlete and date and you have silently averaged them into one.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30 athletes measured 170 times each is still 30 athletes.</a:t>
            </a:r>
          </a:p>
          <a:p>
            <a:pPr algn="l">
              <a:lnSpc>
                <a:spcPct val="126000"/>
              </a:lnSpc>
              <a:spcBef>
                <a:spcPts val="900"/>
              </a:spcBef>
              <a:spcAft>
                <a:spcPts val="200"/>
              </a:spcAft>
            </a:pPr>
            <a:r>
              <a:rPr sz="1700" b="1" i="0">
                <a:solidFill>
                  <a:srgbClr val="8A1C2B"/>
                </a:solidFill>
                <a:latin typeface="Calibri"/>
              </a:rPr>
              <a:t>Decide the unit of analysis now. In Week 5 it decides how you are allowed to split the data.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Step 6 · Prepare: one gap, four ways to fill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38528"/>
            <a:ext cx="102714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57504D"/>
                </a:solidFill>
                <a:latin typeface="Calibri"/>
              </a:rPr>
              <a:t>Athlete A01, one week. The morning after the match was not filled in — the morning that matters most.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724912"/>
            <a:ext cx="45720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16352"/>
            <a:ext cx="4572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8A1C2B"/>
                </a:solidFill>
                <a:latin typeface="Calibri"/>
              </a:rPr>
              <a:t>As recorded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3200400"/>
          <a:ext cx="457200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463040"/>
              </a:tblGrid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morning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soreness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alibri"/>
                        </a:rPr>
                        <a:t>Tue 15 Sep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alibri"/>
                        </a:rPr>
                        <a:t>Wed 16 Sep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alibri"/>
                        </a:rPr>
                        <a:t>Thu 17 Sep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alibri"/>
                        </a:rPr>
                        <a:t>Fri 18 Sep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alibri"/>
                        </a:rPr>
                        <a:t>Sat 19 Sep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alibri"/>
                        </a:rPr>
                        <a:t>Sun 20 Sep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alibri"/>
                        </a:rPr>
                        <a:t>Mon 21 Sep  ← after match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8A1C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27432" marB="27432">
                    <a:solidFill>
                      <a:srgbClr val="F6EAE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806440" y="2724912"/>
            <a:ext cx="5608015" cy="32004"/>
          </a:xfrm>
          <a:prstGeom prst="rect">
            <a:avLst/>
          </a:prstGeom>
          <a:solidFill>
            <a:srgbClr val="1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2816352"/>
            <a:ext cx="56080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B6470"/>
                </a:solidFill>
                <a:latin typeface="Calibri"/>
              </a:rPr>
              <a:t>Four choices for the gap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806440" y="3200400"/>
          <a:ext cx="5608012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03"/>
                <a:gridCol w="1402003"/>
                <a:gridCol w="1402003"/>
                <a:gridCol w="1402003"/>
              </a:tblGrid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drop it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column mean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carry forward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was missing?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— (dropped)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3.0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349240" y="4133088"/>
            <a:ext cx="457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8B807C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144768"/>
            <a:ext cx="1063721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7504D"/>
                </a:solidFill>
                <a:latin typeface="Calibri"/>
              </a:rPr>
              <a:t>Drop it, and the week loses its hardest day. The column mean says 3.0 — an ordinary day. Carrying forward says nothing changed overnight.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PREPARING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Four ways to handle a gap, four different claims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057400"/>
          <a:ext cx="10637214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1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01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05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What you do</a:t>
                      </a:r>
                    </a:p>
                  </a:txBody>
                  <a:tcPr marT="50292" marB="5029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Mean post-match soreness</a:t>
                      </a:r>
                    </a:p>
                  </a:txBody>
                  <a:tcPr marT="50292" marB="5029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What you have claimed</a:t>
                      </a:r>
                    </a:p>
                  </a:txBody>
                  <a:tcPr marT="50292" marB="50292">
                    <a:solidFill>
                      <a:srgbClr val="8A1C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Use only what was recorded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4.29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nothing — but a quarter of those days are gone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Fill with the column mean</a:t>
                      </a:r>
                    </a:p>
                  </a:txBody>
                  <a:tcPr marT="50292" marB="5029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3.96</a:t>
                      </a:r>
                    </a:p>
                  </a:txBody>
                  <a:tcPr marT="50292" marB="5029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that post-match days were ordinary days</a:t>
                      </a:r>
                    </a:p>
                  </a:txBody>
                  <a:tcPr marT="50292" marB="50292">
                    <a:solidFill>
                      <a:srgbClr val="F4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Carry the last value forward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3.92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that nothing changed overnight after a match</a:t>
                      </a:r>
                    </a:p>
                  </a:txBody>
                  <a:tcPr marT="50292" marB="5029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Keep it, add a 'was missing' column</a:t>
                      </a:r>
                    </a:p>
                  </a:txBody>
                  <a:tcPr marT="50292" marB="5029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4.29</a:t>
                      </a:r>
                    </a:p>
                  </a:txBody>
                  <a:tcPr marT="50292" marB="5029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that the gap itself may carry information</a:t>
                      </a:r>
                    </a:p>
                  </a:txBody>
                  <a:tcPr marT="50292" marB="50292">
                    <a:solidFill>
                      <a:srgbClr val="F4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315968"/>
            <a:ext cx="106372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7504D"/>
                </a:solidFill>
                <a:latin typeface="Calibri"/>
              </a:rPr>
              <a:t>Ordinary days average 2.80. The missing days are not noise — they are the hardest days in the season.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783080"/>
            <a:ext cx="9997135" cy="3291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E1A1A"/>
                </a:solidFill>
                <a:latin typeface="Georgia"/>
              </a:rPr>
              <a:t>Every gap you fill is a sentence
you put in the model's mouth.</a:t>
            </a:r>
          </a:p>
          <a:p>
            <a:pPr algn="ctr">
              <a:lnSpc>
                <a:spcPct val="128000"/>
              </a:lnSpc>
              <a:spcBef>
                <a:spcPts val="1600"/>
              </a:spcBef>
              <a:spcAft>
                <a:spcPts val="600"/>
              </a:spcAft>
            </a:pPr>
            <a:r>
              <a:rPr sz="1700" b="0" i="0">
                <a:solidFill>
                  <a:srgbClr val="57504D"/>
                </a:solidFill>
                <a:latin typeface="Calibri"/>
              </a:rPr>
              <a:t>Filling is not the neutral choice. Neither is deleting. Both are claims, and both belong in your methods section.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Step 6 · Prepare: turning a word into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38528"/>
            <a:ext cx="10271455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57504D"/>
                </a:solidFill>
                <a:latin typeface="Calibri"/>
              </a:rPr>
              <a:t>A model can only read numbers. 'GK' or 'MF' means nothing to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423160"/>
            <a:ext cx="402336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4023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8A1C2B"/>
                </a:solidFill>
                <a:latin typeface="Calibri"/>
              </a:rPr>
              <a:t>One text column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2898648"/>
          <a:ext cx="402336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</a:tblGrid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athlete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position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A04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8A1C2B"/>
                          </a:solidFill>
                          <a:latin typeface="Consolas"/>
                        </a:rPr>
                        <a:t>DF</a:t>
                      </a:r>
                    </a:p>
                  </a:txBody>
                  <a:tcPr marL="64008" marR="64008" marT="27432" marB="27432">
                    <a:solidFill>
                      <a:srgbClr val="F6EAE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A06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8A1C2B"/>
                          </a:solidFill>
                          <a:latin typeface="Consolas"/>
                        </a:rPr>
                        <a:t>FW</a:t>
                      </a:r>
                    </a:p>
                  </a:txBody>
                  <a:tcPr marL="64008" marR="64008" marT="27432" marB="27432">
                    <a:solidFill>
                      <a:srgbClr val="F6EAE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A01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8A1C2B"/>
                          </a:solidFill>
                          <a:latin typeface="Consolas"/>
                        </a:rPr>
                        <a:t>GK</a:t>
                      </a:r>
                    </a:p>
                  </a:txBody>
                  <a:tcPr marL="64008" marR="64008" marT="27432" marB="27432">
                    <a:solidFill>
                      <a:srgbClr val="F6EAE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A07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8A1C2B"/>
                          </a:solidFill>
                          <a:latin typeface="Consolas"/>
                        </a:rPr>
                        <a:t>MF</a:t>
                      </a:r>
                    </a:p>
                  </a:txBody>
                  <a:tcPr marL="64008" marR="64008" marT="27432" marB="27432">
                    <a:solidFill>
                      <a:srgbClr val="F6EAE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40680" y="2423160"/>
            <a:ext cx="5973775" cy="32004"/>
          </a:xfrm>
          <a:prstGeom prst="rect">
            <a:avLst/>
          </a:prstGeom>
          <a:solidFill>
            <a:srgbClr val="1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2514600"/>
            <a:ext cx="597377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B6470"/>
                </a:solidFill>
                <a:latin typeface="Calibri"/>
              </a:rPr>
              <a:t>One 0/1 column per position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40680" y="2898648"/>
          <a:ext cx="597377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443"/>
                <a:gridCol w="1493443"/>
                <a:gridCol w="1493443"/>
                <a:gridCol w="1493443"/>
              </a:tblGrid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athlete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pos_FW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pos_GK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pos_MF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A04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A06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A01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A07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800600" y="3470148"/>
            <a:ext cx="640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8B807C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144768"/>
            <a:ext cx="1063721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7504D"/>
                </a:solidFill>
                <a:latin typeface="Calibri"/>
              </a:rPr>
              <a:t>Four positions become three columns. DF is the row of zeros — if it is not FW, GK or MF, it is DF. This is called one-hot encoding.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PREPARING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Text columns, and what a model will take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1975104"/>
            <a:ext cx="5067147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139696"/>
            <a:ext cx="506714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8A1C2B"/>
                </a:solidFill>
                <a:latin typeface="Calibri"/>
              </a:rPr>
              <a:t>Straight in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596896"/>
            <a:ext cx="5067147" cy="1536763"/>
          </a:xfrm>
          <a:prstGeom prst="rect">
            <a:avLst/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2752344"/>
            <a:ext cx="4701387" cy="12258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X = squad[['position', 'dominant_limb']]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model.fit(X, 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79963"/>
            <a:ext cx="50671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A1C2B"/>
                </a:solidFill>
                <a:latin typeface="Calibri"/>
              </a:rPr>
              <a:t>ValueError: could not convert 'MF'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47307" y="1975104"/>
            <a:ext cx="5067147" cy="32004"/>
          </a:xfrm>
          <a:prstGeom prst="rect">
            <a:avLst/>
          </a:prstGeom>
          <a:solidFill>
            <a:srgbClr val="1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47307" y="2139696"/>
            <a:ext cx="506714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B6470"/>
                </a:solidFill>
                <a:latin typeface="Calibri"/>
              </a:rPr>
              <a:t>One column per category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7307" y="2596896"/>
            <a:ext cx="5067147" cy="1536763"/>
          </a:xfrm>
          <a:prstGeom prst="rect">
            <a:avLst/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48475" y="2752344"/>
            <a:ext cx="4701387" cy="12258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X = pd.get_dummies(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    squad[['position','dominant_limb']],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    drop_first=True)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X.shape        # (30, 4)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07C"/>
                </a:solidFill>
                <a:latin typeface="Consolas"/>
              </a:rPr>
              <a:t># position_FW, position_GK, position_MF,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07C"/>
                </a:solidFill>
                <a:latin typeface="Consolas"/>
              </a:rPr>
              <a:t># dominant_limb_Right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7307" y="4279963"/>
            <a:ext cx="50671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6470"/>
                </a:solidFill>
                <a:latin typeface="Calibri"/>
              </a:rPr>
              <a:t>Four 0/1 columns it can 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99632"/>
            <a:ext cx="106372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1">
                <a:solidFill>
                  <a:srgbClr val="57504D"/>
                </a:solidFill>
                <a:latin typeface="Calibri"/>
              </a:rPr>
              <a:t>drop_first keeps one category as the baseline, so the new columns are not redundant.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Step 6 · Prepare: one scale for every column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38528"/>
            <a:ext cx="102714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57504D"/>
                </a:solidFill>
                <a:latin typeface="Calibri"/>
              </a:rPr>
              <a:t>Three athletes, week 5. Load is in thousands, sessions in single figures — so load would dominate any distance calculation.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724912"/>
            <a:ext cx="4952847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16352"/>
            <a:ext cx="495284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8A1C2B"/>
                </a:solidFill>
                <a:latin typeface="Calibri"/>
              </a:rPr>
              <a:t>Raw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3200400"/>
          <a:ext cx="4952844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8211"/>
                <a:gridCol w="1238211"/>
                <a:gridCol w="1238211"/>
                <a:gridCol w="1238211"/>
              </a:tblGrid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athlete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distance_km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load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sessions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A02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35.6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8A1C2B"/>
                          </a:solidFill>
                          <a:latin typeface="Consolas"/>
                        </a:rPr>
                        <a:t>3312</a:t>
                      </a:r>
                    </a:p>
                  </a:txBody>
                  <a:tcPr marL="64008" marR="64008" marT="27432" marB="27432">
                    <a:solidFill>
                      <a:srgbClr val="F6EA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A11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34.7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8A1C2B"/>
                          </a:solidFill>
                          <a:latin typeface="Consolas"/>
                        </a:rPr>
                        <a:t>2543</a:t>
                      </a:r>
                    </a:p>
                  </a:txBody>
                  <a:tcPr marL="64008" marR="64008" marT="27432" marB="27432">
                    <a:solidFill>
                      <a:srgbClr val="F6EA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A21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35.6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8A1C2B"/>
                          </a:solidFill>
                          <a:latin typeface="Consolas"/>
                        </a:rPr>
                        <a:t>3067</a:t>
                      </a:r>
                    </a:p>
                  </a:txBody>
                  <a:tcPr marL="64008" marR="64008" marT="27432" marB="27432">
                    <a:solidFill>
                      <a:srgbClr val="F6EA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61607" y="2724912"/>
            <a:ext cx="4952847" cy="32004"/>
          </a:xfrm>
          <a:prstGeom prst="rect">
            <a:avLst/>
          </a:prstGeom>
          <a:solidFill>
            <a:srgbClr val="1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2816352"/>
            <a:ext cx="495284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B6470"/>
                </a:solidFill>
                <a:latin typeface="Calibri"/>
              </a:rPr>
              <a:t>Standardised (z-scores)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61607" y="3200400"/>
          <a:ext cx="4952844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8211"/>
                <a:gridCol w="1238211"/>
                <a:gridCol w="1238211"/>
                <a:gridCol w="1238211"/>
              </a:tblGrid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athlete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distance_km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load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sessions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A02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+0.58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+1.18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+0.45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A11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+0.37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-0.46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-0.50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A21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+0.59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+0.66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+1.39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30087" y="3602736"/>
            <a:ext cx="731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8B807C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144768"/>
            <a:ext cx="1063721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7504D"/>
                </a:solidFill>
                <a:latin typeface="Calibri"/>
              </a:rPr>
              <a:t>z = (value − squad mean) ÷ squad standard deviation. 0 is an average week, +1 is one standard deviation above it.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PREPARING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When the size of a number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362895" cy="42428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Distance is in thousands of metres. RPE runs 1 to 10. Sleep is about 7.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k-means, k-NN and anything regularised read that as 'distance is the important one'.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Trees and forests do not care — they split on order, not on size.</a:t>
            </a:r>
          </a:p>
          <a:p>
            <a:pPr algn="l">
              <a:lnSpc>
                <a:spcPct val="126000"/>
              </a:lnSpc>
              <a:spcBef>
                <a:spcPts val="900"/>
              </a:spcBef>
              <a:spcAft>
                <a:spcPts val="200"/>
              </a:spcAft>
            </a:pPr>
            <a:r>
              <a:rPr sz="1700" b="1" i="0">
                <a:solidFill>
                  <a:srgbClr val="8A1C2B"/>
                </a:solidFill>
                <a:latin typeface="Calibri"/>
              </a:rPr>
              <a:t>Scale after you split the data, never before, and fit the scaler on the training part only.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Step 6 · Prepare: building a new column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38528"/>
            <a:ext cx="10271455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57504D"/>
                </a:solidFill>
                <a:latin typeface="Calibri"/>
              </a:rPr>
              <a:t>Athlete A10. Minutes say how long; RPE says how hard. Neither alone is training load.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423160"/>
            <a:ext cx="448056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4480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8A1C2B"/>
                </a:solidFill>
                <a:latin typeface="Calibri"/>
              </a:rPr>
              <a:t>What you were given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2898648"/>
          <a:ext cx="448056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140"/>
                <a:gridCol w="1120140"/>
                <a:gridCol w="1120140"/>
                <a:gridCol w="1120140"/>
              </a:tblGrid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session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rpe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09-01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Recovery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45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3.5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09-02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Training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67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7.9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09-03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Training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87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5.5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09-04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Training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69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8.1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806440" y="2423160"/>
            <a:ext cx="5608015" cy="32004"/>
          </a:xfrm>
          <a:prstGeom prst="rect">
            <a:avLst/>
          </a:prstGeom>
          <a:solidFill>
            <a:srgbClr val="1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2514600"/>
            <a:ext cx="56080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B6470"/>
                </a:solidFill>
                <a:latin typeface="Calibri"/>
              </a:rPr>
              <a:t>A new column: session load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806440" y="2898648"/>
          <a:ext cx="5608015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1603"/>
                <a:gridCol w="1121603"/>
                <a:gridCol w="1121603"/>
                <a:gridCol w="1121603"/>
                <a:gridCol w="1121603"/>
              </a:tblGrid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session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rpe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load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09-01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Recovery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45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3.5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158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09-02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Training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67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7.9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529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09-03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Training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87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5.5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478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09-04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Training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69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8.1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559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257800" y="347014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8B807C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144768"/>
            <a:ext cx="1063721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7504D"/>
                </a:solidFill>
                <a:latin typeface="Calibri"/>
              </a:rPr>
              <a:t>load = minutes × RPE. A new number built from two old ones is called a feature, and choosing them is where sport knowledge enters the analysis.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PREPARING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A column worth more than the two it came from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1975104"/>
            <a:ext cx="5067147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139696"/>
            <a:ext cx="506714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8A1C2B"/>
                </a:solidFill>
                <a:latin typeface="Calibri"/>
              </a:rPr>
              <a:t>What you were handed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596896"/>
            <a:ext cx="5067147" cy="1741074"/>
          </a:xfrm>
          <a:prstGeom prst="rect">
            <a:avLst/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2752344"/>
            <a:ext cx="4701387" cy="14301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   duration_min    rpe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             95    7,0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             72    6,0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             38    3,0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1100" b="0" i="0">
              <a:solidFill>
                <a:srgbClr val="1E1A1A"/>
              </a:solidFill>
              <a:latin typeface="Consolas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07C"/>
                </a:solidFill>
                <a:latin typeface="Consolas"/>
              </a:rPr>
              <a:t># minutes, and a number out of ten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84274"/>
            <a:ext cx="50671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A1C2B"/>
                </a:solidFill>
                <a:latin typeface="Calibri"/>
              </a:rPr>
              <a:t>Neither one is training load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47307" y="1975104"/>
            <a:ext cx="5067147" cy="32004"/>
          </a:xfrm>
          <a:prstGeom prst="rect">
            <a:avLst/>
          </a:prstGeom>
          <a:solidFill>
            <a:srgbClr val="1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47307" y="2139696"/>
            <a:ext cx="506714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B6470"/>
                </a:solidFill>
                <a:latin typeface="Calibri"/>
              </a:rPr>
              <a:t>Session load, built from both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7307" y="2596896"/>
            <a:ext cx="5067147" cy="1741074"/>
          </a:xfrm>
          <a:prstGeom prst="rect">
            <a:avLst/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48475" y="2752344"/>
            <a:ext cx="4701387" cy="14301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gps['load'] = gps['rpe'] * gps['duration_min']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gps.groupby('session_type')['load'].mean()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1100" b="0" i="0">
              <a:solidFill>
                <a:srgbClr val="1E1A1A"/>
              </a:solidFill>
              <a:latin typeface="Consolas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07C"/>
                </a:solidFill>
                <a:latin typeface="Consolas"/>
              </a:rPr>
              <a:t># Match       601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07C"/>
                </a:solidFill>
                <a:latin typeface="Consolas"/>
              </a:rPr>
              <a:t># Training    456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07C"/>
                </a:solidFill>
                <a:latin typeface="Consolas"/>
              </a:rPr>
              <a:t># Gym         280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07C"/>
                </a:solidFill>
                <a:latin typeface="Consolas"/>
              </a:rPr>
              <a:t># Recovery    240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7307" y="4484274"/>
            <a:ext cx="50671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6470"/>
                </a:solidFill>
                <a:latin typeface="Calibri"/>
              </a:rPr>
              <a:t>The number coaches plan 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99632"/>
            <a:ext cx="106372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1">
                <a:solidFill>
                  <a:srgbClr val="57504D"/>
                </a:solidFill>
                <a:latin typeface="Calibri"/>
              </a:rPr>
              <a:t>And it exists only because you repaired the comma first. Features are built, not found.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PREPARING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What Week 4 needs from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27145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7504D"/>
                </a:solidFill>
                <a:latin typeface="Calibri"/>
              </a:rPr>
              <a:t>This is the table you hand to a model next week.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78608"/>
            <a:ext cx="10362895" cy="36393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One row per athlete-week. 780 rows, not 5,090.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Keys repaired, duplicates counted, every unit in one system.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Categories encoded. Gaps handled on purpose, and written down.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One column that is the thing you are trying to predict.</a:t>
            </a:r>
          </a:p>
          <a:p>
            <a:pPr algn="l">
              <a:lnSpc>
                <a:spcPct val="126000"/>
              </a:lnSpc>
              <a:spcBef>
                <a:spcPts val="900"/>
              </a:spcBef>
              <a:spcAft>
                <a:spcPts val="200"/>
              </a:spcAft>
            </a:pPr>
            <a:r>
              <a:rPr sz="1700" b="1" i="0">
                <a:solidFill>
                  <a:srgbClr val="8A1C2B"/>
                </a:solidFill>
                <a:latin typeface="Calibri"/>
              </a:rPr>
              <a:t>Everything from Week 4 onwards assumes this table already exists.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A1C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23774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000" b="1" i="0">
                <a:solidFill>
                  <a:srgbClr val="E09AA2"/>
                </a:solidFill>
                <a:latin typeface="Georgia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0" y="2514600"/>
            <a:ext cx="81683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you do with the table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0" i="0">
                <a:solidFill>
                  <a:srgbClr val="EEC9CD"/>
                </a:solidFill>
                <a:latin typeface="Calibri"/>
              </a:rPr>
              <a:t>Look first. Reach for a model only when you need to predict.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What data analysis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2714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7504D"/>
                </a:solidFill>
                <a:latin typeface="Calibri"/>
              </a:rPr>
              <a:t>Turning the table into an answer to a question somebody actually asked.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78608"/>
            <a:ext cx="10362895" cy="36393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It starts with the question, not the data: 'did the squad train harder in October?'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Then the smallest piece of the table that answers it: one column, a few rows, sometimes one number.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Then a summary or a picture that a coach can read in ten seconds.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Then the honest part: could this have happened by chance, and is it big enough to matter?</a:t>
            </a:r>
          </a:p>
          <a:p>
            <a:pPr algn="l">
              <a:lnSpc>
                <a:spcPct val="126000"/>
              </a:lnSpc>
              <a:spcBef>
                <a:spcPts val="900"/>
              </a:spcBef>
              <a:spcAft>
                <a:spcPts val="200"/>
              </a:spcAft>
            </a:pPr>
            <a:r>
              <a:rPr sz="1700" b="1" i="0">
                <a:solidFill>
                  <a:srgbClr val="8A1C2B"/>
                </a:solidFill>
                <a:latin typeface="Calibri"/>
              </a:rPr>
              <a:t>The tools are simple. The skill is choosing which question you are asking.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Four kinds of question you can ask of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057400"/>
          <a:ext cx="10637213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954"/>
                <a:gridCol w="2127443"/>
                <a:gridCol w="4042141"/>
                <a:gridCol w="2765675"/>
              </a:tblGrid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Kind</a:t>
                      </a:r>
                    </a:p>
                  </a:txBody>
                  <a:tcPr marL="91440" marR="91440" marT="50292" marB="50292">
                    <a:solidFill>
                      <a:srgbClr val="8A1C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The question</a:t>
                      </a:r>
                    </a:p>
                  </a:txBody>
                  <a:tcPr marL="91440" marR="91440" marT="50292" marB="50292">
                    <a:solidFill>
                      <a:srgbClr val="8A1C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A sport example</a:t>
                      </a:r>
                    </a:p>
                  </a:txBody>
                  <a:tcPr marL="91440" marR="91440" marT="50292" marB="50292">
                    <a:solidFill>
                      <a:srgbClr val="8A1C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How</a:t>
                      </a:r>
                    </a:p>
                  </a:txBody>
                  <a:tcPr marL="91440" marR="91440" marT="50292" marB="50292">
                    <a:solidFill>
                      <a:srgbClr val="8A1C2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Descriptive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What happened?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What was the squad's average weekly load?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averages, spread, a plot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Exploratory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Is there a pattern?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Are heavier weeks sorer weeks?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groups, plots, correlation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Inferential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Is it real, or chance?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Do midfielders really carry more load?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a test, a confidence interval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Predictive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What will happen?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Who is likely to be sore next week?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machine learning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315968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7504D"/>
                </a:solidFill>
                <a:latin typeface="Calibri"/>
              </a:rPr>
              <a:t>The next two slides answer the first three, on today's table. From Week 4 onwards, the fourth.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Describing: the middle, and the spread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38528"/>
            <a:ext cx="10271455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57504D"/>
                </a:solidFill>
                <a:latin typeface="Calibri"/>
              </a:rPr>
              <a:t>Athlete A04, seven weeks in a row. Week 13 came in at about half this athlete's usual load.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423160"/>
            <a:ext cx="384048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3840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8A1C2B"/>
                </a:solidFill>
                <a:latin typeface="Calibri"/>
              </a:rPr>
              <a:t>Seven weeks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2898648"/>
          <a:ext cx="384048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week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load (AU)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alibri"/>
                        </a:rPr>
                        <a:t>week 8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alibri"/>
                        </a:rPr>
                        <a:t>3734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alibri"/>
                        </a:rPr>
                        <a:t>week 9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alibri"/>
                        </a:rPr>
                        <a:t>2412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alibri"/>
                        </a:rPr>
                        <a:t>week 10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alibri"/>
                        </a:rPr>
                        <a:t>3771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alibri"/>
                        </a:rPr>
                        <a:t>week 11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alibri"/>
                        </a:rPr>
                        <a:t>3967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alibri"/>
                        </a:rPr>
                        <a:t>week 12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alibri"/>
                        </a:rPr>
                        <a:t>2947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alibri"/>
                        </a:rPr>
                        <a:t>week 13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8A1C2B"/>
                          </a:solidFill>
                          <a:latin typeface="Calibri"/>
                        </a:rPr>
                        <a:t>2033</a:t>
                      </a:r>
                    </a:p>
                  </a:txBody>
                  <a:tcPr marL="64008" marR="64008" marT="27432" marB="27432">
                    <a:solidFill>
                      <a:srgbClr val="F6EAE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alibri"/>
                        </a:rPr>
                        <a:t>week 14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alibri"/>
                        </a:rPr>
                        <a:t>3972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349240" y="2423160"/>
            <a:ext cx="6065215" cy="32004"/>
          </a:xfrm>
          <a:prstGeom prst="rect">
            <a:avLst/>
          </a:prstGeom>
          <a:solidFill>
            <a:srgbClr val="1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0" y="2514600"/>
            <a:ext cx="60652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B6470"/>
                </a:solidFill>
                <a:latin typeface="Calibri"/>
              </a:rPr>
              <a:t>Six numbers that describe them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349240" y="2898648"/>
          <a:ext cx="6065214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2607"/>
                <a:gridCol w="3032607"/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summary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alibri"/>
                        </a:rPr>
                        <a:t>3262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alibri"/>
                        </a:rPr>
                        <a:t>median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alibri"/>
                        </a:rPr>
                        <a:t>3734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alibri"/>
                        </a:rPr>
                        <a:t>lowest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alibri"/>
                        </a:rPr>
                        <a:t>2033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alibri"/>
                        </a:rPr>
                        <a:t>highest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alibri"/>
                        </a:rPr>
                        <a:t>3972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alibri"/>
                        </a:rPr>
                        <a:t>range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alibri"/>
                        </a:rPr>
                        <a:t>1939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alibri"/>
                        </a:rPr>
                        <a:t>standard deviation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alibri"/>
                        </a:rPr>
                        <a:t>797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617720" y="3867912"/>
            <a:ext cx="731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8B807C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144768"/>
            <a:ext cx="1063721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7504D"/>
                </a:solidFill>
                <a:latin typeface="Calibri"/>
              </a:rPr>
              <a:t>One odd week drags the mean (3262) below the median (3734). Without week 13 the mean would be 3467 and the median 3752: one week moved the mean 205 AU and the median 18.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Describing a whole season: the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01952"/>
            <a:ext cx="6430975" cy="3892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28255" y="1947672"/>
            <a:ext cx="3886200" cy="4498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Every athlete-week of the season: 780 of them.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A typical week is about 2,748 AU — mean 2,758, median 2,748. They agree, because nothing extreme pulls them apart.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Half of all weeks fall between 2,467 and 3,063.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About 70% sit within one standard deviation (470) of the mean.</a:t>
            </a:r>
          </a:p>
          <a:p>
            <a:pPr algn="l">
              <a:lnSpc>
                <a:spcPct val="122000"/>
              </a:lnSpc>
              <a:spcBef>
                <a:spcPts val="1000"/>
              </a:spcBef>
              <a:spcAft>
                <a:spcPts val="200"/>
              </a:spcAft>
            </a:pPr>
            <a:r>
              <a:rPr sz="1500" b="1" i="0">
                <a:solidFill>
                  <a:srgbClr val="8A1C2B"/>
                </a:solidFill>
                <a:latin typeface="Calibri"/>
              </a:rPr>
              <a:t>A histogram answers 'what is normal here?' before you ask anything else.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Comparing groups: reading a box plot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01952"/>
            <a:ext cx="6430975" cy="3892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28255" y="1947672"/>
            <a:ext cx="3886200" cy="4498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The line inside the box is the median.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The box holds the middle half of the weeks; the whiskers reach the rest, apart from the odd ones drawn as circles.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Medians: GK 2,761, DF 2,683, MF 2,787, FW 2,810.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The boxes overlap almost completely. Whatever separates positions, it is small next to how much weeks vary.</a:t>
            </a:r>
          </a:p>
          <a:p>
            <a:pPr algn="l">
              <a:lnSpc>
                <a:spcPct val="122000"/>
              </a:lnSpc>
              <a:spcBef>
                <a:spcPts val="1000"/>
              </a:spcBef>
              <a:spcAft>
                <a:spcPts val="200"/>
              </a:spcAft>
            </a:pPr>
            <a:r>
              <a:rPr sz="1500" b="1" i="0">
                <a:solidFill>
                  <a:srgbClr val="8A1C2B"/>
                </a:solidFill>
                <a:latin typeface="Calibri"/>
              </a:rPr>
              <a:t>Look at the overlap before you look at the difference.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Over time: one athlete's season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01952"/>
            <a:ext cx="6430975" cy="3892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28255" y="1947672"/>
            <a:ext cx="3886200" cy="4498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Grey bars: athlete A07's load, week by week.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Red line: the average of the last four weeks, which smooths out one-off weeks.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The bars show what happened. The line shows the trend a coach plans around.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Change four to one and the line is as jumpy as the bars; change it to twelve and it barely moves.</a:t>
            </a:r>
          </a:p>
          <a:p>
            <a:pPr algn="l">
              <a:lnSpc>
                <a:spcPct val="122000"/>
              </a:lnSpc>
              <a:spcBef>
                <a:spcPts val="1000"/>
              </a:spcBef>
              <a:spcAft>
                <a:spcPts val="200"/>
              </a:spcAft>
            </a:pPr>
            <a:r>
              <a:rPr sz="1500" b="1" i="0">
                <a:solidFill>
                  <a:srgbClr val="8A1C2B"/>
                </a:solidFill>
                <a:latin typeface="Calibri"/>
              </a:rPr>
              <a:t>The smoothing window is a choice that changes the story. Lab 3 lets you try it.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Two measures together: what r means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_rpa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39" y="1901952"/>
            <a:ext cx="10637215" cy="36680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679685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1">
                <a:solidFill>
                  <a:srgbClr val="57504D"/>
                </a:solidFill>
                <a:latin typeface="Calibri"/>
              </a:rPr>
              <a:t>Correlation r runs from −1 to +1. Left, r = -0.82: higher jumpers sprint faster (lower times). Middle, r = 0.79: fitter on the Yo-Yo, higher VO₂max. Right, r = 0.14: body mass tells you almost nothing about Yo-Yo.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On our own table: are heavier weeks sorer weeks?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_n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01952"/>
            <a:ext cx="6430975" cy="3892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28255" y="1947672"/>
            <a:ext cx="3886200" cy="4498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Each dot is one athlete-week: its load against its average soreness.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r = 0.06. A cloud with no direction — no relationship.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In this squad soreness follows matches, and everyone plays one a week, so weekly load hardly moves it.</a:t>
            </a:r>
          </a:p>
          <a:p>
            <a:pPr algn="l">
              <a:lnSpc>
                <a:spcPct val="122000"/>
              </a:lnSpc>
              <a:spcBef>
                <a:spcPts val="1000"/>
              </a:spcBef>
              <a:spcAft>
                <a:spcPts val="200"/>
              </a:spcAft>
            </a:pPr>
            <a:r>
              <a:rPr sz="1500" b="1" i="0">
                <a:solidFill>
                  <a:srgbClr val="8A1C2B"/>
                </a:solidFill>
                <a:latin typeface="Calibri"/>
              </a:rPr>
              <a:t>'There is no relationship' is a finding. Report it.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Describe it, then look for a pattern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75104"/>
            <a:ext cx="5067147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39696"/>
            <a:ext cx="506714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8A1C2B"/>
                </a:solidFill>
                <a:latin typeface="Calibri"/>
              </a:rPr>
              <a:t>Descriptive: what happened?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596896"/>
            <a:ext cx="5067147" cy="1536763"/>
          </a:xfrm>
          <a:prstGeom prst="rect">
            <a:avLst/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752344"/>
            <a:ext cx="4701387" cy="12258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weekly['load'].describe()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07C"/>
                </a:solidFill>
                <a:latin typeface="Consolas"/>
              </a:rPr>
              <a:t># mean 2758 AU   sd 470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07C"/>
                </a:solidFill>
                <a:latin typeface="Consolas"/>
              </a:rPr>
              <a:t># min  1254      max 4163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weekly.groupby('position')['load'].mean()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07C"/>
                </a:solidFill>
                <a:latin typeface="Consolas"/>
              </a:rPr>
              <a:t># DF 2721   FW 2790   GK 2717   MF 2790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79963"/>
            <a:ext cx="50671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A1C2B"/>
                </a:solidFill>
                <a:latin typeface="Calibri"/>
              </a:rPr>
              <a:t>A typical week, and how much weeks vary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47307" y="1975104"/>
            <a:ext cx="5067147" cy="32004"/>
          </a:xfrm>
          <a:prstGeom prst="rect">
            <a:avLst/>
          </a:prstGeom>
          <a:solidFill>
            <a:srgbClr val="1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7307" y="2139696"/>
            <a:ext cx="506714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B6470"/>
                </a:solidFill>
                <a:latin typeface="Calibri"/>
              </a:rPr>
              <a:t>Exploratory: is there a pattern?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7307" y="2596896"/>
            <a:ext cx="5067147" cy="1536763"/>
          </a:xfrm>
          <a:prstGeom prst="rect">
            <a:avLst/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8475" y="2752344"/>
            <a:ext cx="4701387" cy="12258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weekly[['load', 'soreness']].corr()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07C"/>
                </a:solidFill>
                <a:latin typeface="Consolas"/>
              </a:rPr>
              <a:t># r = 0.06   over 702 athlete-weeks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07C"/>
                </a:solidFill>
                <a:latin typeface="Consolas"/>
              </a:rPr>
              <a:t># heavier weeks are not sorer weeks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07C"/>
                </a:solidFill>
                <a:latin typeface="Consolas"/>
              </a:rPr>
              <a:t># in these 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7307" y="4279963"/>
            <a:ext cx="50671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6470"/>
                </a:solidFill>
                <a:latin typeface="Calibri"/>
              </a:rPr>
              <a:t>No — and that is an answer too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44768"/>
            <a:ext cx="1063721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1">
                <a:solidFill>
                  <a:srgbClr val="57504D"/>
                </a:solidFill>
                <a:latin typeface="Calibri"/>
              </a:rPr>
              <a:t>Two lines each. Most questions a coach asks stop here.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A relationship is not a cause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2714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7504D"/>
                </a:solidFill>
                <a:latin typeface="Calibri"/>
              </a:rPr>
              <a:t>Athletes who use the ice bath most get injured most. Does the ice bath cause injury?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78608"/>
            <a:ext cx="10362895" cy="36393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No. Sore and injured athletes are the ones sent to the ice bath. The injury came first.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That is reverse causation: the arrow runs the other way.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Or a third thing drives both: congested fixtures raise both training load and injuries, so load and injury rise together.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Only an experiment — or a very careful design — can show a cause. A correlation never can.</a:t>
            </a:r>
          </a:p>
          <a:p>
            <a:pPr algn="l">
              <a:lnSpc>
                <a:spcPct val="126000"/>
              </a:lnSpc>
              <a:spcBef>
                <a:spcPts val="900"/>
              </a:spcBef>
              <a:spcAft>
                <a:spcPts val="200"/>
              </a:spcAft>
            </a:pPr>
            <a:r>
              <a:rPr sz="1700" b="1" i="0">
                <a:solidFill>
                  <a:srgbClr val="8A1C2B"/>
                </a:solidFill>
                <a:latin typeface="Calibri"/>
              </a:rPr>
              <a:t>Every r in this course is a pattern, not an explanation.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Is it real, or chance? What a p-value says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2714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7504D"/>
                </a:solidFill>
                <a:latin typeface="Calibri"/>
              </a:rPr>
              <a:t>Midfielders carry 69 AU a week more than defenders. Real, or the luck of the squad?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78608"/>
            <a:ext cx="10362895" cy="36393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Imagine positions made no difference at all. How often would chance alone produce a gap this big?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That 'how often' is the p-value. p = 0.05 means about one time in twenty.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A small p says chance is an unlikely explanation. It does not say the difference is large or important.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A large p says chance could easily explain it. It does not prove there is no difference.</a:t>
            </a:r>
          </a:p>
          <a:p>
            <a:pPr algn="l">
              <a:lnSpc>
                <a:spcPct val="126000"/>
              </a:lnSpc>
              <a:spcBef>
                <a:spcPts val="900"/>
              </a:spcBef>
              <a:spcAft>
                <a:spcPts val="200"/>
              </a:spcAft>
            </a:pPr>
            <a:r>
              <a:rPr sz="1700" b="1" i="0">
                <a:solidFill>
                  <a:srgbClr val="8A1C2B"/>
                </a:solidFill>
                <a:latin typeface="Calibri"/>
              </a:rPr>
              <a:t>And p depends on what you count as one observation — next slide.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Is the difference real? It depends on what you 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75104"/>
            <a:ext cx="5067147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39696"/>
            <a:ext cx="506714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8A1C2B"/>
                </a:solidFill>
                <a:latin typeface="Calibri"/>
              </a:rPr>
              <a:t>Every athlete-week as a row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596896"/>
            <a:ext cx="5067147" cy="1536763"/>
          </a:xfrm>
          <a:prstGeom prst="rect">
            <a:avLst/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752344"/>
            <a:ext cx="4701387" cy="12258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mids  = weekly[weekly.position == 'MF']['load']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backs = weekly[weekly.position == 'DF']['load']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stats.ttest_ind(mids, backs)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07C"/>
                </a:solidFill>
                <a:latin typeface="Consolas"/>
              </a:rPr>
              <a:t># n = 312 against 286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07C"/>
                </a:solidFill>
                <a:latin typeface="Consolas"/>
              </a:rPr>
              <a:t># difference 69 AU,   p = 0.07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79963"/>
            <a:ext cx="50671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A1C2B"/>
                </a:solidFill>
                <a:latin typeface="Calibri"/>
              </a:rPr>
              <a:t>Looks close to 'significant'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47307" y="1975104"/>
            <a:ext cx="5067147" cy="32004"/>
          </a:xfrm>
          <a:prstGeom prst="rect">
            <a:avLst/>
          </a:prstGeom>
          <a:solidFill>
            <a:srgbClr val="1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7307" y="2139696"/>
            <a:ext cx="506714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B6470"/>
                </a:solidFill>
                <a:latin typeface="Calibri"/>
              </a:rPr>
              <a:t>Each athlete counted once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7307" y="2596896"/>
            <a:ext cx="5067147" cy="1536763"/>
          </a:xfrm>
          <a:prstGeom prst="rect">
            <a:avLst/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8475" y="2752344"/>
            <a:ext cx="4701387" cy="12258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per = (weekly.groupby(['athlete', 'position'])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>             ['load'].mean().reset_index())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A1A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07C"/>
                </a:solidFill>
                <a:latin typeface="Consolas"/>
              </a:rPr>
              <a:t># n = 12 against 11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07C"/>
                </a:solidFill>
                <a:latin typeface="Consolas"/>
              </a:rPr>
              <a:t># difference 69 AU,   p = 0.18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7307" y="4279963"/>
            <a:ext cx="50671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6470"/>
                </a:solidFill>
                <a:latin typeface="Calibri"/>
              </a:rPr>
              <a:t>The same 69 AU. Weak evidence of anything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44768"/>
            <a:ext cx="1063721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1">
                <a:solidFill>
                  <a:srgbClr val="57504D"/>
                </a:solidFill>
                <a:latin typeface="Calibri"/>
              </a:rPr>
              <a:t>Nothing changed but the counting. Thirty athletes are thirty pieces of evidence, not seven hundred.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Which picture for which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057400"/>
          <a:ext cx="10637214" cy="2441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9397"/>
                <a:gridCol w="2552931"/>
                <a:gridCol w="4254886"/>
              </a:tblGrid>
              <a:tr h="406908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Your question</a:t>
                      </a:r>
                    </a:p>
                  </a:txBody>
                  <a:tcPr marL="91440" marR="91440" marT="50292" marB="50292">
                    <a:solidFill>
                      <a:srgbClr val="8A1C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The picture</a:t>
                      </a:r>
                    </a:p>
                  </a:txBody>
                  <a:tcPr marL="91440" marR="91440" marT="50292" marB="50292">
                    <a:solidFill>
                      <a:srgbClr val="8A1C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On our table</a:t>
                      </a:r>
                    </a:p>
                  </a:txBody>
                  <a:tcPr marL="91440" marR="91440" marT="50292" marB="50292">
                    <a:solidFill>
                      <a:srgbClr val="8A1C2B"/>
                    </a:solidFill>
                  </a:tcPr>
                </a:tc>
              </a:tr>
              <a:tr h="406908"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What is a normal value?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histogram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weekly load across the season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Do groups differ?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box plot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load by position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</a:tr>
              <a:tr h="406908"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How did it change?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line over time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one athlete's season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Do two measures go together?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scatter plot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load against soreness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</a:tr>
              <a:tr h="406908"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How many in each category?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bar chart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sessions by type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700016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7504D"/>
                </a:solidFill>
                <a:latin typeface="Calibri"/>
              </a:rPr>
              <a:t>Pick the question first. The picture follows from it.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A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783080"/>
            <a:ext cx="9997135" cy="3291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E1A1A"/>
                </a:solidFill>
                <a:latin typeface="Georgia"/>
              </a:rPr>
              <a:t>Most questions a coach asks are answered
by a good table and a plot.</a:t>
            </a:r>
          </a:p>
          <a:p>
            <a:pPr algn="ctr">
              <a:lnSpc>
                <a:spcPct val="128000"/>
              </a:lnSpc>
              <a:spcBef>
                <a:spcPts val="1600"/>
              </a:spcBef>
              <a:spcAft>
                <a:spcPts val="600"/>
              </a:spcAft>
            </a:pPr>
            <a:r>
              <a:rPr sz="1700" b="0" i="0">
                <a:solidFill>
                  <a:srgbClr val="57504D"/>
                </a:solidFill>
                <a:latin typeface="Calibri"/>
              </a:rPr>
              <a:t>A model is for when you need to predict something that has not happened yet.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What a machine learning model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2714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7504D"/>
                </a:solidFill>
                <a:latin typeface="Calibri"/>
              </a:rPr>
              <a:t>It learns a pattern from past examples, instead of being given a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78608"/>
            <a:ext cx="10362895" cy="36393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You give it inputs — load, sleep, age — and, for past cases, the answer: injured or not, a sprint time.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It finds the pattern that links them, then uses it on new cases where the answer is not known yet.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Supervised: you have the answer for past cases. Unsupervised: you do not, and it looks for structure.</a:t>
            </a:r>
          </a:p>
          <a:p>
            <a:pPr algn="l">
              <a:lnSpc>
                <a:spcPct val="126000"/>
              </a:lnSpc>
              <a:spcBef>
                <a:spcPts val="900"/>
              </a:spcBef>
              <a:spcAft>
                <a:spcPts val="200"/>
              </a:spcAft>
            </a:pPr>
            <a:r>
              <a:rPr sz="1700" b="1" i="0">
                <a:solidFill>
                  <a:srgbClr val="8A1C2B"/>
                </a:solidFill>
                <a:latin typeface="Calibri"/>
              </a:rPr>
              <a:t>It finds patterns, not causes. 'Predicts injury' never means 'explains injury'.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A rule you write, or a pattern it learns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48256"/>
            <a:ext cx="5067147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12848"/>
            <a:ext cx="506714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8A1C2B"/>
                </a:solidFill>
                <a:latin typeface="Calibri"/>
              </a:rPr>
              <a:t>A rule, written by a 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5067147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'Promote anyone who runs 20 m under 2.9 s.'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Simple, and easy to explain.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Uses one measure, chosen by one person.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Never checked against who actually succeeded.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47307" y="2048256"/>
            <a:ext cx="5067147" cy="32004"/>
          </a:xfrm>
          <a:prstGeom prst="rect">
            <a:avLst/>
          </a:prstGeom>
          <a:solidFill>
            <a:srgbClr val="1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7307" y="2212848"/>
            <a:ext cx="506714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B6470"/>
                </a:solidFill>
                <a:latin typeface="Calibri"/>
              </a:rPr>
              <a:t>A pattern, learned from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7307" y="2697480"/>
            <a:ext cx="5067147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Show it 120 past academy players: their tests, and who made the first team.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It finds the combination of tests that best separated them.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Then it applies that to a player it has never seen.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That is all machine learning is. The rest of this part is examples.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Two words: features, and the label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38528"/>
            <a:ext cx="10271455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57504D"/>
                </a:solidFill>
                <a:latin typeface="Calibri"/>
              </a:rPr>
              <a:t>Five of the 120 academy players. Every machine learning problem has this shape.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423160"/>
            <a:ext cx="603504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6035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8A1C2B"/>
                </a:solidFill>
                <a:latin typeface="Calibri"/>
              </a:rPr>
              <a:t>Features — what you know about each player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2898648"/>
          <a:ext cx="6035040" cy="2029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508760"/>
                <a:gridCol w="1508760"/>
                <a:gridCol w="1508760"/>
              </a:tblGrid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player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jump cm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20 m s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Yo-Yo m</a:t>
                      </a:r>
                    </a:p>
                  </a:txBody>
                  <a:tcPr marL="64008" marR="64008" marT="27432" marB="27432">
                    <a:solidFill>
                      <a:srgbClr val="8A1C2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P025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36.8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2.83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2000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P042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36.9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2.98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1720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P056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45.6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2.80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2000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P075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38.4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2.94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2440</a:t>
                      </a:r>
                    </a:p>
                  </a:txBody>
                  <a:tcPr marL="64008" marR="64008" marT="27432" marB="27432">
                    <a:solidFill>
                      <a:srgbClr val="F4F1E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P107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37.2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3.01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E1A1A"/>
                          </a:solidFill>
                          <a:latin typeface="Consolas"/>
                        </a:rPr>
                        <a:t>1880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452359" y="2423160"/>
            <a:ext cx="3962095" cy="32004"/>
          </a:xfrm>
          <a:prstGeom prst="rect">
            <a:avLst/>
          </a:prstGeom>
          <a:solidFill>
            <a:srgbClr val="1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59" y="2514600"/>
            <a:ext cx="39620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B6470"/>
                </a:solidFill>
                <a:latin typeface="Calibri"/>
              </a:rPr>
              <a:t>Label — what you want to predict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452359" y="2898648"/>
          <a:ext cx="3962095" cy="2029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095"/>
              </a:tblGrid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made the first team?</a:t>
                      </a:r>
                    </a:p>
                  </a:txBody>
                  <a:tcPr marL="64008" marR="64008" marT="27432" marB="27432">
                    <a:solidFill>
                      <a:srgbClr val="1B647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yes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no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yes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yes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6470"/>
                          </a:solidFill>
                          <a:latin typeface="Consolas"/>
                        </a:rPr>
                        <a:t>no</a:t>
                      </a:r>
                    </a:p>
                  </a:txBody>
                  <a:tcPr marL="64008" marR="64008" marT="27432" marB="27432">
                    <a:solidFill>
                      <a:srgbClr val="DDECEE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12279" y="3639312"/>
            <a:ext cx="640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8B807C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144768"/>
            <a:ext cx="1063721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7504D"/>
                </a:solidFill>
                <a:latin typeface="Calibri"/>
              </a:rPr>
              <a:t>Learning from rows where the label is known, in order to predict it where it is not — that is supervised learning.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Regression: predicting a number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01952"/>
            <a:ext cx="6430975" cy="3892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28255" y="1947672"/>
            <a:ext cx="3886200" cy="4498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Question: from a player's jump, how fast will they sprint 20 m?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The model draws the straight line closest to all 120 players. Its rule: sprint = 3.61 − 0.0167 × jump.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A new player jumps 44 cm. The line predicts 2.87 s.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On average it is 0.044 s out. That is linear regression — the same thing you met in statistics.</a:t>
            </a:r>
          </a:p>
          <a:p>
            <a:pPr algn="l">
              <a:lnSpc>
                <a:spcPct val="122000"/>
              </a:lnSpc>
              <a:spcBef>
                <a:spcPts val="1000"/>
              </a:spcBef>
              <a:spcAft>
                <a:spcPts val="200"/>
              </a:spcAft>
            </a:pPr>
            <a:r>
              <a:rPr sz="1500" b="1" i="0">
                <a:solidFill>
                  <a:srgbClr val="8A1C2B"/>
                </a:solidFill>
                <a:latin typeface="Calibri"/>
              </a:rPr>
              <a:t>Predicting a number is called regression.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Training and testing: keep some players 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2714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7504D"/>
                </a:solidFill>
                <a:latin typeface="Calibri"/>
              </a:rPr>
              <a:t>A model always looks good on answers it has seen. The fair test is players it never saw.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78608"/>
            <a:ext cx="10362895" cy="36393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Split the 120 players: about 70% to learn from (the training set), 30% hidden away (the test set).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Fit the model on the training set only.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Then predict the test set and compare with what really happened. That error is the honest one.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It is a memory test with the answers on the desk otherwise — and that is the next slide.</a:t>
            </a:r>
          </a:p>
          <a:p>
            <a:pPr algn="l">
              <a:lnSpc>
                <a:spcPct val="126000"/>
              </a:lnSpc>
              <a:spcBef>
                <a:spcPts val="900"/>
              </a:spcBef>
              <a:spcAft>
                <a:spcPts val="200"/>
              </a:spcAft>
            </a:pPr>
            <a:r>
              <a:rPr sz="1700" b="1" i="0">
                <a:solidFill>
                  <a:srgbClr val="8A1C2B"/>
                </a:solidFill>
                <a:latin typeface="Calibri"/>
              </a:rPr>
              <a:t>Never judge a model on the data it learned from.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Overfitting: learning players, not the pattern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_over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01952"/>
            <a:ext cx="6430975" cy="3892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28255" y="1947672"/>
            <a:ext cx="3886200" cy="4498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Both models learned from the same 14 players, the large dots.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The straight line is 0.048 s out on them, and 0.047 s out on players it never saw.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The curve passes almost through every one: 0.031 s out on those 14 — better.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On new players it is 0.198 s out: four times worse than the line.</a:t>
            </a:r>
          </a:p>
          <a:p>
            <a:pPr algn="l">
              <a:lnSpc>
                <a:spcPct val="122000"/>
              </a:lnSpc>
              <a:spcBef>
                <a:spcPts val="1000"/>
              </a:spcBef>
              <a:spcAft>
                <a:spcPts val="200"/>
              </a:spcAft>
            </a:pPr>
            <a:r>
              <a:rPr sz="1500" b="1" i="0">
                <a:solidFill>
                  <a:srgbClr val="8A1C2B"/>
                </a:solidFill>
                <a:latin typeface="Calibri"/>
              </a:rPr>
              <a:t>Fitting the training data perfectly is a warning, not a success.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Classification: predicting a category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01952"/>
            <a:ext cx="6430975" cy="3892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28255" y="1947672"/>
            <a:ext cx="3886200" cy="4498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Question: from Yo-Yo distance and 20 m sprint, who makes the first team? The answer is yes or no — a category.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Red dots made it; grey did not.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The model learned two cut-offs: Yo-Yo above 2,140 m, and sprint under 2.99 s.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Players in the shaded corner, it calls first team.</a:t>
            </a:r>
          </a:p>
          <a:p>
            <a:pPr algn="l">
              <a:lnSpc>
                <a:spcPct val="122000"/>
              </a:lnSpc>
              <a:spcBef>
                <a:spcPts val="1000"/>
              </a:spcBef>
              <a:spcAft>
                <a:spcPts val="200"/>
              </a:spcAft>
            </a:pPr>
            <a:r>
              <a:rPr sz="1500" b="1" i="0">
                <a:solidFill>
                  <a:srgbClr val="8A1C2B"/>
                </a:solidFill>
                <a:latin typeface="Calibri"/>
              </a:rPr>
              <a:t>Predicting a category is called classification.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A decision tree, read like a coach would read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01952"/>
            <a:ext cx="6430975" cy="42873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28255" y="1947672"/>
            <a:ext cx="3886200" cy="4498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Learned from 84 players. Start at the top and answer each question.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Yo-Yo above 2,140 m and sprint under 2.99 s: 17 of 18 such players made it.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Yo-Yo below 2,140 m: only 7 of 58 did.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A tree is a flowchart the computer wrote. It is the one model you can draw on a whiteboard.</a:t>
            </a:r>
          </a:p>
          <a:p>
            <a:pPr algn="l">
              <a:lnSpc>
                <a:spcPct val="122000"/>
              </a:lnSpc>
              <a:spcBef>
                <a:spcPts val="1000"/>
              </a:spcBef>
              <a:spcAft>
                <a:spcPts val="200"/>
              </a:spcAft>
            </a:pPr>
            <a:r>
              <a:rPr sz="1500" b="1" i="0">
                <a:solidFill>
                  <a:srgbClr val="8A1C2B"/>
                </a:solidFill>
                <a:latin typeface="Calibri"/>
              </a:rPr>
              <a:t>Every number in a box is a count of real players.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A random forest: a hundred trees, voting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2714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7504D"/>
                </a:solidFill>
                <a:latin typeface="Calibri"/>
              </a:rPr>
              <a:t>One tree is easy to read and easy to fool. So grow many, each from a different sample.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78608"/>
            <a:ext cx="10362895" cy="36393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Each tree sees a random selection of the training players, so each learns slightly different cut-offs.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A new player: Yo-Yo 2,240 m, 20 m sprint 2.93 s.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88 of the 100 trees say first team; 12 say academy.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So the forest says: first team, with 88% of the votes.</a:t>
            </a:r>
          </a:p>
          <a:p>
            <a:pPr algn="l">
              <a:lnSpc>
                <a:spcPct val="126000"/>
              </a:lnSpc>
              <a:spcBef>
                <a:spcPts val="900"/>
              </a:spcBef>
              <a:spcAft>
                <a:spcPts val="200"/>
              </a:spcAft>
            </a:pPr>
            <a:r>
              <a:rPr sz="1700" b="1" i="0">
                <a:solidFill>
                  <a:srgbClr val="8A1C2B"/>
                </a:solidFill>
                <a:latin typeface="Calibri"/>
              </a:rPr>
              <a:t>More stable than one tree, and much harder to explain. That trade appears all term.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How good is it? Count the mistakes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057400"/>
          <a:ext cx="10637213" cy="1289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6653"/>
                <a:gridCol w="3510280"/>
                <a:gridCol w="3510280"/>
              </a:tblGrid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50292" marB="50292">
                    <a:solidFill>
                      <a:srgbClr val="8A1C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really made the first team</a:t>
                      </a:r>
                    </a:p>
                  </a:txBody>
                  <a:tcPr marL="91440" marR="91440" marT="50292" marB="50292">
                    <a:solidFill>
                      <a:srgbClr val="8A1C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really did not</a:t>
                      </a:r>
                    </a:p>
                  </a:txBody>
                  <a:tcPr marL="91440" marR="91440" marT="50292" marB="50292">
                    <a:solidFill>
                      <a:srgbClr val="8A1C2B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the tree said: first team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4  correct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1  false alarm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the tree said: academy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7  missed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24  correct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3547872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7504D"/>
                </a:solidFill>
                <a:latin typeface="Calibri"/>
              </a:rPr>
              <a:t>36 players it never saw. It was right 28 times: 78%. But only 31% made it, so 'nobody makes the first team' would have scored 69% without learning anything — and it missed 7 of 11.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Learning from answers: the supervised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057400"/>
          <a:ext cx="10637214" cy="2441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7443"/>
                <a:gridCol w="3191164"/>
                <a:gridCol w="4254886"/>
                <a:gridCol w="1063721"/>
              </a:tblGrid>
              <a:tr h="406908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91440" marR="91440" marT="50292" marB="50292">
                    <a:solidFill>
                      <a:srgbClr val="8A1C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91440" marR="91440" marT="50292" marB="50292">
                    <a:solidFill>
                      <a:srgbClr val="8A1C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A sport question it answers</a:t>
                      </a:r>
                    </a:p>
                  </a:txBody>
                  <a:tcPr marL="91440" marR="91440" marT="50292" marB="50292">
                    <a:solidFill>
                      <a:srgbClr val="8A1C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Week</a:t>
                      </a:r>
                    </a:p>
                  </a:txBody>
                  <a:tcPr marL="91440" marR="91440" marT="50292" marB="50292">
                    <a:solidFill>
                      <a:srgbClr val="8A1C2B"/>
                    </a:solidFill>
                  </a:tcPr>
                </a:tc>
              </a:tr>
              <a:tr h="406908"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Linear regression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fits a straight-line relationship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20 m sprint time from jump height and body mass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Ridge regression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the same, with no input dominating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the same, with many overlapping tests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</a:tr>
              <a:tr h="406908"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Decision tree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a flowchart of yes/no questions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is this athlete's week a risky one?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hundreds of trees, voting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injury risk; walking vs running from a phone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4, 6, 9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</a:tr>
              <a:tr h="406908"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Gradient boosting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trees in sequence, each fixing the last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the same questions, on larger data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700016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7504D"/>
                </a:solidFill>
                <a:latin typeface="Calibri"/>
              </a:rPr>
              <a:t>Week 4 runs the first five side by side on thirty athletes — and the straight line wins.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Clustering: groups that nobody labelled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_kme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01952"/>
            <a:ext cx="6430975" cy="3892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28255" y="1947672"/>
            <a:ext cx="3886200" cy="4498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No label this time — nobody tells the model who belongs where.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k-means is asked for three groups and finds the three that sit closest together on sprint and Yo-Yo.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Fast group: 2.90 s sprint. Endurance group: 2,321 m Yo-Yo. The third stands out in neither.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It was never told positions, yet 28 of the endurance group are midfielders.</a:t>
            </a:r>
          </a:p>
          <a:p>
            <a:pPr algn="l">
              <a:lnSpc>
                <a:spcPct val="122000"/>
              </a:lnSpc>
              <a:spcBef>
                <a:spcPts val="1000"/>
              </a:spcBef>
              <a:spcAft>
                <a:spcPts val="200"/>
              </a:spcAft>
            </a:pPr>
            <a:r>
              <a:rPr sz="1500" b="1" i="0">
                <a:solidFill>
                  <a:srgbClr val="8A1C2B"/>
                </a:solidFill>
                <a:latin typeface="Calibri"/>
              </a:rPr>
              <a:t>Finding structure without a label is unsupervised learning.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PCA: five tests, measuring two things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01952"/>
            <a:ext cx="5891106" cy="45445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88386" y="1947672"/>
            <a:ext cx="4426068" cy="4498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Correlations between five tests on the same 120 players. Dark means the two tests move together.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Jump and the two sprints form one block. Yo-Yo and VO₂max form another. Between the blocks, almost nothing.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So five tests are really measuring two qualities: speed-power and endurance.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A1A"/>
                </a:solidFill>
                <a:latin typeface="Calibri"/>
              </a:rPr>
              <a:t>PCA finds those directions for you: here two of them carry 86% of everything the five tests say.</a:t>
            </a:r>
          </a:p>
          <a:p>
            <a:pPr algn="l">
              <a:lnSpc>
                <a:spcPct val="122000"/>
              </a:lnSpc>
              <a:spcBef>
                <a:spcPts val="1000"/>
              </a:spcBef>
              <a:spcAft>
                <a:spcPts val="200"/>
              </a:spcAft>
            </a:pPr>
            <a:r>
              <a:rPr sz="1500" b="1" i="0">
                <a:solidFill>
                  <a:srgbClr val="8A1C2B"/>
                </a:solidFill>
                <a:latin typeface="Calibri"/>
              </a:rPr>
              <a:t>Fewer, truer measures — and a question about why you test five.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Deep learning: learning straight from pixels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quat_frontal_raise_side_by_s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054" y="1901952"/>
            <a:ext cx="9041587" cy="37673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779008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1">
                <a:solidFill>
                  <a:srgbClr val="57504D"/>
                </a:solidFill>
                <a:latin typeface="Calibri"/>
              </a:rPr>
              <a:t>Week 1's demonstration. Nobody told the model what a knee looks like: it learned from millions of labelled images, and now finds 33 body points in every frame. From those points, the knee angle is simple geometry.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7395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807C"/>
                </a:solidFill>
                <a:latin typeface="Calibri"/>
              </a:rPr>
              <a:t>Video: Taco Fleur, Cavemantraining — CC BY-SA 4.0, Wikimedia Commons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Finding structure, and learning from raw signals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057400"/>
          <a:ext cx="10637214" cy="16733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7443"/>
                <a:gridCol w="3191164"/>
                <a:gridCol w="4254886"/>
                <a:gridCol w="1063721"/>
              </a:tblGrid>
              <a:tr h="418337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91440" marR="91440" marT="50292" marB="50292">
                    <a:solidFill>
                      <a:srgbClr val="8A1C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91440" marR="91440" marT="50292" marB="50292">
                    <a:solidFill>
                      <a:srgbClr val="8A1C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A sport question it answers</a:t>
                      </a:r>
                    </a:p>
                  </a:txBody>
                  <a:tcPr marL="91440" marR="91440" marT="50292" marB="50292">
                    <a:solidFill>
                      <a:srgbClr val="8A1C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Week</a:t>
                      </a:r>
                    </a:p>
                  </a:txBody>
                  <a:tcPr marL="91440" marR="91440" marT="50292" marB="50292">
                    <a:solidFill>
                      <a:srgbClr val="8A1C2B"/>
                    </a:solidFill>
                  </a:tcPr>
                </a:tc>
              </a:tr>
              <a:tr h="418337"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k-means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groups athletes, no answer needed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which athletes have similar profiles?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</a:tr>
              <a:tr h="418337"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PCA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reduces many tests to a few qualities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18 fitness tests: how many qualities?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91440" marR="91440" marT="50292" marB="50292">
                    <a:solidFill>
                      <a:srgbClr val="F4F1ED"/>
                    </a:solidFill>
                  </a:tcPr>
                </a:tc>
              </a:tr>
              <a:tr h="418340"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Deep learning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learns straight from images or signals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joint angles from ordinary video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E1A1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91440" marR="91440" marT="50292" marB="5029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393192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7504D"/>
                </a:solidFill>
                <a:latin typeface="Calibri"/>
              </a:rPr>
              <a:t>Week 1's pose demonstration was deep learning. You will not build one; you will learn to check one.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3 ·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Choosing a method: three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362895" cy="4242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Do you have the answer for past cases? Yes: supervised. No: unsupervised.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Is the answer a number or a category? A number: regression. A category: classification.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How many athletes? With thirty, the simplest model that could work usually does.</a:t>
            </a:r>
          </a:p>
          <a:p>
            <a:pPr algn="l">
              <a:lnSpc>
                <a:spcPct val="126000"/>
              </a:lnSpc>
              <a:spcBef>
                <a:spcPts val="900"/>
              </a:spcBef>
              <a:spcAft>
                <a:spcPts val="200"/>
              </a:spcAft>
            </a:pPr>
            <a:r>
              <a:rPr sz="1700" b="1" i="0">
                <a:solidFill>
                  <a:srgbClr val="8A1C2B"/>
                </a:solidFill>
                <a:latin typeface="Calibri"/>
              </a:rPr>
              <a:t>Start simple. Week 4 shows why, on real numbers.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106372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6470"/>
                </a:solidFill>
                <a:latin typeface="Calibri"/>
              </a:rPr>
              <a:t>LABORATORY · THIS 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1800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E1A1A"/>
                </a:solidFill>
                <a:latin typeface="Georgia"/>
              </a:rPr>
              <a:t>Lab 3 — From four files to one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180015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800"/>
              </a:spcBef>
              <a:spcAft>
                <a:spcPts val="200"/>
              </a:spcAft>
            </a:pPr>
            <a:r>
              <a:rPr sz="1750" b="0" i="0">
                <a:solidFill>
                  <a:srgbClr val="1E1A1A"/>
                </a:solidFill>
                <a:latin typeface="Calibri"/>
              </a:rPr>
              <a:t>•  The same four files you just watched on screen, downloaded into Colab.</a:t>
            </a:r>
          </a:p>
          <a:p>
            <a:pPr>
              <a:lnSpc>
                <a:spcPct val="126000"/>
              </a:lnSpc>
              <a:spcBef>
                <a:spcPts val="800"/>
              </a:spcBef>
              <a:spcAft>
                <a:spcPts val="200"/>
              </a:spcAft>
            </a:pPr>
            <a:r>
              <a:rPr sz="1750">
                <a:solidFill>
                  <a:srgbClr val="1E1A1A"/>
                </a:solidFill>
                <a:latin typeface="Calibri"/>
              </a:rPr>
              <a:t>•  Four commands — then write down what looks wrong before you read the answer.</a:t>
            </a:r>
          </a:p>
          <a:p>
            <a:pPr>
              <a:lnSpc>
                <a:spcPct val="126000"/>
              </a:lnSpc>
              <a:spcBef>
                <a:spcPts val="800"/>
              </a:spcBef>
              <a:spcAft>
                <a:spcPts val="200"/>
              </a:spcAft>
            </a:pPr>
            <a:r>
              <a:rPr sz="1750">
                <a:solidFill>
                  <a:srgbClr val="1E1A1A"/>
                </a:solidFill>
                <a:latin typeface="Calibri"/>
              </a:rPr>
              <a:t>•  Repair the comma, the km/h and the yards. A checkpoint says which fault is still there.</a:t>
            </a:r>
          </a:p>
          <a:p>
            <a:pPr>
              <a:lnSpc>
                <a:spcPct val="126000"/>
              </a:lnSpc>
              <a:spcBef>
                <a:spcPts val="800"/>
              </a:spcBef>
              <a:spcAft>
                <a:spcPts val="200"/>
              </a:spcAft>
            </a:pPr>
            <a:r>
              <a:rPr sz="1750">
                <a:solidFill>
                  <a:srgbClr val="1E1A1A"/>
                </a:solidFill>
                <a:latin typeface="Calibri"/>
              </a:rPr>
              <a:t>•  Join the two files properly: 5,090 rows in, 5,090 rows out, nobody deleted.</a:t>
            </a:r>
          </a:p>
          <a:p>
            <a:pPr>
              <a:lnSpc>
                <a:spcPct val="126000"/>
              </a:lnSpc>
              <a:spcBef>
                <a:spcPts val="800"/>
              </a:spcBef>
              <a:spcAft>
                <a:spcPts val="200"/>
              </a:spcAft>
            </a:pPr>
            <a:r>
              <a:rPr sz="1750">
                <a:solidFill>
                  <a:srgbClr val="1E1A1A"/>
                </a:solidFill>
                <a:latin typeface="Calibri"/>
              </a:rPr>
              <a:t>•  Build the calendar of mornings that should exist, and find the pattern in what is missing.</a:t>
            </a:r>
          </a:p>
          <a:p>
            <a:pPr>
              <a:lnSpc>
                <a:spcPct val="126000"/>
              </a:lnSpc>
              <a:spcBef>
                <a:spcPts val="800"/>
              </a:spcBef>
              <a:spcAft>
                <a:spcPts val="200"/>
              </a:spcAft>
            </a:pPr>
            <a:r>
              <a:rPr sz="1750">
                <a:solidFill>
                  <a:srgbClr val="1E1A1A"/>
                </a:solidFill>
                <a:latin typeface="Calibri"/>
              </a:rPr>
              <a:t>•  Hand over the table Week 4 starts from: one row per athlete-week, every column a number.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806440"/>
            <a:ext cx="106372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6470"/>
                </a:solidFill>
                <a:latin typeface="Calibri"/>
              </a:rPr>
              <a:t>Submit:  Notebook with both checkpoints passing, plus which fault here would most distort an injury model, and why.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LABORATORY · BLOCK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Block 3 — the code to fill 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1975104"/>
            <a:ext cx="10637215" cy="4224528"/>
          </a:xfrm>
          <a:prstGeom prst="rect">
            <a:avLst/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975104"/>
            <a:ext cx="45720" cy="4224528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139696"/>
            <a:ext cx="9951415" cy="3895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8A1C2B"/>
                </a:solidFill>
                <a:latin typeface="Calibri"/>
              </a:rPr>
              <a:t>1 · RPE: REPLACE THE COMMA WITH A DOT, THEN MAKE IT A NUMBER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1A1A"/>
                </a:solidFill>
                <a:latin typeface="Consolas"/>
              </a:rPr>
              <a:t>gps_clean = gps.copy()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1A1A"/>
                </a:solidFill>
                <a:latin typeface="Consolas"/>
              </a:rPr>
              <a:t>gps_clean['rpe'] = pd.to_numeric(gps_clean['rpe'].str.replace(</a:t>
            </a:r>
            <a:r>
              <a:rPr sz="1200" b="1">
                <a:solidFill>
                  <a:srgbClr val="1B6470"/>
                </a:solidFill>
                <a:latin typeface="Consolas"/>
              </a:rPr>
              <a:t>','</a:t>
            </a:r>
            <a:r>
              <a:rPr sz="1200" b="0">
                <a:solidFill>
                  <a:srgbClr val="1E1A1A"/>
                </a:solidFill>
                <a:latin typeface="Consolas"/>
              </a:rPr>
              <a:t>, </a:t>
            </a:r>
            <a:r>
              <a:rPr sz="1200" b="1">
                <a:solidFill>
                  <a:srgbClr val="1B6470"/>
                </a:solidFill>
                <a:latin typeface="Consolas"/>
              </a:rPr>
              <a:t>'.'</a:t>
            </a:r>
            <a:r>
              <a:rPr sz="1200" b="0">
                <a:solidFill>
                  <a:srgbClr val="1E1A1A"/>
                </a:solidFill>
                <a:latin typeface="Consolas"/>
              </a:rPr>
              <a:t>))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950" b="1" i="0">
                <a:solidFill>
                  <a:srgbClr val="8A1C2B"/>
                </a:solidFill>
                <a:latin typeface="Calibri"/>
              </a:rPr>
              <a:t>2 · ONE CLEAN ID, HOWEVER IT WAS TYPED: A7 BECOMES A07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1A1A"/>
                </a:solidFill>
                <a:latin typeface="Consolas"/>
              </a:rPr>
              <a:t>key = 'A' + gps_clean['athlete'].str.extract(r'(\d+)')[0].str.zfill(2)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950" b="1" i="0">
                <a:solidFill>
                  <a:srgbClr val="8A1C2B"/>
                </a:solidFill>
                <a:latin typeface="Calibri"/>
              </a:rPr>
              <a:t>3 · KM/H TO M/S, FOR THE FOUR ATHLETES WHOSE GPS EXPORTED KM/H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1A1A"/>
                </a:solidFill>
                <a:latin typeface="Consolas"/>
              </a:rPr>
              <a:t>gps_clean.loc[key.isin(['A12','A13','A14','A15']), 'top_speed'] /= </a:t>
            </a:r>
            <a:r>
              <a:rPr sz="1200" b="1">
                <a:solidFill>
                  <a:srgbClr val="1B6470"/>
                </a:solidFill>
                <a:latin typeface="Consolas"/>
              </a:rPr>
              <a:t>3.6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950" b="1" i="0">
                <a:solidFill>
                  <a:srgbClr val="8A1C2B"/>
                </a:solidFill>
                <a:latin typeface="Calibri"/>
              </a:rPr>
              <a:t>4 · YARDS TO METRES, FOR THE THREE RECORDED IN YARDS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1A1A"/>
                </a:solidFill>
                <a:latin typeface="Consolas"/>
              </a:rPr>
              <a:t>gps_clean.loc[key.isin(['A07','A08','A09']), 'distance'] /= </a:t>
            </a:r>
            <a:r>
              <a:rPr sz="1200" b="1">
                <a:solidFill>
                  <a:srgbClr val="1B6470"/>
                </a:solidFill>
                <a:latin typeface="Consolas"/>
              </a:rPr>
              <a:t>1.09361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91072"/>
            <a:ext cx="1063721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7504D"/>
                </a:solidFill>
                <a:latin typeface="Calibri"/>
              </a:rPr>
              <a:t>In the notebook, only the highlighted parts of the code are blank. Everything else is already typed.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LABORATORY · BLOCK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Block 4 — the code to fill 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1975104"/>
            <a:ext cx="10637215" cy="4224528"/>
          </a:xfrm>
          <a:prstGeom prst="rect">
            <a:avLst/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975104"/>
            <a:ext cx="45720" cy="4224528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139696"/>
            <a:ext cx="9951415" cy="3895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8A1C2B"/>
                </a:solidFill>
                <a:latin typeface="Calibri"/>
              </a:rPr>
              <a:t>1 · REPAIR THE ID, EXACTLY AS IN BLOCK 3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1A1A"/>
                </a:solidFill>
                <a:latin typeface="Consolas"/>
              </a:rPr>
              <a:t>n = gps_clean['athlete'].str.extract(r'(\d+)')[0]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1A1A"/>
                </a:solidFill>
                <a:latin typeface="Consolas"/>
              </a:rPr>
              <a:t>g = gps_clean.assign(athlete='A' + n.str.zfill(2))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950" b="1" i="0">
                <a:solidFill>
                  <a:srgbClr val="8A1C2B"/>
                </a:solidFill>
                <a:latin typeface="Calibri"/>
              </a:rPr>
              <a:t>2 · ONE WELLNESS ROW PER ATHLETE PER MORNING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1A1A"/>
                </a:solidFill>
                <a:latin typeface="Consolas"/>
              </a:rPr>
              <a:t>w = wellness.drop_duplicates(subset=</a:t>
            </a:r>
            <a:r>
              <a:rPr sz="1200" b="1">
                <a:solidFill>
                  <a:srgbClr val="1B6470"/>
                </a:solidFill>
                <a:latin typeface="Consolas"/>
              </a:rPr>
              <a:t>['athlete','date']</a:t>
            </a:r>
            <a:r>
              <a:rPr sz="1200" b="0">
                <a:solidFill>
                  <a:srgbClr val="1E1A1A"/>
                </a:solidFill>
                <a:latin typeface="Consolas"/>
              </a:rPr>
              <a:t>)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950" b="1" i="0">
                <a:solidFill>
                  <a:srgbClr val="8A1C2B"/>
                </a:solidFill>
                <a:latin typeface="Calibri"/>
              </a:rPr>
              <a:t>3 · KEEP EVERY SESSION, MATCHED OR NOT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1A1A"/>
                </a:solidFill>
                <a:latin typeface="Consolas"/>
              </a:rPr>
              <a:t>joined = g.merge(w, on=['athlete','date'], how=</a:t>
            </a:r>
            <a:r>
              <a:rPr sz="1200" b="1">
                <a:solidFill>
                  <a:srgbClr val="1B6470"/>
                </a:solidFill>
                <a:latin typeface="Consolas"/>
              </a:rPr>
              <a:t>'left'</a:t>
            </a:r>
            <a:r>
              <a:rPr sz="1200" b="0">
                <a:solidFill>
                  <a:srgbClr val="1E1A1A"/>
                </a:solidFill>
                <a:latin typeface="Consolas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91072"/>
            <a:ext cx="1063721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7504D"/>
                </a:solidFill>
                <a:latin typeface="Calibri"/>
              </a:rPr>
              <a:t>Two blanks: the columns that make a morning unique, and the how= that keeps every athlete.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6470"/>
                </a:solidFill>
                <a:latin typeface="Calibri"/>
              </a:rPr>
              <a:t>OPEN CLINIC · LAST 20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271455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E1A1A"/>
                </a:solidFill>
                <a:latin typeface="Georgia"/>
              </a:rPr>
              <a:t>Bring your own disaster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180015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1200"/>
              </a:spcBef>
              <a:spcAft>
                <a:spcPts val="300"/>
              </a:spcAft>
            </a:pPr>
            <a:r>
              <a:rPr sz="1900" b="0" i="0">
                <a:solidFill>
                  <a:srgbClr val="1E1A1A"/>
                </a:solidFill>
                <a:latin typeface="Calibri"/>
              </a:rPr>
              <a:t>1.   Open the data file you actually have. What shape is it in?</a:t>
            </a:r>
          </a:p>
          <a:p>
            <a:pPr algn="l">
              <a:lnSpc>
                <a:spcPct val="130000"/>
              </a:lnSpc>
              <a:spcBef>
                <a:spcPts val="1200"/>
              </a:spcBef>
              <a:spcAft>
                <a:spcPts val="300"/>
              </a:spcAft>
            </a:pPr>
            <a:r>
              <a:rPr sz="1900" b="0" i="0">
                <a:solidFill>
                  <a:srgbClr val="1E1A1A"/>
                </a:solidFill>
                <a:latin typeface="Calibri"/>
              </a:rPr>
              <a:t>2.   What is missing, and do you know why it is missing?</a:t>
            </a:r>
          </a:p>
          <a:p>
            <a:pPr algn="l">
              <a:lnSpc>
                <a:spcPct val="130000"/>
              </a:lnSpc>
              <a:spcBef>
                <a:spcPts val="1200"/>
              </a:spcBef>
              <a:spcAft>
                <a:spcPts val="300"/>
              </a:spcAft>
            </a:pPr>
            <a:r>
              <a:rPr sz="1900" b="0" i="0">
                <a:solidFill>
                  <a:srgbClr val="1E1A1A"/>
                </a:solidFill>
                <a:latin typeface="Calibri"/>
              </a:rPr>
              <a:t>3.   What units is everything in, and are you sure?</a:t>
            </a:r>
          </a:p>
          <a:p>
            <a:pPr algn="l">
              <a:lnSpc>
                <a:spcPct val="130000"/>
              </a:lnSpc>
              <a:spcBef>
                <a:spcPts val="1200"/>
              </a:spcBef>
              <a:spcAft>
                <a:spcPts val="300"/>
              </a:spcAft>
            </a:pPr>
            <a:r>
              <a:rPr sz="1900" b="0" i="0">
                <a:solidFill>
                  <a:srgbClr val="1E1A1A"/>
                </a:solidFill>
                <a:latin typeface="Calibri"/>
              </a:rPr>
              <a:t>4.   How many observations do you really have — rows, or people?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080760"/>
            <a:ext cx="106372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6470"/>
                </a:solidFill>
                <a:latin typeface="Calibri"/>
              </a:rPr>
              <a:t>Twenty minutes. Bring the file; we will look at it together.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21792"/>
            <a:ext cx="1063721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CFBF9"/>
                </a:solidFill>
                <a:latin typeface="Georgia"/>
              </a:rPr>
              <a:t>What to take away from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91056"/>
            <a:ext cx="1371600" cy="32004"/>
          </a:xfrm>
          <a:prstGeom prst="rect">
            <a:avLst/>
          </a:prstGeom>
          <a:solidFill>
            <a:srgbClr val="E58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10180015" cy="4581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1300"/>
              </a:spcBef>
              <a:spcAft>
                <a:spcPts val="200"/>
              </a:spcAft>
            </a:pPr>
            <a:r>
              <a:rPr sz="1900" b="0" i="0">
                <a:solidFill>
                  <a:srgbClr val="FCFBF9"/>
                </a:solidFill>
                <a:latin typeface="Calibri"/>
              </a:rPr>
              <a:t>1.   Every source samples at a rate, and that rate decides what you are permitted to see.</a:t>
            </a:r>
          </a:p>
          <a:p>
            <a:pPr algn="l">
              <a:lnSpc>
                <a:spcPct val="128000"/>
              </a:lnSpc>
              <a:spcBef>
                <a:spcPts val="1300"/>
              </a:spcBef>
              <a:spcAft>
                <a:spcPts val="200"/>
              </a:spcAft>
            </a:pPr>
            <a:r>
              <a:rPr sz="1900" b="0" i="0">
                <a:solidFill>
                  <a:srgbClr val="FCFBF9"/>
                </a:solidFill>
                <a:latin typeface="Calibri"/>
              </a:rPr>
              <a:t>2.   One row, one observation. Restructure before you analyse, always.</a:t>
            </a:r>
          </a:p>
          <a:p>
            <a:pPr algn="l">
              <a:lnSpc>
                <a:spcPct val="128000"/>
              </a:lnSpc>
              <a:spcBef>
                <a:spcPts val="1300"/>
              </a:spcBef>
              <a:spcAft>
                <a:spcPts val="200"/>
              </a:spcAft>
            </a:pPr>
            <a:r>
              <a:rPr sz="1900" b="0" i="0">
                <a:solidFill>
                  <a:srgbClr val="FCFBF9"/>
                </a:solidFill>
                <a:latin typeface="Calibri"/>
              </a:rPr>
              <a:t>3.   Missingness is information. Ask when values go missing, not just how many.</a:t>
            </a:r>
          </a:p>
          <a:p>
            <a:pPr algn="l">
              <a:lnSpc>
                <a:spcPct val="128000"/>
              </a:lnSpc>
              <a:spcBef>
                <a:spcPts val="1300"/>
              </a:spcBef>
              <a:spcAft>
                <a:spcPts val="200"/>
              </a:spcAft>
            </a:pPr>
            <a:r>
              <a:rPr sz="1900" b="0" i="0">
                <a:solidFill>
                  <a:srgbClr val="FCFBF9"/>
                </a:solidFill>
                <a:latin typeface="Calibri"/>
              </a:rPr>
              <a:t>4.   Rows are not observations. Twenty-two athletes measured a hundred times is still twenty-two athletes.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4377</Words>
  <Application>Microsoft Macintosh PowerPoint</Application>
  <PresentationFormat>Widescreen</PresentationFormat>
  <Paragraphs>375</Paragraphs>
  <Slides>34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Galip AYDIN</cp:lastModifiedBy>
  <cp:revision>4</cp:revision>
  <dcterms:created xsi:type="dcterms:W3CDTF">2013-01-27T09:14:16Z</dcterms:created>
  <dcterms:modified xsi:type="dcterms:W3CDTF">2026-10-20T19:59:44Z</dcterms:modified>
  <cp:category/>
</cp:coreProperties>
</file>