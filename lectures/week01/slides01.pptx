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8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84" r:id="rId16"/>
    <p:sldId id="285" r:id="rId17"/>
    <p:sldId id="286" r:id="rId18"/>
    <p:sldId id="287" r:id="rId19"/>
    <p:sldId id="269" r:id="rId20"/>
    <p:sldId id="283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80" r:id="rId31"/>
    <p:sldId id="281" r:id="rId32"/>
    <p:sldId id="282" r:id="rId33"/>
    <p:sldId id="289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116"/>
    <a:srgbClr val="8A1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 snapToGrid="0" snapToObjects="1">
      <p:cViewPr varScale="1">
        <p:scale>
          <a:sx n="119" d="100"/>
          <a:sy n="119" d="100"/>
        </p:scale>
        <p:origin x="7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684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575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universe.roboflow.com/browse/sports" TargetMode="External"/><Relationship Id="rId4" Type="http://schemas.openxmlformats.org/officeDocument/2006/relationships/hyperlink" Target="https://github.com/roboflow/sports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828800"/>
            <a:ext cx="9905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1C2B"/>
                </a:solidFill>
                <a:latin typeface="Calibri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331720"/>
            <a:ext cx="98142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E1A1A"/>
                </a:solidFill>
                <a:latin typeface="Georgia"/>
              </a:rPr>
              <a:t>What AI actually is,
and where it sits in 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069080"/>
            <a:ext cx="926561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7504D"/>
                </a:solidFill>
                <a:latin typeface="Calibri"/>
              </a:rPr>
              <a:t>Four words you will meet for the rest of your career — and the three questions
you will ask of every technology anyone tries to sell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806440"/>
            <a:ext cx="9905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8B807C"/>
                </a:solidFill>
                <a:latin typeface="Calibri"/>
              </a:rPr>
              <a:t>PES 3850 · Artificial Intelligence Applications in Sport · METU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A18494-D573-1E20-9578-656FC224B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3039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AEC312-B82D-3164-9C20-026A006F08E7}"/>
              </a:ext>
            </a:extLst>
          </p:cNvPr>
          <p:cNvSpPr txBox="1"/>
          <p:nvPr/>
        </p:nvSpPr>
        <p:spPr>
          <a:xfrm>
            <a:off x="3944545" y="6404189"/>
            <a:ext cx="4302908" cy="441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</a:pPr>
            <a:r>
              <a:rPr lang="en-US" sz="2000" dirty="0">
                <a:solidFill>
                  <a:schemeClr val="bg1"/>
                </a:solidFill>
                <a:latin typeface="Calibri"/>
              </a:rPr>
              <a:t>https://</a:t>
            </a:r>
            <a:r>
              <a:rPr lang="en-US" sz="2000" dirty="0" err="1">
                <a:solidFill>
                  <a:schemeClr val="bg1"/>
                </a:solidFill>
                <a:latin typeface="Calibri"/>
              </a:rPr>
              <a:t>github.com</a:t>
            </a:r>
            <a:r>
              <a:rPr lang="en-US" sz="2000" dirty="0">
                <a:solidFill>
                  <a:schemeClr val="bg1"/>
                </a:solidFill>
                <a:latin typeface="Calibri"/>
              </a:rPr>
              <a:t>/</a:t>
            </a:r>
            <a:r>
              <a:rPr lang="en-US" sz="2000" dirty="0" err="1">
                <a:solidFill>
                  <a:schemeClr val="bg1"/>
                </a:solidFill>
                <a:latin typeface="Calibri"/>
              </a:rPr>
              <a:t>galipaydin</a:t>
            </a:r>
            <a:r>
              <a:rPr lang="en-US" sz="2000" dirty="0">
                <a:solidFill>
                  <a:schemeClr val="bg1"/>
                </a:solidFill>
                <a:latin typeface="Calibri"/>
              </a:rPr>
              <a:t>/pes3850</a:t>
            </a:r>
          </a:p>
        </p:txBody>
      </p:sp>
    </p:spTree>
    <p:extLst>
      <p:ext uri="{BB962C8B-B14F-4D97-AF65-F5344CB8AC3E}">
        <p14:creationId xmlns:p14="http://schemas.microsoft.com/office/powerpoint/2010/main" val="5562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37744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E09AA2"/>
                </a:solidFill>
                <a:latin typeface="Georg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514600"/>
            <a:ext cx="816833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Before anything else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0" i="0">
                <a:solidFill>
                  <a:srgbClr val="EEC9CD"/>
                </a:solidFill>
                <a:latin typeface="Calibri"/>
              </a:rPr>
              <a:t>Who is here, and what this course is 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1 ·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Who is in this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From the intake survey you filled in last week: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2944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You come from sport sciences, coaching, sport management, physiotherapy, and a few other departments.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Most of you have never written a line of code. A few of you have copied something from the internet and run it.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tr-TR" sz="1850" b="0" i="0" dirty="0" err="1">
                <a:solidFill>
                  <a:srgbClr val="1E1A1A"/>
                </a:solidFill>
                <a:latin typeface="Calibri"/>
              </a:rPr>
              <a:t>Some</a:t>
            </a:r>
            <a:r>
              <a:rPr lang="tr-TR" sz="1850" b="0" i="0" dirty="0">
                <a:solidFill>
                  <a:srgbClr val="1E1A1A"/>
                </a:solidFill>
                <a:latin typeface="Calibri"/>
              </a:rPr>
              <a:t> 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of you have used SPSS,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Jamovi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or Excel. Several of you have run a regression.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Nobody here has a computer science degree. That is deliberate, and it is not a problem.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 dirty="0">
                <a:solidFill>
                  <a:srgbClr val="8A1C2B"/>
                </a:solidFill>
                <a:latin typeface="Calibri"/>
              </a:rPr>
              <a:t>This course was built for exactly this room.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783080"/>
            <a:ext cx="9997135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E1A1A"/>
                </a:solidFill>
                <a:latin typeface="Georgia"/>
              </a:rPr>
              <a:t>You will never be asked to write code from a blank page in this course.</a:t>
            </a:r>
          </a:p>
          <a:p>
            <a:pPr algn="ctr">
              <a:lnSpc>
                <a:spcPct val="128000"/>
              </a:lnSpc>
              <a:spcBef>
                <a:spcPts val="1600"/>
              </a:spcBef>
              <a:spcAft>
                <a:spcPts val="600"/>
              </a:spcAft>
            </a:pPr>
            <a:r>
              <a:rPr sz="1700" b="0" i="0">
                <a:solidFill>
                  <a:srgbClr val="57504D"/>
                </a:solidFill>
                <a:latin typeface="Calibri"/>
              </a:rPr>
              <a:t>Every notebook is written for you. You change values, swap data, and explain what came out.
The part that is graded is the explanation.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1 ·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>
                <a:solidFill>
                  <a:srgbClr val="1E1A1A"/>
                </a:solidFill>
                <a:latin typeface="Georgia"/>
              </a:rPr>
              <a:t>What this course is, and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506714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This course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067147" cy="2074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 dirty="0">
                <a:solidFill>
                  <a:srgbClr val="1E1A1A"/>
                </a:solidFill>
                <a:latin typeface="Calibri"/>
              </a:rPr>
              <a:t>•  Learning to judge an AI system the way you judge a fitness test: what was it validated on, and on whom?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 dirty="0">
                <a:solidFill>
                  <a:srgbClr val="1E1A1A"/>
                </a:solidFill>
                <a:latin typeface="Calibri"/>
              </a:rPr>
              <a:t>•  Running working tools on real sport data.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 dirty="0">
                <a:solidFill>
                  <a:srgbClr val="1E1A1A"/>
                </a:solidFill>
                <a:latin typeface="Calibri"/>
              </a:rPr>
              <a:t>•  Learning enough to ask a vendor a question they cannot dodge.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 dirty="0">
                <a:solidFill>
                  <a:srgbClr val="1E1A1A"/>
                </a:solidFill>
                <a:latin typeface="Calibri"/>
              </a:rPr>
              <a:t>•  Learning what these systems get wrong, and who pays for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7307" y="2048256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47307" y="2212848"/>
            <a:ext cx="506714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This course is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7307" y="2697480"/>
            <a:ext cx="5067147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A programming course. There is no exam on Python syntax.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A mathematics course. You will see no equations you have not already met in statistics.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Training to become a data scientist. You will be able to work with one.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A sales pitch for AI. Several weeks are about where it fails.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37744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E09AA2"/>
                </a:solidFill>
                <a:latin typeface="Georg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514600"/>
            <a:ext cx="816833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demo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0" i="0">
                <a:solidFill>
                  <a:srgbClr val="EEC9CD"/>
                </a:solidFill>
                <a:latin typeface="Calibri"/>
              </a:rPr>
              <a:t>A phone clip of a squat, and a computer finding the knee. No explanation — just watch.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1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What you just watched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330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 dirty="0">
                <a:solidFill>
                  <a:srgbClr val="57504D"/>
                </a:solidFill>
                <a:latin typeface="Calibri"/>
              </a:rPr>
              <a:t>A clip of somebody squatting, and a computer drawing a skeleton on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17540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Nobody attached a marker, a sensor or a strap to that person.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The computer found the hip, the knee and the ankle in every single frame.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From three points it computed a knee angle, and drew how it changed through the movement.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That whole process took less time than it takes to set up a goniometer.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37744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E09AA2"/>
                </a:solidFill>
                <a:latin typeface="Georg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514600"/>
            <a:ext cx="816833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 dirty="0">
                <a:solidFill>
                  <a:srgbClr val="FFFFFF"/>
                </a:solidFill>
                <a:latin typeface="Georgia"/>
              </a:rPr>
              <a:t>Four words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0" i="0" dirty="0">
                <a:solidFill>
                  <a:srgbClr val="EEC9CD"/>
                </a:solidFill>
                <a:latin typeface="Calibri"/>
              </a:rPr>
              <a:t>AI · machine learning · deep learning · generative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1 · THE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Artificial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The broadest word, and the least useful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247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Artificial intelligence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means: a computer doing something we normally think requires human judgement.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Recognising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a face. Understanding a sentence. Deciding whether a player looks tired.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It is a goal, not a method. Saying a product 'uses AI' tells you roughly as much as saying an athlete 'does training'.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 dirty="0">
                <a:solidFill>
                  <a:srgbClr val="8A1C2B"/>
                </a:solidFill>
                <a:latin typeface="Calibri"/>
              </a:rPr>
              <a:t>Whenever someone says AI, your next question is: which kind, and how was it built?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783080"/>
            <a:ext cx="9997135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E1A1A"/>
                </a:solidFill>
                <a:latin typeface="Georgia"/>
              </a:rPr>
              <a:t>We stop writing the rules.
We start supplying examples.</a:t>
            </a:r>
          </a:p>
          <a:p>
            <a:pPr algn="ctr">
              <a:lnSpc>
                <a:spcPct val="128000"/>
              </a:lnSpc>
              <a:spcBef>
                <a:spcPts val="1600"/>
              </a:spcBef>
              <a:spcAft>
                <a:spcPts val="600"/>
              </a:spcAft>
            </a:pPr>
            <a:r>
              <a:rPr sz="1700" b="0" i="0">
                <a:solidFill>
                  <a:srgbClr val="57504D"/>
                </a:solidFill>
                <a:latin typeface="Calibri"/>
              </a:rPr>
              <a:t>That single change is what machine learning is. Everything else is detail.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1 · THE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Two ways to make a computer decide something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506714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Writing the rules (the old way)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067147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You tell the computer exactly what to do, step by step.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Offside: 'if the attacker is closer to the goal line than the second-last defender at the moment of the pass, flag it.'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Works beautifully when the rule can be written down.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Hopeless for 'does this athlete look like they are about to get injured?' — because nobody can write that rule.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7307" y="2048256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47307" y="2212848"/>
            <a:ext cx="506714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Supplying examples (machine learning)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7307" y="2697480"/>
            <a:ext cx="5067147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You show the computer thousands of past cases where you already know the answer.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Two hundred athletes, their training data, and whether each one got injured.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The computer finds the pattern that connects them.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You never wrote the rule. You never see the rule. That is both the power and the problem.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1 · THE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A particular way of learning from examples, and the reason the last ten years happened.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30596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Older machine learning needed you to tell it what to look at — 'measure the knee angle, the sprint time, the jump height’.</a:t>
            </a:r>
            <a:endParaRPr lang="tr-TR" sz="1850" b="0" i="0" dirty="0">
              <a:solidFill>
                <a:srgbClr val="1E1A1A"/>
              </a:solidFill>
              <a:latin typeface="Calibri"/>
            </a:endParaRP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• Feature Extraction</a:t>
            </a:r>
            <a:endParaRPr sz="1850" b="0" i="0" dirty="0">
              <a:solidFill>
                <a:srgbClr val="1E1A1A"/>
              </a:solidFill>
              <a:latin typeface="Calibri"/>
            </a:endParaRP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Deep learning works from the raw thing itself: the pixels of a video, the waveform from a sensor.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It builds up its own description in layers — edges, then shapes, then limbs, then a body.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That is why the demo you just saw is possible at all. Nobody told it what a knee looks like.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 dirty="0">
                <a:solidFill>
                  <a:srgbClr val="8A1C2B"/>
                </a:solidFill>
                <a:latin typeface="Calibri"/>
              </a:rPr>
              <a:t>The cost: it needs a great deal of data, and it cannot tell you why.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1 · THE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Generative AI, and large language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The part everybody has already 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2112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Older systems classify or predict: injured / not injured, 4.2 seconds, high risk.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Generative systems produce something new: a paragraph, an image, a training plan, a piece of code.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A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large language model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is one kind: it was trained by reading an enormous amount of text and learning to continue it.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ChatGPT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, Claude and Gemini are large language models with a chat window on the front.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rtificial Intelligence">
            <a:extLst>
              <a:ext uri="{FF2B5EF4-FFF2-40B4-BE49-F238E27FC236}">
                <a16:creationId xmlns:a16="http://schemas.microsoft.com/office/drawing/2014/main" id="{72CC6D37-FA8E-9DC7-DC10-EF88DE407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12192000" cy="682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9251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achine Learning">
            <a:extLst>
              <a:ext uri="{FF2B5EF4-FFF2-40B4-BE49-F238E27FC236}">
                <a16:creationId xmlns:a16="http://schemas.microsoft.com/office/drawing/2014/main" id="{CE26A1B3-018B-E140-CD1C-9626BE5AE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12192000" cy="682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4404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eep Learning">
            <a:extLst>
              <a:ext uri="{FF2B5EF4-FFF2-40B4-BE49-F238E27FC236}">
                <a16:creationId xmlns:a16="http://schemas.microsoft.com/office/drawing/2014/main" id="{FE9A7329-B574-C578-799C-700370626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12192000" cy="682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867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enerative AI">
            <a:extLst>
              <a:ext uri="{FF2B5EF4-FFF2-40B4-BE49-F238E27FC236}">
                <a16:creationId xmlns:a16="http://schemas.microsoft.com/office/drawing/2014/main" id="{F3C48199-C7AA-8B12-ABF8-AF9644FC2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12192000" cy="682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574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1 · THE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The four words, on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57400"/>
          <a:ext cx="10637213" cy="2192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2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In one sentence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 sport example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Artificial intelligence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 computer doing something that seems to need judgement.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Any of the four below.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Machine learning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Learning the pattern from examples instead of being given a rule.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Predicting match minutes from test scores.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Deep learning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Machine learning that works from raw video, sound or sensor signals.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Finding the knee in a video frame.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Generative AI / LLM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 model that produces new text, images or code.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Drafting an athlete education leaflet.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31596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7504D"/>
                </a:solidFill>
                <a:latin typeface="Calibri"/>
              </a:rPr>
              <a:t>Each one sits inside the one above it. Every LLM is deep learning; all deep learning is machine learning; all of it counts as AI.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I, ML, DL. Gen AI Diagram">
            <a:extLst>
              <a:ext uri="{FF2B5EF4-FFF2-40B4-BE49-F238E27FC236}">
                <a16:creationId xmlns:a16="http://schemas.microsoft.com/office/drawing/2014/main" id="{88CF3352-A5CB-B4D5-85C2-D69F2E951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12192000" cy="682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253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1 · THE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What is NOT artificial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This matters, because departments buy things on the strength of the label.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2112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A threshold in a spreadsheet. 'Flag anyone whose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acute:chronic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ratio goes above 1.5' is a rule somebody typed.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A formula. TRIMP,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PlayerLoad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, session RPE × duration — arithmetic, not learning.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A regression fitted once, years ago, and never checked on anyone new.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A dashboard. A dashboard displays numbers. What produced the numbers is the question.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6470"/>
                </a:solidFill>
                <a:latin typeface="Calibri"/>
              </a:rPr>
              <a:t>DISCUSSION · IN PAIRS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E1A1A"/>
                </a:solidFill>
                <a:latin typeface="Georgia"/>
              </a:rPr>
              <a:t>Which is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180015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1.   A wearable that tells an athlete their 'recovery score' is 68 out of 100.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2.   A system that watches a match and automatically labels every pass, shot and tackle.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3.   A spreadsheet that turns red when weekly load rises more than 10%.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4.   An app that writes a twelve-week marathon plan after three questions.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37744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E09AA2"/>
                </a:solidFill>
                <a:latin typeface="Georgi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514600"/>
            <a:ext cx="816833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AI shows up in sport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0" i="0">
                <a:solidFill>
                  <a:srgbClr val="EEC9CD"/>
                </a:solidFill>
                <a:latin typeface="Calibri"/>
              </a:rPr>
              <a:t>Six places, one honest limitation each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1 · 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Six domains you will meet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57400"/>
          <a:ext cx="10637214" cy="2825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7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2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642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is honestly bad at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642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Performance analysis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Tags events in video; expected-goals models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Anything the training data never saw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42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Athlete health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Injury and illness risk flags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Being right often enough to act on alone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642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Biomechanics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Markerless motion capture from video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Absolute angles; anything out of the camera plane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642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Tactics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Player tracking, space and pressure models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Explaining why, in a coach's language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642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 dirty="0">
                          <a:solidFill>
                            <a:srgbClr val="1E1A1A"/>
                          </a:solidFill>
                          <a:latin typeface="Calibri"/>
                        </a:rPr>
                        <a:t>Officiating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Ball tracking, semi-automated offside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Judgement calls that were never geometric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644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Business and fans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Segmentation, pricing, content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 dirty="0">
                          <a:solidFill>
                            <a:srgbClr val="1E1A1A"/>
                          </a:solidFill>
                          <a:latin typeface="Calibri"/>
                        </a:rPr>
                        <a:t>Not being creepy about personal data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1 · 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Two things that are true at the same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362895" cy="247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This technology is genuinely useful.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Automated video tagging saves analysts entire days.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Markerless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capture puts movement screening in places that will never own a laboratory.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</a:t>
            </a:r>
            <a:r>
              <a:rPr lang="tr-TR" sz="1850" b="0" i="0" dirty="0">
                <a:solidFill>
                  <a:srgbClr val="1E1A1A"/>
                </a:solidFill>
                <a:latin typeface="Calibri"/>
              </a:rPr>
              <a:t> 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A published injury-prediction model, evaluated honestly, reaches about 0.73–0.77 on a scale where 0.5 is a coin flip. Marketing materials routinely claim 0.95.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Holding both of these at once is the professional skill. Enthusiasts miss the second. Cynics miss the first.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 dirty="0">
                <a:solidFill>
                  <a:srgbClr val="8A1C2B"/>
                </a:solidFill>
                <a:latin typeface="Calibri"/>
              </a:rPr>
              <a:t>Your job is not to be for or against AI. It is to be able to tell which one you are looking at.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37744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E09AA2"/>
                </a:solidFill>
                <a:latin typeface="Georgia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514600"/>
            <a:ext cx="8168335" cy="564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 dirty="0">
                <a:solidFill>
                  <a:srgbClr val="FFFFFF"/>
                </a:solidFill>
                <a:latin typeface="Georgia"/>
              </a:rPr>
              <a:t>The three questions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1 · THE THREE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Ask these of every system, forever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362895" cy="1997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Q1 — What was the model trained on, and does my athlete look like that?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endParaRPr sz="1850" b="0" i="0" dirty="0">
              <a:solidFill>
                <a:srgbClr val="1E1A1A"/>
              </a:solidFill>
              <a:latin typeface="Calibri"/>
            </a:endParaRPr>
          </a:p>
          <a:p>
            <a:pPr algn="l">
              <a:lnSpc>
                <a:spcPct val="124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 dirty="0">
                <a:solidFill>
                  <a:srgbClr val="57504D"/>
                </a:solidFill>
                <a:latin typeface="Calibri"/>
              </a:rPr>
              <a:t>     –  Built on senior male professionals? Then it has never met your U17 female squad.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Q2 — How was it evaluated, and would that number survive an honest test?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endParaRPr sz="1850" b="0" i="0" dirty="0">
              <a:solidFill>
                <a:srgbClr val="1E1A1A"/>
              </a:solidFill>
              <a:latin typeface="Calibri"/>
            </a:endParaRP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Q3 — What happens when it is wrong, and who is accountable?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endParaRPr sz="1850" b="0" i="0" dirty="0">
              <a:solidFill>
                <a:srgbClr val="1E1A1A"/>
              </a:solidFill>
              <a:latin typeface="Calibri"/>
            </a:endParaRPr>
          </a:p>
          <a:p>
            <a:pPr algn="l">
              <a:lnSpc>
                <a:spcPct val="124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 dirty="0">
                <a:solidFill>
                  <a:srgbClr val="57504D"/>
                </a:solidFill>
                <a:latin typeface="Calibri"/>
              </a:rPr>
              <a:t>     –  A missed injury and a needless rest day are not the same size of mistake.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6470"/>
                </a:solidFill>
                <a:latin typeface="Calibri"/>
              </a:rPr>
              <a:t>DISCUSSION · WHOLE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E1A1A"/>
                </a:solidFill>
                <a:latin typeface="Georgia"/>
              </a:rPr>
              <a:t>Apply them to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180015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1.   The pose system in the demo: what kind of people do you think it was built from?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2.   How would you find out whether the knee angle it drew is correct?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3.   If it is 8 degrees wrong and a physiotherapist believes it, what happens next?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6470"/>
                </a:solidFill>
                <a:latin typeface="Calibri"/>
              </a:rPr>
              <a:t>LABORATORY · THIS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1800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E1A1A"/>
                </a:solidFill>
                <a:latin typeface="Georgia"/>
              </a:rPr>
              <a:t>Lab 1 — Welcome to Google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180015" cy="1588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200"/>
              </a:spcAft>
            </a:pPr>
            <a:r>
              <a:rPr sz="1750" b="0" i="0" dirty="0">
                <a:solidFill>
                  <a:srgbClr val="1E1A1A"/>
                </a:solidFill>
                <a:latin typeface="Calibri"/>
              </a:rPr>
              <a:t>•  Everything runs in a browser tab. Nothing is installed. It is free.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200"/>
              </a:spcAft>
            </a:pPr>
            <a:r>
              <a:rPr sz="1750" b="0" i="0" dirty="0">
                <a:solidFill>
                  <a:srgbClr val="1E1A1A"/>
                </a:solidFill>
                <a:latin typeface="Calibri"/>
              </a:rPr>
              <a:t>•  You will open a notebook, run it, and see a table of twelve athletes.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200"/>
              </a:spcAft>
            </a:pPr>
            <a:r>
              <a:rPr sz="1750" b="0" i="0" dirty="0">
                <a:solidFill>
                  <a:srgbClr val="1E1A1A"/>
                </a:solidFill>
                <a:latin typeface="Calibri"/>
              </a:rPr>
              <a:t>•  You will make one figure, then add a single typing error to the data and watch the correlation collapse from −0.99 to −0.45.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1 · HOUSEKEEPING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Using AI tools in this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You are expected to use ChatGPT, Claude or Gemini. That is part of the subject.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2112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Every submission carries an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AI Use Log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: which tool, what you asked, what it produced, and what you changed or rejected.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What you rejected tells me more about your judgement than what you kept.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You own every claim in your work. 'The model said so' is not a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defence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for a wrong number.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A fabricated citation is treated as a fabricated source: minus fifteen points and a conversation.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21792"/>
            <a:ext cx="106372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CFBF9"/>
                </a:solidFill>
                <a:latin typeface="Georgia"/>
              </a:rPr>
              <a:t>What to take away from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91056"/>
            <a:ext cx="1371600" cy="32004"/>
          </a:xfrm>
          <a:prstGeom prst="rect">
            <a:avLst/>
          </a:prstGeom>
          <a:solidFill>
            <a:srgbClr val="E58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180015" cy="4581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1300"/>
              </a:spcBef>
              <a:spcAft>
                <a:spcPts val="200"/>
              </a:spcAft>
            </a:pPr>
            <a:r>
              <a:rPr sz="1900" b="0" i="0">
                <a:solidFill>
                  <a:srgbClr val="FCFBF9"/>
                </a:solidFill>
                <a:latin typeface="Calibri"/>
              </a:rPr>
              <a:t>1.   AI is a goal, not a method. 'Uses AI' tells you almost nothing — ask which kind, and how it was built.</a:t>
            </a:r>
          </a:p>
          <a:p>
            <a:pPr algn="l">
              <a:lnSpc>
                <a:spcPct val="128000"/>
              </a:lnSpc>
              <a:spcBef>
                <a:spcPts val="1300"/>
              </a:spcBef>
              <a:spcAft>
                <a:spcPts val="200"/>
              </a:spcAft>
            </a:pPr>
            <a:r>
              <a:rPr sz="1900" b="0" i="0">
                <a:solidFill>
                  <a:srgbClr val="FCFBF9"/>
                </a:solidFill>
                <a:latin typeface="Calibri"/>
              </a:rPr>
              <a:t>2.   Machine learning is one idea: stop writing the rules, start supplying examples. Everything else is detail.</a:t>
            </a:r>
          </a:p>
          <a:p>
            <a:pPr algn="l">
              <a:lnSpc>
                <a:spcPct val="128000"/>
              </a:lnSpc>
              <a:spcBef>
                <a:spcPts val="1300"/>
              </a:spcBef>
              <a:spcAft>
                <a:spcPts val="200"/>
              </a:spcAft>
            </a:pPr>
            <a:r>
              <a:rPr sz="1900" b="0" i="0">
                <a:solidFill>
                  <a:srgbClr val="FCFBF9"/>
                </a:solidFill>
                <a:latin typeface="Calibri"/>
              </a:rPr>
              <a:t>3.   The technology is genuinely useful AND most of what is sold is oversold. Both, at once.</a:t>
            </a:r>
          </a:p>
          <a:p>
            <a:pPr algn="l">
              <a:lnSpc>
                <a:spcPct val="128000"/>
              </a:lnSpc>
              <a:spcBef>
                <a:spcPts val="1300"/>
              </a:spcBef>
              <a:spcAft>
                <a:spcPts val="200"/>
              </a:spcAft>
            </a:pPr>
            <a:r>
              <a:rPr sz="1900" b="0" i="0">
                <a:solidFill>
                  <a:srgbClr val="FCFBF9"/>
                </a:solidFill>
                <a:latin typeface="Calibri"/>
              </a:rPr>
              <a:t>4.   Three questions, on the card, for the rest of your life: trained on what · evaluated how · wrong how badly, and who pays.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1 ·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Before next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362895" cy="3893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lang="tr-TR" sz="1850" b="0" i="0" dirty="0" err="1">
                <a:solidFill>
                  <a:srgbClr val="1E1A1A"/>
                </a:solidFill>
                <a:latin typeface="Calibri"/>
              </a:rPr>
              <a:t>Study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Lab 1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</a:t>
            </a:r>
            <a:endParaRPr lang="tr-TR" sz="1850" b="0" i="0" dirty="0">
              <a:solidFill>
                <a:srgbClr val="1E1A1A"/>
              </a:solidFill>
              <a:latin typeface="Calibri"/>
            </a:endParaRP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Read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: 'AI and Machine Learning in Sport Research: An Introduction for Non-data Scientists', *Frontiers in Sports and Active Living* (2021). Open access, about fifteen pages. Read the three learning-type sections.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Set up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: a free account on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ChatGPT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, Claude or Gemini. Bring your laptop with it logged in.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Next week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: large language models — what they actually do, why they make things up, and how to get one to write your analysis code for you.</a:t>
            </a:r>
            <a:endParaRPr lang="en-TR" sz="1850" b="0" i="0" dirty="0">
              <a:solidFill>
                <a:srgbClr val="1E1A1A"/>
              </a:solidFill>
              <a:latin typeface="Calibri"/>
            </a:endParaRP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• </a:t>
            </a:r>
            <a:r>
              <a:rPr lang="en-US" sz="1850" b="0" i="0" dirty="0">
                <a:solidFill>
                  <a:srgbClr val="1E1A1A"/>
                </a:solidFill>
                <a:latin typeface="Calibri"/>
                <a:hlinkClick r:id="rId3"/>
              </a:rPr>
              <a:t>https://universe.roboflow.com/browse/sports</a:t>
            </a:r>
            <a:endParaRPr lang="en-US" sz="1850" b="0" i="0" dirty="0">
              <a:solidFill>
                <a:srgbClr val="1E1A1A"/>
              </a:solidFill>
              <a:latin typeface="Calibri"/>
            </a:endParaRP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• </a:t>
            </a:r>
            <a:r>
              <a:rPr lang="en-US" sz="1850" b="0" i="0" dirty="0">
                <a:solidFill>
                  <a:srgbClr val="1E1A1A"/>
                </a:solidFill>
                <a:latin typeface="Calibri"/>
                <a:hlinkClick r:id="rId4"/>
              </a:rPr>
              <a:t>https://github.com/roboflow/sports</a:t>
            </a:r>
            <a:endParaRPr lang="en-US" sz="1850" b="0" i="0" dirty="0">
              <a:solidFill>
                <a:srgbClr val="1E1A1A"/>
              </a:solidFill>
              <a:latin typeface="Calibri"/>
            </a:endParaRP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endParaRPr sz="1850" b="0" i="0" dirty="0">
              <a:solidFill>
                <a:srgbClr val="1E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9632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3265</Words>
  <Application>Microsoft Macintosh PowerPoint</Application>
  <PresentationFormat>Widescreen</PresentationFormat>
  <Paragraphs>220</Paragraphs>
  <Slides>33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Galip AYDIN</cp:lastModifiedBy>
  <cp:revision>11</cp:revision>
  <dcterms:created xsi:type="dcterms:W3CDTF">2013-01-27T09:14:16Z</dcterms:created>
  <dcterms:modified xsi:type="dcterms:W3CDTF">2026-10-07T06:55:36Z</dcterms:modified>
  <cp:category/>
</cp:coreProperties>
</file>