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88" r:id="rId3"/>
    <p:sldId id="257" r:id="rId4"/>
    <p:sldId id="258" r:id="rId5"/>
    <p:sldId id="259" r:id="rId6"/>
    <p:sldId id="260" r:id="rId7"/>
    <p:sldId id="261" r:id="rId8"/>
    <p:sldId id="262" r:id="rId9"/>
    <p:sldId id="263" r:id="rId10"/>
    <p:sldId id="264" r:id="rId11"/>
    <p:sldId id="265" r:id="rId12"/>
    <p:sldId id="266" r:id="rId13"/>
    <p:sldId id="267" r:id="rId14"/>
    <p:sldId id="268" r:id="rId15"/>
    <p:sldId id="284" r:id="rId16"/>
    <p:sldId id="285" r:id="rId17"/>
    <p:sldId id="286" r:id="rId18"/>
    <p:sldId id="287" r:id="rId19"/>
    <p:sldId id="269" r:id="rId20"/>
    <p:sldId id="283" r:id="rId21"/>
    <p:sldId id="270" r:id="rId22"/>
    <p:sldId id="271" r:id="rId23"/>
    <p:sldId id="272" r:id="rId24"/>
    <p:sldId id="273" r:id="rId25"/>
    <p:sldId id="274" r:id="rId26"/>
    <p:sldId id="275" r:id="rId27"/>
    <p:sldId id="276" r:id="rId28"/>
    <p:sldId id="277" r:id="rId29"/>
    <p:sldId id="278" r:id="rId30"/>
    <p:sldId id="280" r:id="rId31"/>
    <p:sldId id="281" r:id="rId32"/>
    <p:sldId id="282" r:id="rId33"/>
    <p:sldId id="289"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A1116"/>
    <a:srgbClr val="8A1B2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4"/>
  </p:normalViewPr>
  <p:slideViewPr>
    <p:cSldViewPr snapToGrid="0" snapToObjects="1">
      <p:cViewPr varScale="1">
        <p:scale>
          <a:sx n="119" d="100"/>
          <a:sy n="119" d="100"/>
        </p:scale>
        <p:origin x="76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0684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not start with definitions. Start with the demo (slide 3). Get the skeleton on the screen within the first eight minutes, before anyone has had time to decide they are in the wrong room.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663575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 01. Full teaching plan — timing, board work, what students ask, what to cut if you are short of time — is in lectures/week01/lecture-notes.md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actual survey numbers out loud. It matters that they hear the room described accurately — the anxious ones need to know they are not the only one.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this sentence, then pause. Then say it again. A third of the room is deciding this hour whether to drop, and this is the sentence that decides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Students from sport management often assume this is 'not for them'. Point at the right-hand column and say explicitly: if your thesis is about sponsorship or participation, project type F in Week 8 is built for you.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PLAY, in this order:</a:t>
            </a:r>
          </a:p>
          <a:p>
            <a:r>
              <a:t>1. squat_frontal_raise_side_by_side.png — one frame, raw on the left, skeleton on the right. Say nothing for five seconds.</a:t>
            </a:r>
          </a:p>
          <a:p>
            <a:r>
              <a:t>2. squat_frontal_raise_overlay_web.mp4 — the clip with the skeleton moving. Play it twice.</a:t>
            </a:r>
          </a:p>
          <a:p>
            <a:r>
              <a:t>3. squat_frontal_raise_knee_angle.png — the curve. Point at the three peaks and say 'those are the three squats'.</a:t>
            </a:r>
          </a:p>
          <a:p>
            <a:endParaRPr/>
          </a:p>
          <a:p>
            <a:r>
              <a:t>All three are ALREADY BUILT in lectures/week01/demo/out/. Copy them to the machine you teach from.</a:t>
            </a:r>
          </a:p>
          <a:p>
            <a:r>
              <a:t>Rebuild from your own clip: python3 run_demo.py my_clip.mov --crop</a:t>
            </a:r>
          </a:p>
          <a:p>
            <a:r>
              <a:t>Outputs are named after the clip, so a second run never overwrites the first.</a:t>
            </a:r>
          </a:p>
          <a:p>
            <a:r>
              <a:t>Never install software in front of twenty students. See week01/demo/README.md and FILMING.md.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clip short and the person recognisable — a student, a METU team, anything local. The point of the demo is emotional, not technical: 'this is reachable' beats any slide you could show.</a:t>
            </a:r>
          </a:p>
          <a:p>
            <a:endParaRPr/>
          </a:p>
          <a:p>
            <a:r>
              <a:t>Someone will ask HOW it works. Answer: 'deep learning, which is slide 13, and Week 10 in detail — hold the question for twenty minutes.' Write their name down and come back to them.</a:t>
            </a:r>
          </a:p>
          <a:p>
            <a:endParaRPr/>
          </a:p>
          <a:p>
            <a:r>
              <a:t>Optional 3-minute addition if the room is warm: Teachable Machine, trained live from the webcam on three squat positions. It dramatises 'we supply examples instead of writing rules', which is slide 11.</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 01. Full teaching plan — timing, board work, what students ask, what to cut if you are short of time — is in lectures/week01/lecture-notes.md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Resist the urge to define AI precisely. There is no agreed definition and the argument wastes ten minutes. What matters is that they stop treating 'AI' as informative.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centre of the whole first half of the course. Draw it on the board as two boxes. Come back to this sentence in Weeks 4, 5 and 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Spend real time here. Ask the room to suggest a sport decision that CAN be written as a rule, and one that cannot. Their examples are better than yours.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Analogy that works: a coach who has watched 50,000 hours of football and 'just sees' that a player is out of position. They cannot articulate the rule either. Students find that reassuring rather than alarming, which is the right starting attitude.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by show of hands who has used ChatGPT for university work. It will be most of the room. Then ask who has checked a reference it gave them. That contrast opens Week 2.</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Draw the four nested circles on the board while this slide is up. Students remember the drawing, not the table.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practitioners quote back to you years later. If a product's description never says what it learned from, it probably did not learn.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correct answer to at least two of these is 'unknowable from public information'. That frustration is the point, and it sets up Week 13's product audit.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 01. Full teaching plan — timing, board work, what students ask, what to cut if you are short of time — is in lectures/week01/lecture-notes.md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which column students expected to be longer. Most assume the middle one. By Week 13 they will assume the right one.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you only get one idea across in Week 1, make it this one. Everything in the syllabus is downstream of it.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 01. Full teaching plan — timing, board work, what students ask, what to cut if you are short of time — is in lectures/week01/lecture-notes.md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out the printed card at this point. Physically. It sounds gimmicky and it works — students bring the card to the Week 8 exam.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 their answers on the board and photograph it. Show the same photograph in Week 10 after they have measured the error themselves. It lands hard.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Circulate constantly in the first lab. The failure here is never conceptual — it is 'my Google account is the wrong one' and 'I cannot find the share button'. Fix those and the term runs smoothly.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Students expect a ban and are visibly relieved. Be clear that the log is graded, not decorative — the first lab that arrives without one sets the norm for the term.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four aloud rather than leaving them on screen. Then the next-week slide.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the offer at the end of the first session, every year. The students who take it up are almost always the ones who go on to do the best projects.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universe.roboflow.com/browse/sports" TargetMode="External"/><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s://github.com/roboflow/sport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Rectangle 1"/>
          <p:cNvSpPr/>
          <p:nvPr/>
        </p:nvSpPr>
        <p:spPr>
          <a:xfrm>
            <a:off x="0" y="0"/>
            <a:ext cx="256032" cy="6858000"/>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1828800"/>
            <a:ext cx="9905695" cy="365760"/>
          </a:xfrm>
          <a:prstGeom prst="rect">
            <a:avLst/>
          </a:prstGeom>
          <a:noFill/>
        </p:spPr>
        <p:txBody>
          <a:bodyPr wrap="square" lIns="0" tIns="0" rIns="0" bIns="0" anchor="t">
            <a:spAutoFit/>
          </a:bodyPr>
          <a:lstStyle/>
          <a:p>
            <a:pPr algn="l">
              <a:lnSpc>
                <a:spcPct val="122000"/>
              </a:lnSpc>
              <a:spcBef>
                <a:spcPts val="0"/>
              </a:spcBef>
              <a:spcAft>
                <a:spcPts val="0"/>
              </a:spcAft>
            </a:pPr>
            <a:r>
              <a:rPr sz="1300" b="1" i="0">
                <a:solidFill>
                  <a:srgbClr val="8A1C2B"/>
                </a:solidFill>
                <a:latin typeface="Calibri"/>
              </a:rPr>
              <a:t>WEEK 1</a:t>
            </a:r>
          </a:p>
        </p:txBody>
      </p:sp>
      <p:sp>
        <p:nvSpPr>
          <p:cNvPr id="4" name="TextBox 3"/>
          <p:cNvSpPr txBox="1"/>
          <p:nvPr/>
        </p:nvSpPr>
        <p:spPr>
          <a:xfrm>
            <a:off x="1143000" y="2331720"/>
            <a:ext cx="9814255" cy="2011680"/>
          </a:xfrm>
          <a:prstGeom prst="rect">
            <a:avLst/>
          </a:prstGeom>
          <a:noFill/>
        </p:spPr>
        <p:txBody>
          <a:bodyPr wrap="square" lIns="0" tIns="0" rIns="0" bIns="0" anchor="t">
            <a:spAutoFit/>
          </a:bodyPr>
          <a:lstStyle/>
          <a:p>
            <a:pPr algn="l">
              <a:lnSpc>
                <a:spcPct val="105000"/>
              </a:lnSpc>
              <a:spcBef>
                <a:spcPts val="0"/>
              </a:spcBef>
              <a:spcAft>
                <a:spcPts val="0"/>
              </a:spcAft>
            </a:pPr>
            <a:r>
              <a:rPr sz="4400" b="1" i="0">
                <a:solidFill>
                  <a:srgbClr val="1E1A1A"/>
                </a:solidFill>
                <a:latin typeface="Georgia"/>
              </a:rPr>
              <a:t>What AI actually is,
and where it sits in sport</a:t>
            </a:r>
          </a:p>
        </p:txBody>
      </p:sp>
      <p:sp>
        <p:nvSpPr>
          <p:cNvPr id="5" name="TextBox 4"/>
          <p:cNvSpPr txBox="1"/>
          <p:nvPr/>
        </p:nvSpPr>
        <p:spPr>
          <a:xfrm>
            <a:off x="1143000" y="4069080"/>
            <a:ext cx="9265615" cy="1280160"/>
          </a:xfrm>
          <a:prstGeom prst="rect">
            <a:avLst/>
          </a:prstGeom>
          <a:noFill/>
        </p:spPr>
        <p:txBody>
          <a:bodyPr wrap="square" lIns="0" tIns="0" rIns="0" bIns="0" anchor="t">
            <a:spAutoFit/>
          </a:bodyPr>
          <a:lstStyle/>
          <a:p>
            <a:pPr algn="l">
              <a:lnSpc>
                <a:spcPct val="135000"/>
              </a:lnSpc>
              <a:spcBef>
                <a:spcPts val="0"/>
              </a:spcBef>
              <a:spcAft>
                <a:spcPts val="0"/>
              </a:spcAft>
            </a:pPr>
            <a:r>
              <a:rPr sz="1900" b="0" i="0">
                <a:solidFill>
                  <a:srgbClr val="57504D"/>
                </a:solidFill>
                <a:latin typeface="Calibri"/>
              </a:rPr>
              <a:t>Four words you will meet for the rest of your career — and the three questions
you will ask of every technology anyone tries to sell you.</a:t>
            </a:r>
          </a:p>
        </p:txBody>
      </p:sp>
      <p:sp>
        <p:nvSpPr>
          <p:cNvPr id="6" name="TextBox 5"/>
          <p:cNvSpPr txBox="1"/>
          <p:nvPr/>
        </p:nvSpPr>
        <p:spPr>
          <a:xfrm>
            <a:off x="1143000" y="5806440"/>
            <a:ext cx="9905695" cy="365760"/>
          </a:xfrm>
          <a:prstGeom prst="rect">
            <a:avLst/>
          </a:prstGeom>
          <a:noFill/>
        </p:spPr>
        <p:txBody>
          <a:bodyPr wrap="square" lIns="0" tIns="0" rIns="0" bIns="0" anchor="t">
            <a:spAutoFit/>
          </a:bodyPr>
          <a:lstStyle/>
          <a:p>
            <a:pPr algn="l">
              <a:lnSpc>
                <a:spcPct val="122000"/>
              </a:lnSpc>
              <a:spcBef>
                <a:spcPts val="0"/>
              </a:spcBef>
              <a:spcAft>
                <a:spcPts val="0"/>
              </a:spcAft>
            </a:pPr>
            <a:r>
              <a:rPr sz="1200" b="0" i="0" dirty="0">
                <a:solidFill>
                  <a:srgbClr val="8B807C"/>
                </a:solidFill>
                <a:latin typeface="Calibri"/>
              </a:rPr>
              <a:t>PES 3850 · Artificial Intelligence Applications in Sport · METU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116"/>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7A18494-D573-1E20-9578-656FC224B32C}"/>
              </a:ext>
            </a:extLst>
          </p:cNvPr>
          <p:cNvPicPr>
            <a:picLocks noChangeAspect="1"/>
          </p:cNvPicPr>
          <p:nvPr/>
        </p:nvPicPr>
        <p:blipFill>
          <a:blip r:embed="rId3"/>
          <a:stretch>
            <a:fillRect/>
          </a:stretch>
        </p:blipFill>
        <p:spPr>
          <a:xfrm>
            <a:off x="-1" y="0"/>
            <a:ext cx="12192001" cy="6303981"/>
          </a:xfrm>
          <a:prstGeom prst="rect">
            <a:avLst/>
          </a:prstGeom>
        </p:spPr>
      </p:pic>
      <p:sp>
        <p:nvSpPr>
          <p:cNvPr id="3" name="TextBox 2">
            <a:extLst>
              <a:ext uri="{FF2B5EF4-FFF2-40B4-BE49-F238E27FC236}">
                <a16:creationId xmlns:a16="http://schemas.microsoft.com/office/drawing/2014/main" id="{F8AEC312-B82D-3164-9C20-026A006F08E7}"/>
              </a:ext>
            </a:extLst>
          </p:cNvPr>
          <p:cNvSpPr txBox="1"/>
          <p:nvPr/>
        </p:nvSpPr>
        <p:spPr>
          <a:xfrm>
            <a:off x="3944545" y="6404189"/>
            <a:ext cx="4302908" cy="441659"/>
          </a:xfrm>
          <a:prstGeom prst="rect">
            <a:avLst/>
          </a:prstGeom>
          <a:noFill/>
        </p:spPr>
        <p:txBody>
          <a:bodyPr wrap="square">
            <a:spAutoFit/>
          </a:bodyPr>
          <a:lstStyle/>
          <a:p>
            <a:pPr>
              <a:lnSpc>
                <a:spcPct val="122000"/>
              </a:lnSpc>
            </a:pPr>
            <a:r>
              <a:rPr lang="en-US" sz="2000" dirty="0">
                <a:solidFill>
                  <a:schemeClr val="bg1"/>
                </a:solidFill>
                <a:latin typeface="Calibri"/>
              </a:rPr>
              <a:t>https://</a:t>
            </a:r>
            <a:r>
              <a:rPr lang="en-US" sz="2000" dirty="0" err="1">
                <a:solidFill>
                  <a:schemeClr val="bg1"/>
                </a:solidFill>
                <a:latin typeface="Calibri"/>
              </a:rPr>
              <a:t>github.com</a:t>
            </a:r>
            <a:r>
              <a:rPr lang="en-US" sz="2000" dirty="0">
                <a:solidFill>
                  <a:schemeClr val="bg1"/>
                </a:solidFill>
                <a:latin typeface="Calibri"/>
              </a:rPr>
              <a:t>/</a:t>
            </a:r>
            <a:r>
              <a:rPr lang="en-US" sz="2000" dirty="0" err="1">
                <a:solidFill>
                  <a:schemeClr val="bg1"/>
                </a:solidFill>
                <a:latin typeface="Calibri"/>
              </a:rPr>
              <a:t>galipaydin</a:t>
            </a:r>
            <a:r>
              <a:rPr lang="en-US" sz="2000" dirty="0">
                <a:solidFill>
                  <a:schemeClr val="bg1"/>
                </a:solidFill>
                <a:latin typeface="Calibri"/>
              </a:rPr>
              <a:t>/pes3850</a:t>
            </a:r>
          </a:p>
        </p:txBody>
      </p:sp>
    </p:spTree>
    <p:extLst>
      <p:ext uri="{BB962C8B-B14F-4D97-AF65-F5344CB8AC3E}">
        <p14:creationId xmlns:p14="http://schemas.microsoft.com/office/powerpoint/2010/main" val="55628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8A1C2B"/>
        </a:solidFill>
        <a:effectLst/>
      </p:bgPr>
    </p:bg>
    <p:spTree>
      <p:nvGrpSpPr>
        <p:cNvPr id="1" name=""/>
        <p:cNvGrpSpPr/>
        <p:nvPr/>
      </p:nvGrpSpPr>
      <p:grpSpPr>
        <a:xfrm>
          <a:off x="0" y="0"/>
          <a:ext cx="0" cy="0"/>
          <a:chOff x="0" y="0"/>
          <a:chExt cx="0" cy="0"/>
        </a:xfrm>
      </p:grpSpPr>
      <p:sp>
        <p:nvSpPr>
          <p:cNvPr id="2" name="TextBox 1"/>
          <p:cNvSpPr txBox="1"/>
          <p:nvPr/>
        </p:nvSpPr>
        <p:spPr>
          <a:xfrm>
            <a:off x="1143000" y="2377440"/>
            <a:ext cx="1828800" cy="1280160"/>
          </a:xfrm>
          <a:prstGeom prst="rect">
            <a:avLst/>
          </a:prstGeom>
          <a:noFill/>
        </p:spPr>
        <p:txBody>
          <a:bodyPr wrap="square" lIns="0" tIns="0" rIns="0" bIns="0" anchor="t">
            <a:spAutoFit/>
          </a:bodyPr>
          <a:lstStyle/>
          <a:p>
            <a:pPr algn="l">
              <a:lnSpc>
                <a:spcPct val="122000"/>
              </a:lnSpc>
              <a:spcBef>
                <a:spcPts val="0"/>
              </a:spcBef>
              <a:spcAft>
                <a:spcPts val="0"/>
              </a:spcAft>
            </a:pPr>
            <a:r>
              <a:rPr sz="7000" b="1" i="0">
                <a:solidFill>
                  <a:srgbClr val="E09AA2"/>
                </a:solidFill>
                <a:latin typeface="Georgia"/>
              </a:rPr>
              <a:t>1</a:t>
            </a:r>
          </a:p>
        </p:txBody>
      </p:sp>
      <p:sp>
        <p:nvSpPr>
          <p:cNvPr id="3" name="TextBox 2"/>
          <p:cNvSpPr txBox="1"/>
          <p:nvPr/>
        </p:nvSpPr>
        <p:spPr>
          <a:xfrm>
            <a:off x="2834640" y="2514600"/>
            <a:ext cx="8168335" cy="2011680"/>
          </a:xfrm>
          <a:prstGeom prst="rect">
            <a:avLst/>
          </a:prstGeom>
          <a:noFill/>
        </p:spPr>
        <p:txBody>
          <a:bodyPr wrap="square" lIns="0" tIns="0" rIns="0" bIns="0" anchor="t">
            <a:spAutoFit/>
          </a:bodyPr>
          <a:lstStyle/>
          <a:p>
            <a:pPr algn="l">
              <a:lnSpc>
                <a:spcPct val="110000"/>
              </a:lnSpc>
              <a:spcBef>
                <a:spcPts val="0"/>
              </a:spcBef>
              <a:spcAft>
                <a:spcPts val="600"/>
              </a:spcAft>
            </a:pPr>
            <a:r>
              <a:rPr sz="3600" b="1" i="0">
                <a:solidFill>
                  <a:srgbClr val="FFFFFF"/>
                </a:solidFill>
                <a:latin typeface="Georgia"/>
              </a:rPr>
              <a:t>Before anything else</a:t>
            </a:r>
          </a:p>
          <a:p>
            <a:pPr algn="l">
              <a:lnSpc>
                <a:spcPct val="130000"/>
              </a:lnSpc>
              <a:spcBef>
                <a:spcPts val="800"/>
              </a:spcBef>
              <a:spcAft>
                <a:spcPts val="600"/>
              </a:spcAft>
            </a:pPr>
            <a:r>
              <a:rPr sz="1700" b="0" i="0">
                <a:solidFill>
                  <a:srgbClr val="EEC9CD"/>
                </a:solidFill>
                <a:latin typeface="Calibri"/>
              </a:rPr>
              <a:t>Who is here, and what this course is not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WELCOME</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Who is in this room</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From the intake survey you filled in last week:</a:t>
            </a:r>
          </a:p>
        </p:txBody>
      </p:sp>
      <p:sp>
        <p:nvSpPr>
          <p:cNvPr id="6" name="TextBox 5"/>
          <p:cNvSpPr txBox="1"/>
          <p:nvPr/>
        </p:nvSpPr>
        <p:spPr>
          <a:xfrm>
            <a:off x="777240" y="2578608"/>
            <a:ext cx="10362895" cy="2944268"/>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You come from sport sciences, coaching, sport management, physiotherapy, and a few other departments.</a:t>
            </a:r>
          </a:p>
          <a:p>
            <a:pPr algn="l">
              <a:lnSpc>
                <a:spcPct val="126000"/>
              </a:lnSpc>
              <a:spcBef>
                <a:spcPts val="700"/>
              </a:spcBef>
              <a:spcAft>
                <a:spcPts val="200"/>
              </a:spcAft>
            </a:pPr>
            <a:r>
              <a:rPr sz="1850" b="0" i="0" dirty="0">
                <a:solidFill>
                  <a:srgbClr val="1E1A1A"/>
                </a:solidFill>
                <a:latin typeface="Calibri"/>
              </a:rPr>
              <a:t>•  Most of you have never written a line of code. A few of you have copied something from the internet and run it.</a:t>
            </a:r>
          </a:p>
          <a:p>
            <a:pPr algn="l">
              <a:lnSpc>
                <a:spcPct val="126000"/>
              </a:lnSpc>
              <a:spcBef>
                <a:spcPts val="700"/>
              </a:spcBef>
              <a:spcAft>
                <a:spcPts val="200"/>
              </a:spcAft>
            </a:pPr>
            <a:r>
              <a:rPr sz="1850" b="0" i="0" dirty="0">
                <a:solidFill>
                  <a:srgbClr val="1E1A1A"/>
                </a:solidFill>
                <a:latin typeface="Calibri"/>
              </a:rPr>
              <a:t>•  </a:t>
            </a:r>
            <a:r>
              <a:rPr lang="tr-TR" sz="1850" b="0" i="0" dirty="0" err="1">
                <a:solidFill>
                  <a:srgbClr val="1E1A1A"/>
                </a:solidFill>
                <a:latin typeface="Calibri"/>
              </a:rPr>
              <a:t>Some</a:t>
            </a:r>
            <a:r>
              <a:rPr lang="tr-TR" sz="1850" b="0" i="0" dirty="0">
                <a:solidFill>
                  <a:srgbClr val="1E1A1A"/>
                </a:solidFill>
                <a:latin typeface="Calibri"/>
              </a:rPr>
              <a:t> </a:t>
            </a:r>
            <a:r>
              <a:rPr sz="1850" b="0" i="0" dirty="0">
                <a:solidFill>
                  <a:srgbClr val="1E1A1A"/>
                </a:solidFill>
                <a:latin typeface="Calibri"/>
              </a:rPr>
              <a:t>of you have used SPSS, </a:t>
            </a:r>
            <a:r>
              <a:rPr sz="1850" b="0" i="0" dirty="0" err="1">
                <a:solidFill>
                  <a:srgbClr val="1E1A1A"/>
                </a:solidFill>
                <a:latin typeface="Calibri"/>
              </a:rPr>
              <a:t>Jamovi</a:t>
            </a:r>
            <a:r>
              <a:rPr sz="1850" b="0" i="0" dirty="0">
                <a:solidFill>
                  <a:srgbClr val="1E1A1A"/>
                </a:solidFill>
                <a:latin typeface="Calibri"/>
              </a:rPr>
              <a:t> or Excel. Several of you have run a regression.</a:t>
            </a:r>
          </a:p>
          <a:p>
            <a:pPr algn="l">
              <a:lnSpc>
                <a:spcPct val="126000"/>
              </a:lnSpc>
              <a:spcBef>
                <a:spcPts val="700"/>
              </a:spcBef>
              <a:spcAft>
                <a:spcPts val="200"/>
              </a:spcAft>
            </a:pPr>
            <a:r>
              <a:rPr sz="1850" b="0" i="0" dirty="0">
                <a:solidFill>
                  <a:srgbClr val="1E1A1A"/>
                </a:solidFill>
                <a:latin typeface="Calibri"/>
              </a:rPr>
              <a:t>•  Nobody here has a computer science degree. That is deliberate, and it is not a problem.</a:t>
            </a:r>
          </a:p>
          <a:p>
            <a:pPr algn="l">
              <a:lnSpc>
                <a:spcPct val="126000"/>
              </a:lnSpc>
              <a:spcBef>
                <a:spcPts val="900"/>
              </a:spcBef>
              <a:spcAft>
                <a:spcPts val="200"/>
              </a:spcAft>
            </a:pPr>
            <a:r>
              <a:rPr sz="1700" b="1" i="0" dirty="0">
                <a:solidFill>
                  <a:srgbClr val="8A1C2B"/>
                </a:solidFill>
                <a:latin typeface="Calibri"/>
              </a:rPr>
              <a:t>This course was built for exactly this room.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EAE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783080"/>
            <a:ext cx="9997135" cy="3291840"/>
          </a:xfrm>
          <a:prstGeom prst="rect">
            <a:avLst/>
          </a:prstGeom>
          <a:noFill/>
        </p:spPr>
        <p:txBody>
          <a:bodyPr wrap="square" lIns="0" tIns="0" rIns="0" bIns="0" anchor="ctr">
            <a:spAutoFit/>
          </a:bodyPr>
          <a:lstStyle/>
          <a:p>
            <a:pPr algn="ctr">
              <a:lnSpc>
                <a:spcPct val="118000"/>
              </a:lnSpc>
              <a:spcBef>
                <a:spcPts val="0"/>
              </a:spcBef>
              <a:spcAft>
                <a:spcPts val="0"/>
              </a:spcAft>
            </a:pPr>
            <a:r>
              <a:rPr sz="3300" b="1" i="0">
                <a:solidFill>
                  <a:srgbClr val="1E1A1A"/>
                </a:solidFill>
                <a:latin typeface="Georgia"/>
              </a:rPr>
              <a:t>You will never be asked to write code from a blank page in this course.</a:t>
            </a:r>
          </a:p>
          <a:p>
            <a:pPr algn="ctr">
              <a:lnSpc>
                <a:spcPct val="128000"/>
              </a:lnSpc>
              <a:spcBef>
                <a:spcPts val="1600"/>
              </a:spcBef>
              <a:spcAft>
                <a:spcPts val="600"/>
              </a:spcAft>
            </a:pPr>
            <a:r>
              <a:rPr sz="1700" b="0" i="0">
                <a:solidFill>
                  <a:srgbClr val="57504D"/>
                </a:solidFill>
                <a:latin typeface="Calibri"/>
              </a:rPr>
              <a:t>Every notebook is written for you. You change values, swap data, and explain what came out.
The part that is graded is the explanation.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WELCOME</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dirty="0">
                <a:solidFill>
                  <a:srgbClr val="1E1A1A"/>
                </a:solidFill>
                <a:latin typeface="Georgia"/>
              </a:rPr>
              <a:t>What this course is, and is not</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77240" y="2048256"/>
            <a:ext cx="5067147"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212848"/>
            <a:ext cx="5067147" cy="411480"/>
          </a:xfrm>
          <a:prstGeom prst="rect">
            <a:avLst/>
          </a:prstGeom>
          <a:noFill/>
        </p:spPr>
        <p:txBody>
          <a:bodyPr wrap="square" lIns="0" tIns="0" rIns="0" bIns="0" anchor="t">
            <a:spAutoFit/>
          </a:bodyPr>
          <a:lstStyle/>
          <a:p>
            <a:pPr algn="l">
              <a:lnSpc>
                <a:spcPct val="122000"/>
              </a:lnSpc>
              <a:spcBef>
                <a:spcPts val="0"/>
              </a:spcBef>
              <a:spcAft>
                <a:spcPts val="0"/>
              </a:spcAft>
            </a:pPr>
            <a:r>
              <a:rPr sz="1700" b="1" i="0">
                <a:solidFill>
                  <a:srgbClr val="8A1C2B"/>
                </a:solidFill>
                <a:latin typeface="Calibri"/>
              </a:rPr>
              <a:t>This course IS</a:t>
            </a:r>
          </a:p>
        </p:txBody>
      </p:sp>
      <p:sp>
        <p:nvSpPr>
          <p:cNvPr id="7" name="TextBox 6"/>
          <p:cNvSpPr txBox="1"/>
          <p:nvPr/>
        </p:nvSpPr>
        <p:spPr>
          <a:xfrm>
            <a:off x="777240" y="2697480"/>
            <a:ext cx="5067147" cy="2074735"/>
          </a:xfrm>
          <a:prstGeom prst="rect">
            <a:avLst/>
          </a:prstGeom>
          <a:noFill/>
        </p:spPr>
        <p:txBody>
          <a:bodyPr wrap="square" lIns="0" tIns="0" rIns="0" bIns="0" anchor="t">
            <a:spAutoFit/>
          </a:bodyPr>
          <a:lstStyle/>
          <a:p>
            <a:pPr algn="l">
              <a:lnSpc>
                <a:spcPct val="125000"/>
              </a:lnSpc>
              <a:spcBef>
                <a:spcPts val="600"/>
              </a:spcBef>
              <a:spcAft>
                <a:spcPts val="200"/>
              </a:spcAft>
            </a:pPr>
            <a:r>
              <a:rPr sz="1550" b="0" i="0" dirty="0">
                <a:solidFill>
                  <a:srgbClr val="1E1A1A"/>
                </a:solidFill>
                <a:latin typeface="Calibri"/>
              </a:rPr>
              <a:t>•  Learning to judge an AI system the way you judge a fitness test: what was it validated on, and on whom?</a:t>
            </a:r>
          </a:p>
          <a:p>
            <a:pPr algn="l">
              <a:lnSpc>
                <a:spcPct val="125000"/>
              </a:lnSpc>
              <a:spcBef>
                <a:spcPts val="600"/>
              </a:spcBef>
              <a:spcAft>
                <a:spcPts val="200"/>
              </a:spcAft>
            </a:pPr>
            <a:r>
              <a:rPr sz="1550" b="0" i="0" dirty="0">
                <a:solidFill>
                  <a:srgbClr val="1E1A1A"/>
                </a:solidFill>
                <a:latin typeface="Calibri"/>
              </a:rPr>
              <a:t>•  Running working tools on real sport data.</a:t>
            </a:r>
          </a:p>
          <a:p>
            <a:pPr algn="l">
              <a:lnSpc>
                <a:spcPct val="125000"/>
              </a:lnSpc>
              <a:spcBef>
                <a:spcPts val="600"/>
              </a:spcBef>
              <a:spcAft>
                <a:spcPts val="200"/>
              </a:spcAft>
            </a:pPr>
            <a:r>
              <a:rPr sz="1550" b="0" i="0" dirty="0">
                <a:solidFill>
                  <a:srgbClr val="1E1A1A"/>
                </a:solidFill>
                <a:latin typeface="Calibri"/>
              </a:rPr>
              <a:t>•  Learning enough to ask a vendor a question they cannot dodge.</a:t>
            </a:r>
          </a:p>
          <a:p>
            <a:pPr algn="l">
              <a:lnSpc>
                <a:spcPct val="125000"/>
              </a:lnSpc>
              <a:spcBef>
                <a:spcPts val="600"/>
              </a:spcBef>
              <a:spcAft>
                <a:spcPts val="200"/>
              </a:spcAft>
            </a:pPr>
            <a:r>
              <a:rPr sz="1550" b="0" i="0" dirty="0">
                <a:solidFill>
                  <a:srgbClr val="1E1A1A"/>
                </a:solidFill>
                <a:latin typeface="Calibri"/>
              </a:rPr>
              <a:t>•  Learning what these systems get wrong, and who pays for it.</a:t>
            </a:r>
          </a:p>
        </p:txBody>
      </p:sp>
      <p:sp>
        <p:nvSpPr>
          <p:cNvPr id="8" name="Rectangle 7"/>
          <p:cNvSpPr/>
          <p:nvPr/>
        </p:nvSpPr>
        <p:spPr>
          <a:xfrm>
            <a:off x="6347307" y="2048256"/>
            <a:ext cx="5067147" cy="32004"/>
          </a:xfrm>
          <a:prstGeom prst="rect">
            <a:avLst/>
          </a:prstGeom>
          <a:solidFill>
            <a:srgbClr val="1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7307" y="2212848"/>
            <a:ext cx="5067147" cy="411480"/>
          </a:xfrm>
          <a:prstGeom prst="rect">
            <a:avLst/>
          </a:prstGeom>
          <a:noFill/>
        </p:spPr>
        <p:txBody>
          <a:bodyPr wrap="square" lIns="0" tIns="0" rIns="0" bIns="0" anchor="t">
            <a:spAutoFit/>
          </a:bodyPr>
          <a:lstStyle/>
          <a:p>
            <a:pPr algn="l">
              <a:lnSpc>
                <a:spcPct val="122000"/>
              </a:lnSpc>
              <a:spcBef>
                <a:spcPts val="0"/>
              </a:spcBef>
              <a:spcAft>
                <a:spcPts val="0"/>
              </a:spcAft>
            </a:pPr>
            <a:r>
              <a:rPr sz="1700" b="1" i="0">
                <a:solidFill>
                  <a:srgbClr val="1B6470"/>
                </a:solidFill>
                <a:latin typeface="Calibri"/>
              </a:rPr>
              <a:t>This course is NOT</a:t>
            </a:r>
          </a:p>
        </p:txBody>
      </p:sp>
      <p:sp>
        <p:nvSpPr>
          <p:cNvPr id="10" name="TextBox 9"/>
          <p:cNvSpPr txBox="1"/>
          <p:nvPr/>
        </p:nvSpPr>
        <p:spPr>
          <a:xfrm>
            <a:off x="6347307" y="2697480"/>
            <a:ext cx="5067147" cy="3566160"/>
          </a:xfrm>
          <a:prstGeom prst="rect">
            <a:avLst/>
          </a:prstGeom>
          <a:noFill/>
        </p:spPr>
        <p:txBody>
          <a:bodyPr wrap="square" lIns="0" tIns="0" rIns="0" bIns="0" anchor="t">
            <a:spAutoFit/>
          </a:bodyPr>
          <a:lstStyle/>
          <a:p>
            <a:pPr algn="l">
              <a:lnSpc>
                <a:spcPct val="125000"/>
              </a:lnSpc>
              <a:spcBef>
                <a:spcPts val="600"/>
              </a:spcBef>
              <a:spcAft>
                <a:spcPts val="200"/>
              </a:spcAft>
            </a:pPr>
            <a:r>
              <a:rPr sz="1550" b="0" i="0">
                <a:solidFill>
                  <a:srgbClr val="1E1A1A"/>
                </a:solidFill>
                <a:latin typeface="Calibri"/>
              </a:rPr>
              <a:t>•  A programming course. There is no exam on Python syntax.</a:t>
            </a:r>
          </a:p>
          <a:p>
            <a:pPr algn="l">
              <a:lnSpc>
                <a:spcPct val="125000"/>
              </a:lnSpc>
              <a:spcBef>
                <a:spcPts val="600"/>
              </a:spcBef>
              <a:spcAft>
                <a:spcPts val="200"/>
              </a:spcAft>
            </a:pPr>
            <a:r>
              <a:rPr sz="1550" b="0" i="0">
                <a:solidFill>
                  <a:srgbClr val="1E1A1A"/>
                </a:solidFill>
                <a:latin typeface="Calibri"/>
              </a:rPr>
              <a:t>•  A mathematics course. You will see no equations you have not already met in statistics.</a:t>
            </a:r>
          </a:p>
          <a:p>
            <a:pPr algn="l">
              <a:lnSpc>
                <a:spcPct val="125000"/>
              </a:lnSpc>
              <a:spcBef>
                <a:spcPts val="600"/>
              </a:spcBef>
              <a:spcAft>
                <a:spcPts val="200"/>
              </a:spcAft>
            </a:pPr>
            <a:r>
              <a:rPr sz="1550" b="0" i="0">
                <a:solidFill>
                  <a:srgbClr val="1E1A1A"/>
                </a:solidFill>
                <a:latin typeface="Calibri"/>
              </a:rPr>
              <a:t>•  Training to become a data scientist. You will be able to work with one.</a:t>
            </a:r>
          </a:p>
          <a:p>
            <a:pPr algn="l">
              <a:lnSpc>
                <a:spcPct val="125000"/>
              </a:lnSpc>
              <a:spcBef>
                <a:spcPts val="600"/>
              </a:spcBef>
              <a:spcAft>
                <a:spcPts val="200"/>
              </a:spcAft>
            </a:pPr>
            <a:r>
              <a:rPr sz="1550" b="0" i="0">
                <a:solidFill>
                  <a:srgbClr val="1E1A1A"/>
                </a:solidFill>
                <a:latin typeface="Calibri"/>
              </a:rPr>
              <a:t>•  A sales pitch for AI. Several weeks are about where it fails.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8A1C2B"/>
        </a:solidFill>
        <a:effectLst/>
      </p:bgPr>
    </p:bg>
    <p:spTree>
      <p:nvGrpSpPr>
        <p:cNvPr id="1" name=""/>
        <p:cNvGrpSpPr/>
        <p:nvPr/>
      </p:nvGrpSpPr>
      <p:grpSpPr>
        <a:xfrm>
          <a:off x="0" y="0"/>
          <a:ext cx="0" cy="0"/>
          <a:chOff x="0" y="0"/>
          <a:chExt cx="0" cy="0"/>
        </a:xfrm>
      </p:grpSpPr>
      <p:sp>
        <p:nvSpPr>
          <p:cNvPr id="2" name="TextBox 1"/>
          <p:cNvSpPr txBox="1"/>
          <p:nvPr/>
        </p:nvSpPr>
        <p:spPr>
          <a:xfrm>
            <a:off x="1143000" y="2377440"/>
            <a:ext cx="1828800" cy="1280160"/>
          </a:xfrm>
          <a:prstGeom prst="rect">
            <a:avLst/>
          </a:prstGeom>
          <a:noFill/>
        </p:spPr>
        <p:txBody>
          <a:bodyPr wrap="square" lIns="0" tIns="0" rIns="0" bIns="0" anchor="t">
            <a:spAutoFit/>
          </a:bodyPr>
          <a:lstStyle/>
          <a:p>
            <a:pPr algn="l">
              <a:lnSpc>
                <a:spcPct val="122000"/>
              </a:lnSpc>
              <a:spcBef>
                <a:spcPts val="0"/>
              </a:spcBef>
              <a:spcAft>
                <a:spcPts val="0"/>
              </a:spcAft>
            </a:pPr>
            <a:r>
              <a:rPr sz="7000" b="1" i="0">
                <a:solidFill>
                  <a:srgbClr val="E09AA2"/>
                </a:solidFill>
                <a:latin typeface="Georgia"/>
              </a:rPr>
              <a:t>2</a:t>
            </a:r>
          </a:p>
        </p:txBody>
      </p:sp>
      <p:sp>
        <p:nvSpPr>
          <p:cNvPr id="3" name="TextBox 2"/>
          <p:cNvSpPr txBox="1"/>
          <p:nvPr/>
        </p:nvSpPr>
        <p:spPr>
          <a:xfrm>
            <a:off x="2834640" y="2514600"/>
            <a:ext cx="8168335" cy="2011680"/>
          </a:xfrm>
          <a:prstGeom prst="rect">
            <a:avLst/>
          </a:prstGeom>
          <a:noFill/>
        </p:spPr>
        <p:txBody>
          <a:bodyPr wrap="square" lIns="0" tIns="0" rIns="0" bIns="0" anchor="t">
            <a:spAutoFit/>
          </a:bodyPr>
          <a:lstStyle/>
          <a:p>
            <a:pPr algn="l">
              <a:lnSpc>
                <a:spcPct val="110000"/>
              </a:lnSpc>
              <a:spcBef>
                <a:spcPts val="0"/>
              </a:spcBef>
              <a:spcAft>
                <a:spcPts val="600"/>
              </a:spcAft>
            </a:pPr>
            <a:r>
              <a:rPr sz="3600" b="1" i="0">
                <a:solidFill>
                  <a:srgbClr val="FFFFFF"/>
                </a:solidFill>
                <a:latin typeface="Georgia"/>
              </a:rPr>
              <a:t>The demo</a:t>
            </a:r>
          </a:p>
          <a:p>
            <a:pPr algn="l">
              <a:lnSpc>
                <a:spcPct val="130000"/>
              </a:lnSpc>
              <a:spcBef>
                <a:spcPts val="800"/>
              </a:spcBef>
              <a:spcAft>
                <a:spcPts val="600"/>
              </a:spcAft>
            </a:pPr>
            <a:r>
              <a:rPr sz="1700" b="0" i="0">
                <a:solidFill>
                  <a:srgbClr val="EEC9CD"/>
                </a:solidFill>
                <a:latin typeface="Calibri"/>
              </a:rPr>
              <a:t>A phone clip of a squat, and a computer finding the knee. No explanation — just watch.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DEMO</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What you just watched</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330988"/>
          </a:xfrm>
          <a:prstGeom prst="rect">
            <a:avLst/>
          </a:prstGeom>
          <a:noFill/>
        </p:spPr>
        <p:txBody>
          <a:bodyPr wrap="square" lIns="0" tIns="0" rIns="0" bIns="0" anchor="t">
            <a:spAutoFit/>
          </a:bodyPr>
          <a:lstStyle/>
          <a:p>
            <a:pPr algn="l">
              <a:lnSpc>
                <a:spcPct val="130000"/>
              </a:lnSpc>
              <a:spcBef>
                <a:spcPts val="0"/>
              </a:spcBef>
              <a:spcAft>
                <a:spcPts val="0"/>
              </a:spcAft>
            </a:pPr>
            <a:r>
              <a:rPr sz="1800" b="0" i="1" dirty="0">
                <a:solidFill>
                  <a:srgbClr val="57504D"/>
                </a:solidFill>
                <a:latin typeface="Calibri"/>
              </a:rPr>
              <a:t>A clip of somebody squatting, and a computer drawing a skeleton on them.</a:t>
            </a:r>
          </a:p>
        </p:txBody>
      </p:sp>
      <p:sp>
        <p:nvSpPr>
          <p:cNvPr id="6" name="TextBox 5"/>
          <p:cNvSpPr txBox="1"/>
          <p:nvPr/>
        </p:nvSpPr>
        <p:spPr>
          <a:xfrm>
            <a:off x="777240" y="2578608"/>
            <a:ext cx="10362895" cy="1754006"/>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Nobody attached a marker, a sensor or a strap to that person.</a:t>
            </a:r>
          </a:p>
          <a:p>
            <a:pPr algn="l">
              <a:lnSpc>
                <a:spcPct val="126000"/>
              </a:lnSpc>
              <a:spcBef>
                <a:spcPts val="700"/>
              </a:spcBef>
              <a:spcAft>
                <a:spcPts val="200"/>
              </a:spcAft>
            </a:pPr>
            <a:r>
              <a:rPr sz="1850" b="0" i="0" dirty="0">
                <a:solidFill>
                  <a:srgbClr val="1E1A1A"/>
                </a:solidFill>
                <a:latin typeface="Calibri"/>
              </a:rPr>
              <a:t>•  The computer found the hip, the knee and the ankle in every single frame.</a:t>
            </a:r>
          </a:p>
          <a:p>
            <a:pPr algn="l">
              <a:lnSpc>
                <a:spcPct val="126000"/>
              </a:lnSpc>
              <a:spcBef>
                <a:spcPts val="700"/>
              </a:spcBef>
              <a:spcAft>
                <a:spcPts val="200"/>
              </a:spcAft>
            </a:pPr>
            <a:r>
              <a:rPr sz="1850" b="0" i="0" dirty="0">
                <a:solidFill>
                  <a:srgbClr val="1E1A1A"/>
                </a:solidFill>
                <a:latin typeface="Calibri"/>
              </a:rPr>
              <a:t>•  From three points it computed a knee angle, and drew how it changed through the movement.</a:t>
            </a:r>
          </a:p>
          <a:p>
            <a:pPr algn="l">
              <a:lnSpc>
                <a:spcPct val="126000"/>
              </a:lnSpc>
              <a:spcBef>
                <a:spcPts val="700"/>
              </a:spcBef>
              <a:spcAft>
                <a:spcPts val="200"/>
              </a:spcAft>
            </a:pPr>
            <a:r>
              <a:rPr sz="1850" b="0" i="0" dirty="0">
                <a:solidFill>
                  <a:srgbClr val="1E1A1A"/>
                </a:solidFill>
                <a:latin typeface="Calibri"/>
              </a:rPr>
              <a:t>•  That whole process took less time than it takes to set up a goniometer.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8A1C2B"/>
        </a:solidFill>
        <a:effectLst/>
      </p:bgPr>
    </p:bg>
    <p:spTree>
      <p:nvGrpSpPr>
        <p:cNvPr id="1" name=""/>
        <p:cNvGrpSpPr/>
        <p:nvPr/>
      </p:nvGrpSpPr>
      <p:grpSpPr>
        <a:xfrm>
          <a:off x="0" y="0"/>
          <a:ext cx="0" cy="0"/>
          <a:chOff x="0" y="0"/>
          <a:chExt cx="0" cy="0"/>
        </a:xfrm>
      </p:grpSpPr>
      <p:sp>
        <p:nvSpPr>
          <p:cNvPr id="2" name="TextBox 1"/>
          <p:cNvSpPr txBox="1"/>
          <p:nvPr/>
        </p:nvSpPr>
        <p:spPr>
          <a:xfrm>
            <a:off x="1143000" y="2377440"/>
            <a:ext cx="1828800" cy="1280160"/>
          </a:xfrm>
          <a:prstGeom prst="rect">
            <a:avLst/>
          </a:prstGeom>
          <a:noFill/>
        </p:spPr>
        <p:txBody>
          <a:bodyPr wrap="square" lIns="0" tIns="0" rIns="0" bIns="0" anchor="t">
            <a:spAutoFit/>
          </a:bodyPr>
          <a:lstStyle/>
          <a:p>
            <a:pPr algn="l">
              <a:lnSpc>
                <a:spcPct val="122000"/>
              </a:lnSpc>
              <a:spcBef>
                <a:spcPts val="0"/>
              </a:spcBef>
              <a:spcAft>
                <a:spcPts val="0"/>
              </a:spcAft>
            </a:pPr>
            <a:r>
              <a:rPr sz="7000" b="1" i="0">
                <a:solidFill>
                  <a:srgbClr val="E09AA2"/>
                </a:solidFill>
                <a:latin typeface="Georgia"/>
              </a:rPr>
              <a:t>3</a:t>
            </a:r>
          </a:p>
        </p:txBody>
      </p:sp>
      <p:sp>
        <p:nvSpPr>
          <p:cNvPr id="3" name="TextBox 2"/>
          <p:cNvSpPr txBox="1"/>
          <p:nvPr/>
        </p:nvSpPr>
        <p:spPr>
          <a:xfrm>
            <a:off x="2834640" y="2514600"/>
            <a:ext cx="8168335" cy="2011680"/>
          </a:xfrm>
          <a:prstGeom prst="rect">
            <a:avLst/>
          </a:prstGeom>
          <a:noFill/>
        </p:spPr>
        <p:txBody>
          <a:bodyPr wrap="square" lIns="0" tIns="0" rIns="0" bIns="0" anchor="t">
            <a:spAutoFit/>
          </a:bodyPr>
          <a:lstStyle/>
          <a:p>
            <a:pPr algn="l">
              <a:lnSpc>
                <a:spcPct val="110000"/>
              </a:lnSpc>
              <a:spcBef>
                <a:spcPts val="0"/>
              </a:spcBef>
              <a:spcAft>
                <a:spcPts val="600"/>
              </a:spcAft>
            </a:pPr>
            <a:r>
              <a:rPr sz="3600" b="1" i="0" dirty="0">
                <a:solidFill>
                  <a:srgbClr val="FFFFFF"/>
                </a:solidFill>
                <a:latin typeface="Georgia"/>
              </a:rPr>
              <a:t>Four words</a:t>
            </a:r>
          </a:p>
          <a:p>
            <a:pPr algn="l">
              <a:lnSpc>
                <a:spcPct val="130000"/>
              </a:lnSpc>
              <a:spcBef>
                <a:spcPts val="800"/>
              </a:spcBef>
              <a:spcAft>
                <a:spcPts val="600"/>
              </a:spcAft>
            </a:pPr>
            <a:r>
              <a:rPr sz="1700" b="0" i="0" dirty="0">
                <a:solidFill>
                  <a:srgbClr val="EEC9CD"/>
                </a:solidFill>
                <a:latin typeface="Calibri"/>
              </a:rPr>
              <a:t>AI · machine learning · deep learning · generative AI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Artificial intelligence</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The broadest word, and the least useful one.</a:t>
            </a:r>
          </a:p>
        </p:txBody>
      </p:sp>
      <p:sp>
        <p:nvSpPr>
          <p:cNvPr id="6" name="TextBox 5"/>
          <p:cNvSpPr txBox="1"/>
          <p:nvPr/>
        </p:nvSpPr>
        <p:spPr>
          <a:xfrm>
            <a:off x="777240" y="2578608"/>
            <a:ext cx="10362895" cy="2470163"/>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Artificial intelligence</a:t>
            </a:r>
            <a:r>
              <a:rPr lang="en-TR" sz="1850" b="0" i="0" dirty="0">
                <a:solidFill>
                  <a:srgbClr val="1E1A1A"/>
                </a:solidFill>
                <a:latin typeface="Calibri"/>
              </a:rPr>
              <a:t>"</a:t>
            </a:r>
            <a:r>
              <a:rPr sz="1850" b="0" i="0" dirty="0">
                <a:solidFill>
                  <a:srgbClr val="1E1A1A"/>
                </a:solidFill>
                <a:latin typeface="Calibri"/>
              </a:rPr>
              <a:t> means: a computer doing something we normally think requires human judgement.</a:t>
            </a:r>
          </a:p>
          <a:p>
            <a:pPr algn="l">
              <a:lnSpc>
                <a:spcPct val="126000"/>
              </a:lnSpc>
              <a:spcBef>
                <a:spcPts val="700"/>
              </a:spcBef>
              <a:spcAft>
                <a:spcPts val="200"/>
              </a:spcAft>
            </a:pPr>
            <a:r>
              <a:rPr sz="1850" b="0" i="0" dirty="0">
                <a:solidFill>
                  <a:srgbClr val="1E1A1A"/>
                </a:solidFill>
                <a:latin typeface="Calibri"/>
              </a:rPr>
              <a:t>•  </a:t>
            </a:r>
            <a:r>
              <a:rPr sz="1850" b="0" i="0" dirty="0" err="1">
                <a:solidFill>
                  <a:srgbClr val="1E1A1A"/>
                </a:solidFill>
                <a:latin typeface="Calibri"/>
              </a:rPr>
              <a:t>Recognising</a:t>
            </a:r>
            <a:r>
              <a:rPr sz="1850" b="0" i="0" dirty="0">
                <a:solidFill>
                  <a:srgbClr val="1E1A1A"/>
                </a:solidFill>
                <a:latin typeface="Calibri"/>
              </a:rPr>
              <a:t> a face. Understanding a sentence. Deciding whether a player looks tired.</a:t>
            </a:r>
          </a:p>
          <a:p>
            <a:pPr algn="l">
              <a:lnSpc>
                <a:spcPct val="126000"/>
              </a:lnSpc>
              <a:spcBef>
                <a:spcPts val="700"/>
              </a:spcBef>
              <a:spcAft>
                <a:spcPts val="200"/>
              </a:spcAft>
            </a:pPr>
            <a:r>
              <a:rPr sz="1850" b="0" i="0" dirty="0">
                <a:solidFill>
                  <a:srgbClr val="1E1A1A"/>
                </a:solidFill>
                <a:latin typeface="Calibri"/>
              </a:rPr>
              <a:t>•  It is a goal, not a method. Saying a product 'uses AI' tells you roughly as much as saying an athlete 'does training'.</a:t>
            </a:r>
          </a:p>
          <a:p>
            <a:pPr algn="l">
              <a:lnSpc>
                <a:spcPct val="126000"/>
              </a:lnSpc>
              <a:spcBef>
                <a:spcPts val="900"/>
              </a:spcBef>
              <a:spcAft>
                <a:spcPts val="200"/>
              </a:spcAft>
            </a:pPr>
            <a:r>
              <a:rPr sz="1700" b="1" i="0" dirty="0">
                <a:solidFill>
                  <a:srgbClr val="8A1C2B"/>
                </a:solidFill>
                <a:latin typeface="Calibri"/>
              </a:rPr>
              <a:t>Whenever someone says AI, your next question is: which kind, and how was it built?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EAE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783080"/>
            <a:ext cx="9997135" cy="3291840"/>
          </a:xfrm>
          <a:prstGeom prst="rect">
            <a:avLst/>
          </a:prstGeom>
          <a:noFill/>
        </p:spPr>
        <p:txBody>
          <a:bodyPr wrap="square" lIns="0" tIns="0" rIns="0" bIns="0" anchor="ctr">
            <a:spAutoFit/>
          </a:bodyPr>
          <a:lstStyle/>
          <a:p>
            <a:pPr algn="ctr">
              <a:lnSpc>
                <a:spcPct val="118000"/>
              </a:lnSpc>
              <a:spcBef>
                <a:spcPts val="0"/>
              </a:spcBef>
              <a:spcAft>
                <a:spcPts val="0"/>
              </a:spcAft>
            </a:pPr>
            <a:r>
              <a:rPr sz="3300" b="1" i="0">
                <a:solidFill>
                  <a:srgbClr val="1E1A1A"/>
                </a:solidFill>
                <a:latin typeface="Georgia"/>
              </a:rPr>
              <a:t>We stop writing the rules.
We start supplying examples.</a:t>
            </a:r>
          </a:p>
          <a:p>
            <a:pPr algn="ctr">
              <a:lnSpc>
                <a:spcPct val="128000"/>
              </a:lnSpc>
              <a:spcBef>
                <a:spcPts val="1600"/>
              </a:spcBef>
              <a:spcAft>
                <a:spcPts val="600"/>
              </a:spcAft>
            </a:pPr>
            <a:r>
              <a:rPr sz="1700" b="0" i="0">
                <a:solidFill>
                  <a:srgbClr val="57504D"/>
                </a:solidFill>
                <a:latin typeface="Calibri"/>
              </a:rPr>
              <a:t>That single change is what machine learning is. Everything else is detail.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Two ways to make a computer decide something</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77240" y="2048256"/>
            <a:ext cx="5067147"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212848"/>
            <a:ext cx="5067147" cy="411480"/>
          </a:xfrm>
          <a:prstGeom prst="rect">
            <a:avLst/>
          </a:prstGeom>
          <a:noFill/>
        </p:spPr>
        <p:txBody>
          <a:bodyPr wrap="square" lIns="0" tIns="0" rIns="0" bIns="0" anchor="t">
            <a:spAutoFit/>
          </a:bodyPr>
          <a:lstStyle/>
          <a:p>
            <a:pPr algn="l">
              <a:lnSpc>
                <a:spcPct val="122000"/>
              </a:lnSpc>
              <a:spcBef>
                <a:spcPts val="0"/>
              </a:spcBef>
              <a:spcAft>
                <a:spcPts val="0"/>
              </a:spcAft>
            </a:pPr>
            <a:r>
              <a:rPr sz="1700" b="1" i="0">
                <a:solidFill>
                  <a:srgbClr val="8A1C2B"/>
                </a:solidFill>
                <a:latin typeface="Calibri"/>
              </a:rPr>
              <a:t>Writing the rules (the old way)</a:t>
            </a:r>
          </a:p>
        </p:txBody>
      </p:sp>
      <p:sp>
        <p:nvSpPr>
          <p:cNvPr id="7" name="TextBox 6"/>
          <p:cNvSpPr txBox="1"/>
          <p:nvPr/>
        </p:nvSpPr>
        <p:spPr>
          <a:xfrm>
            <a:off x="777240" y="2697480"/>
            <a:ext cx="5067147" cy="3566160"/>
          </a:xfrm>
          <a:prstGeom prst="rect">
            <a:avLst/>
          </a:prstGeom>
          <a:noFill/>
        </p:spPr>
        <p:txBody>
          <a:bodyPr wrap="square" lIns="0" tIns="0" rIns="0" bIns="0" anchor="t">
            <a:spAutoFit/>
          </a:bodyPr>
          <a:lstStyle/>
          <a:p>
            <a:pPr algn="l">
              <a:lnSpc>
                <a:spcPct val="125000"/>
              </a:lnSpc>
              <a:spcBef>
                <a:spcPts val="600"/>
              </a:spcBef>
              <a:spcAft>
                <a:spcPts val="200"/>
              </a:spcAft>
            </a:pPr>
            <a:r>
              <a:rPr sz="1550" b="0" i="0">
                <a:solidFill>
                  <a:srgbClr val="1E1A1A"/>
                </a:solidFill>
                <a:latin typeface="Calibri"/>
              </a:rPr>
              <a:t>•  You tell the computer exactly what to do, step by step.</a:t>
            </a:r>
          </a:p>
          <a:p>
            <a:pPr algn="l">
              <a:lnSpc>
                <a:spcPct val="125000"/>
              </a:lnSpc>
              <a:spcBef>
                <a:spcPts val="600"/>
              </a:spcBef>
              <a:spcAft>
                <a:spcPts val="200"/>
              </a:spcAft>
            </a:pPr>
            <a:r>
              <a:rPr sz="1550" b="0" i="0">
                <a:solidFill>
                  <a:srgbClr val="1E1A1A"/>
                </a:solidFill>
                <a:latin typeface="Calibri"/>
              </a:rPr>
              <a:t>•  Offside: 'if the attacker is closer to the goal line than the second-last defender at the moment of the pass, flag it.'</a:t>
            </a:r>
          </a:p>
          <a:p>
            <a:pPr algn="l">
              <a:lnSpc>
                <a:spcPct val="125000"/>
              </a:lnSpc>
              <a:spcBef>
                <a:spcPts val="600"/>
              </a:spcBef>
              <a:spcAft>
                <a:spcPts val="200"/>
              </a:spcAft>
            </a:pPr>
            <a:r>
              <a:rPr sz="1550" b="0" i="0">
                <a:solidFill>
                  <a:srgbClr val="1E1A1A"/>
                </a:solidFill>
                <a:latin typeface="Calibri"/>
              </a:rPr>
              <a:t>•  Works beautifully when the rule can be written down.</a:t>
            </a:r>
          </a:p>
          <a:p>
            <a:pPr algn="l">
              <a:lnSpc>
                <a:spcPct val="125000"/>
              </a:lnSpc>
              <a:spcBef>
                <a:spcPts val="600"/>
              </a:spcBef>
              <a:spcAft>
                <a:spcPts val="200"/>
              </a:spcAft>
            </a:pPr>
            <a:r>
              <a:rPr sz="1550" b="0" i="0">
                <a:solidFill>
                  <a:srgbClr val="1E1A1A"/>
                </a:solidFill>
                <a:latin typeface="Calibri"/>
              </a:rPr>
              <a:t>•  Hopeless for 'does this athlete look like they are about to get injured?' — because nobody can write that rule.</a:t>
            </a:r>
          </a:p>
        </p:txBody>
      </p:sp>
      <p:sp>
        <p:nvSpPr>
          <p:cNvPr id="8" name="Rectangle 7"/>
          <p:cNvSpPr/>
          <p:nvPr/>
        </p:nvSpPr>
        <p:spPr>
          <a:xfrm>
            <a:off x="6347307" y="2048256"/>
            <a:ext cx="5067147" cy="32004"/>
          </a:xfrm>
          <a:prstGeom prst="rect">
            <a:avLst/>
          </a:prstGeom>
          <a:solidFill>
            <a:srgbClr val="1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7307" y="2212848"/>
            <a:ext cx="5067147" cy="411480"/>
          </a:xfrm>
          <a:prstGeom prst="rect">
            <a:avLst/>
          </a:prstGeom>
          <a:noFill/>
        </p:spPr>
        <p:txBody>
          <a:bodyPr wrap="square" lIns="0" tIns="0" rIns="0" bIns="0" anchor="t">
            <a:spAutoFit/>
          </a:bodyPr>
          <a:lstStyle/>
          <a:p>
            <a:pPr algn="l">
              <a:lnSpc>
                <a:spcPct val="122000"/>
              </a:lnSpc>
              <a:spcBef>
                <a:spcPts val="0"/>
              </a:spcBef>
              <a:spcAft>
                <a:spcPts val="0"/>
              </a:spcAft>
            </a:pPr>
            <a:r>
              <a:rPr sz="1700" b="1" i="0">
                <a:solidFill>
                  <a:srgbClr val="1B6470"/>
                </a:solidFill>
                <a:latin typeface="Calibri"/>
              </a:rPr>
              <a:t>Supplying examples (machine learning)</a:t>
            </a:r>
          </a:p>
        </p:txBody>
      </p:sp>
      <p:sp>
        <p:nvSpPr>
          <p:cNvPr id="10" name="TextBox 9"/>
          <p:cNvSpPr txBox="1"/>
          <p:nvPr/>
        </p:nvSpPr>
        <p:spPr>
          <a:xfrm>
            <a:off x="6347307" y="2697480"/>
            <a:ext cx="5067147" cy="3566160"/>
          </a:xfrm>
          <a:prstGeom prst="rect">
            <a:avLst/>
          </a:prstGeom>
          <a:noFill/>
        </p:spPr>
        <p:txBody>
          <a:bodyPr wrap="square" lIns="0" tIns="0" rIns="0" bIns="0" anchor="t">
            <a:spAutoFit/>
          </a:bodyPr>
          <a:lstStyle/>
          <a:p>
            <a:pPr algn="l">
              <a:lnSpc>
                <a:spcPct val="125000"/>
              </a:lnSpc>
              <a:spcBef>
                <a:spcPts val="600"/>
              </a:spcBef>
              <a:spcAft>
                <a:spcPts val="200"/>
              </a:spcAft>
            </a:pPr>
            <a:r>
              <a:rPr sz="1550" b="0" i="0">
                <a:solidFill>
                  <a:srgbClr val="1E1A1A"/>
                </a:solidFill>
                <a:latin typeface="Calibri"/>
              </a:rPr>
              <a:t>•  You show the computer thousands of past cases where you already know the answer.</a:t>
            </a:r>
          </a:p>
          <a:p>
            <a:pPr algn="l">
              <a:lnSpc>
                <a:spcPct val="125000"/>
              </a:lnSpc>
              <a:spcBef>
                <a:spcPts val="600"/>
              </a:spcBef>
              <a:spcAft>
                <a:spcPts val="200"/>
              </a:spcAft>
            </a:pPr>
            <a:r>
              <a:rPr sz="1550" b="0" i="0">
                <a:solidFill>
                  <a:srgbClr val="1E1A1A"/>
                </a:solidFill>
                <a:latin typeface="Calibri"/>
              </a:rPr>
              <a:t>•  Two hundred athletes, their training data, and whether each one got injured.</a:t>
            </a:r>
          </a:p>
          <a:p>
            <a:pPr algn="l">
              <a:lnSpc>
                <a:spcPct val="125000"/>
              </a:lnSpc>
              <a:spcBef>
                <a:spcPts val="600"/>
              </a:spcBef>
              <a:spcAft>
                <a:spcPts val="200"/>
              </a:spcAft>
            </a:pPr>
            <a:r>
              <a:rPr sz="1550" b="0" i="0">
                <a:solidFill>
                  <a:srgbClr val="1E1A1A"/>
                </a:solidFill>
                <a:latin typeface="Calibri"/>
              </a:rPr>
              <a:t>•  The computer finds the pattern that connects them.</a:t>
            </a:r>
          </a:p>
          <a:p>
            <a:pPr algn="l">
              <a:lnSpc>
                <a:spcPct val="125000"/>
              </a:lnSpc>
              <a:spcBef>
                <a:spcPts val="600"/>
              </a:spcBef>
              <a:spcAft>
                <a:spcPts val="200"/>
              </a:spcAft>
            </a:pPr>
            <a:r>
              <a:rPr sz="1550" b="0" i="0">
                <a:solidFill>
                  <a:srgbClr val="1E1A1A"/>
                </a:solidFill>
                <a:latin typeface="Calibri"/>
              </a:rPr>
              <a:t>•  You never wrote the rule. You never see the rule. That is both the power and the problem.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Deep learning</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A particular way of learning from examples, and the reason the last ten years happened.</a:t>
            </a:r>
          </a:p>
        </p:txBody>
      </p:sp>
      <p:sp>
        <p:nvSpPr>
          <p:cNvPr id="6" name="TextBox 5"/>
          <p:cNvSpPr txBox="1"/>
          <p:nvPr/>
        </p:nvSpPr>
        <p:spPr>
          <a:xfrm>
            <a:off x="777240" y="2578608"/>
            <a:ext cx="10362895" cy="3059684"/>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Older machine learning needed you to tell it what to look at — 'measure the knee angle, the sprint time, the jump height’.</a:t>
            </a:r>
            <a:endParaRPr lang="tr-TR" sz="1850" b="0" i="0" dirty="0">
              <a:solidFill>
                <a:srgbClr val="1E1A1A"/>
              </a:solidFill>
              <a:latin typeface="Calibri"/>
            </a:endParaRPr>
          </a:p>
          <a:p>
            <a:pPr algn="l">
              <a:lnSpc>
                <a:spcPct val="126000"/>
              </a:lnSpc>
              <a:spcBef>
                <a:spcPts val="700"/>
              </a:spcBef>
              <a:spcAft>
                <a:spcPts val="200"/>
              </a:spcAft>
            </a:pPr>
            <a:r>
              <a:rPr lang="en-TR" sz="1850" b="0" i="0" dirty="0">
                <a:solidFill>
                  <a:srgbClr val="1E1A1A"/>
                </a:solidFill>
                <a:latin typeface="Calibri"/>
              </a:rPr>
              <a:t>• Feature Extraction</a:t>
            </a:r>
            <a:endParaRPr sz="1850" b="0" i="0" dirty="0">
              <a:solidFill>
                <a:srgbClr val="1E1A1A"/>
              </a:solidFill>
              <a:latin typeface="Calibri"/>
            </a:endParaRPr>
          </a:p>
          <a:p>
            <a:pPr algn="l">
              <a:lnSpc>
                <a:spcPct val="126000"/>
              </a:lnSpc>
              <a:spcBef>
                <a:spcPts val="700"/>
              </a:spcBef>
              <a:spcAft>
                <a:spcPts val="200"/>
              </a:spcAft>
            </a:pPr>
            <a:r>
              <a:rPr sz="1850" b="0" i="0" dirty="0">
                <a:solidFill>
                  <a:srgbClr val="1E1A1A"/>
                </a:solidFill>
                <a:latin typeface="Calibri"/>
              </a:rPr>
              <a:t>•  Deep learning works from the raw thing itself: the pixels of a video, the waveform from a sensor.</a:t>
            </a:r>
          </a:p>
          <a:p>
            <a:pPr algn="l">
              <a:lnSpc>
                <a:spcPct val="126000"/>
              </a:lnSpc>
              <a:spcBef>
                <a:spcPts val="700"/>
              </a:spcBef>
              <a:spcAft>
                <a:spcPts val="200"/>
              </a:spcAft>
            </a:pPr>
            <a:r>
              <a:rPr sz="1850" b="0" i="0" dirty="0">
                <a:solidFill>
                  <a:srgbClr val="1E1A1A"/>
                </a:solidFill>
                <a:latin typeface="Calibri"/>
              </a:rPr>
              <a:t>•  It builds up its own description in layers — edges, then shapes, then limbs, then a body.</a:t>
            </a:r>
          </a:p>
          <a:p>
            <a:pPr algn="l">
              <a:lnSpc>
                <a:spcPct val="126000"/>
              </a:lnSpc>
              <a:spcBef>
                <a:spcPts val="700"/>
              </a:spcBef>
              <a:spcAft>
                <a:spcPts val="200"/>
              </a:spcAft>
            </a:pPr>
            <a:r>
              <a:rPr sz="1850" b="0" i="0" dirty="0">
                <a:solidFill>
                  <a:srgbClr val="1E1A1A"/>
                </a:solidFill>
                <a:latin typeface="Calibri"/>
              </a:rPr>
              <a:t>•  That is why the demo you just saw is possible at all. Nobody told it what a knee looks like.</a:t>
            </a:r>
          </a:p>
          <a:p>
            <a:pPr algn="l">
              <a:lnSpc>
                <a:spcPct val="126000"/>
              </a:lnSpc>
              <a:spcBef>
                <a:spcPts val="900"/>
              </a:spcBef>
              <a:spcAft>
                <a:spcPts val="200"/>
              </a:spcAft>
            </a:pPr>
            <a:r>
              <a:rPr sz="1700" b="1" i="0" dirty="0">
                <a:solidFill>
                  <a:srgbClr val="8A1C2B"/>
                </a:solidFill>
                <a:latin typeface="Calibri"/>
              </a:rPr>
              <a:t>The cost: it needs a great deal of data, and it cannot tell you why.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Generative AI, and large language models</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The part everybody has already used.</a:t>
            </a:r>
          </a:p>
        </p:txBody>
      </p:sp>
      <p:sp>
        <p:nvSpPr>
          <p:cNvPr id="6" name="TextBox 5"/>
          <p:cNvSpPr txBox="1"/>
          <p:nvPr/>
        </p:nvSpPr>
        <p:spPr>
          <a:xfrm>
            <a:off x="777240" y="2578608"/>
            <a:ext cx="10362895" cy="2112694"/>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Older systems classify or predict: injured / not injured, 4.2 seconds, high risk.</a:t>
            </a:r>
          </a:p>
          <a:p>
            <a:pPr algn="l">
              <a:lnSpc>
                <a:spcPct val="126000"/>
              </a:lnSpc>
              <a:spcBef>
                <a:spcPts val="700"/>
              </a:spcBef>
              <a:spcAft>
                <a:spcPts val="200"/>
              </a:spcAft>
            </a:pPr>
            <a:r>
              <a:rPr sz="1850" b="0" i="0" dirty="0">
                <a:solidFill>
                  <a:srgbClr val="1E1A1A"/>
                </a:solidFill>
                <a:latin typeface="Calibri"/>
              </a:rPr>
              <a:t>•  Generative systems produce something new: a paragraph, an image, a training plan, a piece of code.</a:t>
            </a:r>
          </a:p>
          <a:p>
            <a:pPr algn="l">
              <a:lnSpc>
                <a:spcPct val="126000"/>
              </a:lnSpc>
              <a:spcBef>
                <a:spcPts val="700"/>
              </a:spcBef>
              <a:spcAft>
                <a:spcPts val="200"/>
              </a:spcAft>
            </a:pPr>
            <a:r>
              <a:rPr sz="1850" b="0" i="0" dirty="0">
                <a:solidFill>
                  <a:srgbClr val="1E1A1A"/>
                </a:solidFill>
                <a:latin typeface="Calibri"/>
              </a:rPr>
              <a:t>•  A </a:t>
            </a:r>
            <a:r>
              <a:rPr lang="en-TR" sz="1850" b="0" i="0" dirty="0">
                <a:solidFill>
                  <a:srgbClr val="1E1A1A"/>
                </a:solidFill>
                <a:latin typeface="Calibri"/>
              </a:rPr>
              <a:t>"</a:t>
            </a:r>
            <a:r>
              <a:rPr sz="1850" b="0" i="0" dirty="0">
                <a:solidFill>
                  <a:srgbClr val="1E1A1A"/>
                </a:solidFill>
                <a:latin typeface="Calibri"/>
              </a:rPr>
              <a:t>large language model</a:t>
            </a:r>
            <a:r>
              <a:rPr lang="en-TR" sz="1850" b="0" i="0" dirty="0">
                <a:solidFill>
                  <a:srgbClr val="1E1A1A"/>
                </a:solidFill>
                <a:latin typeface="Calibri"/>
              </a:rPr>
              <a:t>"</a:t>
            </a:r>
            <a:r>
              <a:rPr sz="1850" b="0" i="0" dirty="0">
                <a:solidFill>
                  <a:srgbClr val="1E1A1A"/>
                </a:solidFill>
                <a:latin typeface="Calibri"/>
              </a:rPr>
              <a:t> is one kind: it was trained by reading an enormous amount of text and learning to continue it.</a:t>
            </a:r>
          </a:p>
          <a:p>
            <a:pPr algn="l">
              <a:lnSpc>
                <a:spcPct val="126000"/>
              </a:lnSpc>
              <a:spcBef>
                <a:spcPts val="700"/>
              </a:spcBef>
              <a:spcAft>
                <a:spcPts val="200"/>
              </a:spcAft>
            </a:pPr>
            <a:r>
              <a:rPr sz="1850" b="0" i="0" dirty="0">
                <a:solidFill>
                  <a:srgbClr val="1E1A1A"/>
                </a:solidFill>
                <a:latin typeface="Calibri"/>
              </a:rPr>
              <a:t>•  </a:t>
            </a:r>
            <a:r>
              <a:rPr sz="1850" b="0" i="0" dirty="0" err="1">
                <a:solidFill>
                  <a:srgbClr val="1E1A1A"/>
                </a:solidFill>
                <a:latin typeface="Calibri"/>
              </a:rPr>
              <a:t>ChatGPT</a:t>
            </a:r>
            <a:r>
              <a:rPr sz="1850" b="0" i="0" dirty="0">
                <a:solidFill>
                  <a:srgbClr val="1E1A1A"/>
                </a:solidFill>
                <a:latin typeface="Calibri"/>
              </a:rPr>
              <a:t>, Claude and Gemini are large language models with a chat window on the front.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Artificial Intelligence">
            <a:extLst>
              <a:ext uri="{FF2B5EF4-FFF2-40B4-BE49-F238E27FC236}">
                <a16:creationId xmlns:a16="http://schemas.microsoft.com/office/drawing/2014/main" id="{72CC6D37-FA8E-9DC7-DC10-EF88DE4070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192000" cy="682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9251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Machine Learning">
            <a:extLst>
              <a:ext uri="{FF2B5EF4-FFF2-40B4-BE49-F238E27FC236}">
                <a16:creationId xmlns:a16="http://schemas.microsoft.com/office/drawing/2014/main" id="{CE26A1B3-018B-E140-CD1C-9626BE5AE3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192000" cy="682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44044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Deep Learning">
            <a:extLst>
              <a:ext uri="{FF2B5EF4-FFF2-40B4-BE49-F238E27FC236}">
                <a16:creationId xmlns:a16="http://schemas.microsoft.com/office/drawing/2014/main" id="{FE9A7329-B574-C578-799C-700370626C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192000" cy="682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0867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Generative AI">
            <a:extLst>
              <a:ext uri="{FF2B5EF4-FFF2-40B4-BE49-F238E27FC236}">
                <a16:creationId xmlns:a16="http://schemas.microsoft.com/office/drawing/2014/main" id="{F3C48199-C7AA-8B12-ABF8-AF9644FC2D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192000" cy="682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1574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The four words, on one slide</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777240" y="2057400"/>
          <a:ext cx="10637213" cy="2192274"/>
        </p:xfrm>
        <a:graphic>
          <a:graphicData uri="http://schemas.openxmlformats.org/drawingml/2006/table">
            <a:tbl>
              <a:tblPr firstRow="1" bandRow="1">
                <a:tableStyleId>{5C22544A-7EE6-4342-B048-85BDC9FD1C3A}</a:tableStyleId>
              </a:tblPr>
              <a:tblGrid>
                <a:gridCol w="1808326">
                  <a:extLst>
                    <a:ext uri="{9D8B030D-6E8A-4147-A177-3AD203B41FA5}">
                      <a16:colId xmlns:a16="http://schemas.microsoft.com/office/drawing/2014/main" val="20000"/>
                    </a:ext>
                  </a:extLst>
                </a:gridCol>
                <a:gridCol w="4786746">
                  <a:extLst>
                    <a:ext uri="{9D8B030D-6E8A-4147-A177-3AD203B41FA5}">
                      <a16:colId xmlns:a16="http://schemas.microsoft.com/office/drawing/2014/main" val="20001"/>
                    </a:ext>
                  </a:extLst>
                </a:gridCol>
                <a:gridCol w="4042141">
                  <a:extLst>
                    <a:ext uri="{9D8B030D-6E8A-4147-A177-3AD203B41FA5}">
                      <a16:colId xmlns:a16="http://schemas.microsoft.com/office/drawing/2014/main" val="20002"/>
                    </a:ext>
                  </a:extLst>
                </a:gridCol>
              </a:tblGrid>
              <a:tr h="411480">
                <a:tc>
                  <a:txBody>
                    <a:bodyPr/>
                    <a:lstStyle/>
                    <a:p>
                      <a:pPr algn="l">
                        <a:lnSpc>
                          <a:spcPct val="122000"/>
                        </a:lnSpc>
                        <a:spcBef>
                          <a:spcPts val="0"/>
                        </a:spcBef>
                        <a:spcAft>
                          <a:spcPts val="0"/>
                        </a:spcAft>
                      </a:pPr>
                      <a:r>
                        <a:rPr sz="1250" b="1" i="0">
                          <a:solidFill>
                            <a:srgbClr val="FFFFFF"/>
                          </a:solidFill>
                          <a:latin typeface="Calibri"/>
                        </a:rPr>
                        <a:t>Word</a:t>
                      </a:r>
                    </a:p>
                  </a:txBody>
                  <a:tcPr marT="50292" marB="50292">
                    <a:solidFill>
                      <a:srgbClr val="8A1C2B"/>
                    </a:solidFill>
                  </a:tcPr>
                </a:tc>
                <a:tc>
                  <a:txBody>
                    <a:bodyPr/>
                    <a:lstStyle/>
                    <a:p>
                      <a:pPr algn="l">
                        <a:lnSpc>
                          <a:spcPct val="122000"/>
                        </a:lnSpc>
                        <a:spcBef>
                          <a:spcPts val="0"/>
                        </a:spcBef>
                        <a:spcAft>
                          <a:spcPts val="0"/>
                        </a:spcAft>
                      </a:pPr>
                      <a:r>
                        <a:rPr sz="1250" b="1" i="0">
                          <a:solidFill>
                            <a:srgbClr val="FFFFFF"/>
                          </a:solidFill>
                          <a:latin typeface="Calibri"/>
                        </a:rPr>
                        <a:t>In one sentence</a:t>
                      </a:r>
                    </a:p>
                  </a:txBody>
                  <a:tcPr marT="50292" marB="50292">
                    <a:solidFill>
                      <a:srgbClr val="8A1C2B"/>
                    </a:solidFill>
                  </a:tcPr>
                </a:tc>
                <a:tc>
                  <a:txBody>
                    <a:bodyPr/>
                    <a:lstStyle/>
                    <a:p>
                      <a:pPr algn="l">
                        <a:lnSpc>
                          <a:spcPct val="122000"/>
                        </a:lnSpc>
                        <a:spcBef>
                          <a:spcPts val="0"/>
                        </a:spcBef>
                        <a:spcAft>
                          <a:spcPts val="0"/>
                        </a:spcAft>
                      </a:pPr>
                      <a:r>
                        <a:rPr sz="1250" b="1" i="0">
                          <a:solidFill>
                            <a:srgbClr val="FFFFFF"/>
                          </a:solidFill>
                          <a:latin typeface="Calibri"/>
                        </a:rPr>
                        <a:t>A sport example</a:t>
                      </a:r>
                    </a:p>
                  </a:txBody>
                  <a:tcPr marT="50292" marB="50292">
                    <a:solidFill>
                      <a:srgbClr val="8A1C2B"/>
                    </a:solidFill>
                  </a:tcPr>
                </a:tc>
                <a:extLst>
                  <a:ext uri="{0D108BD9-81ED-4DB2-BD59-A6C34878D82A}">
                    <a16:rowId xmlns:a16="http://schemas.microsoft.com/office/drawing/2014/main" val="10000"/>
                  </a:ext>
                </a:extLst>
              </a:tr>
              <a:tr h="411480">
                <a:tc>
                  <a:txBody>
                    <a:bodyPr/>
                    <a:lstStyle/>
                    <a:p>
                      <a:pPr algn="l">
                        <a:lnSpc>
                          <a:spcPct val="116000"/>
                        </a:lnSpc>
                        <a:spcBef>
                          <a:spcPts val="0"/>
                        </a:spcBef>
                        <a:spcAft>
                          <a:spcPts val="0"/>
                        </a:spcAft>
                      </a:pPr>
                      <a:r>
                        <a:rPr sz="1300" b="0" i="0">
                          <a:solidFill>
                            <a:srgbClr val="1E1A1A"/>
                          </a:solidFill>
                          <a:latin typeface="Calibri"/>
                        </a:rPr>
                        <a:t>Artificial intelligence</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A computer doing something that seems to need judgement.</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Any of the four below.</a:t>
                      </a:r>
                    </a:p>
                  </a:txBody>
                  <a:tcPr marT="50292" marB="50292">
                    <a:solidFill>
                      <a:srgbClr val="FFFFFF"/>
                    </a:solidFill>
                  </a:tcPr>
                </a:tc>
                <a:extLst>
                  <a:ext uri="{0D108BD9-81ED-4DB2-BD59-A6C34878D82A}">
                    <a16:rowId xmlns:a16="http://schemas.microsoft.com/office/drawing/2014/main" val="10001"/>
                  </a:ext>
                </a:extLst>
              </a:tr>
              <a:tr h="411480">
                <a:tc>
                  <a:txBody>
                    <a:bodyPr/>
                    <a:lstStyle/>
                    <a:p>
                      <a:pPr algn="l">
                        <a:lnSpc>
                          <a:spcPct val="116000"/>
                        </a:lnSpc>
                        <a:spcBef>
                          <a:spcPts val="0"/>
                        </a:spcBef>
                        <a:spcAft>
                          <a:spcPts val="0"/>
                        </a:spcAft>
                      </a:pPr>
                      <a:r>
                        <a:rPr sz="1300" b="0" i="0">
                          <a:solidFill>
                            <a:srgbClr val="1E1A1A"/>
                          </a:solidFill>
                          <a:latin typeface="Calibri"/>
                        </a:rPr>
                        <a:t>Machine learning</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Learning the pattern from examples instead of being given a rule.</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Predicting match minutes from test scores.</a:t>
                      </a:r>
                    </a:p>
                  </a:txBody>
                  <a:tcPr marT="50292" marB="50292">
                    <a:solidFill>
                      <a:srgbClr val="F4F1ED"/>
                    </a:solidFill>
                  </a:tcPr>
                </a:tc>
                <a:extLst>
                  <a:ext uri="{0D108BD9-81ED-4DB2-BD59-A6C34878D82A}">
                    <a16:rowId xmlns:a16="http://schemas.microsoft.com/office/drawing/2014/main" val="10002"/>
                  </a:ext>
                </a:extLst>
              </a:tr>
              <a:tr h="411480">
                <a:tc>
                  <a:txBody>
                    <a:bodyPr/>
                    <a:lstStyle/>
                    <a:p>
                      <a:pPr algn="l">
                        <a:lnSpc>
                          <a:spcPct val="116000"/>
                        </a:lnSpc>
                        <a:spcBef>
                          <a:spcPts val="0"/>
                        </a:spcBef>
                        <a:spcAft>
                          <a:spcPts val="0"/>
                        </a:spcAft>
                      </a:pPr>
                      <a:r>
                        <a:rPr sz="1300" b="0" i="0">
                          <a:solidFill>
                            <a:srgbClr val="1E1A1A"/>
                          </a:solidFill>
                          <a:latin typeface="Calibri"/>
                        </a:rPr>
                        <a:t>Deep learning</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Machine learning that works from raw video, sound or sensor signals.</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Finding the knee in a video frame.</a:t>
                      </a:r>
                    </a:p>
                  </a:txBody>
                  <a:tcPr marT="50292" marB="50292">
                    <a:solidFill>
                      <a:srgbClr val="FFFFFF"/>
                    </a:solidFill>
                  </a:tcPr>
                </a:tc>
                <a:extLst>
                  <a:ext uri="{0D108BD9-81ED-4DB2-BD59-A6C34878D82A}">
                    <a16:rowId xmlns:a16="http://schemas.microsoft.com/office/drawing/2014/main" val="10003"/>
                  </a:ext>
                </a:extLst>
              </a:tr>
              <a:tr h="411480">
                <a:tc>
                  <a:txBody>
                    <a:bodyPr/>
                    <a:lstStyle/>
                    <a:p>
                      <a:pPr algn="l">
                        <a:lnSpc>
                          <a:spcPct val="116000"/>
                        </a:lnSpc>
                        <a:spcBef>
                          <a:spcPts val="0"/>
                        </a:spcBef>
                        <a:spcAft>
                          <a:spcPts val="0"/>
                        </a:spcAft>
                      </a:pPr>
                      <a:r>
                        <a:rPr sz="1300" b="0" i="0">
                          <a:solidFill>
                            <a:srgbClr val="1E1A1A"/>
                          </a:solidFill>
                          <a:latin typeface="Calibri"/>
                        </a:rPr>
                        <a:t>Generative AI / LLM</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A model that produces new text, images or code.</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Drafting an athlete education leaflet.</a:t>
                      </a:r>
                    </a:p>
                  </a:txBody>
                  <a:tcPr marT="50292" marB="50292">
                    <a:solidFill>
                      <a:srgbClr val="F4F1ED"/>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777240" y="4315968"/>
            <a:ext cx="10637215" cy="640080"/>
          </a:xfrm>
          <a:prstGeom prst="rect">
            <a:avLst/>
          </a:prstGeom>
          <a:noFill/>
        </p:spPr>
        <p:txBody>
          <a:bodyPr wrap="square" lIns="0" tIns="0" rIns="0" bIns="0" anchor="t">
            <a:spAutoFit/>
          </a:bodyPr>
          <a:lstStyle/>
          <a:p>
            <a:pPr algn="l">
              <a:lnSpc>
                <a:spcPct val="130000"/>
              </a:lnSpc>
              <a:spcBef>
                <a:spcPts val="0"/>
              </a:spcBef>
              <a:spcAft>
                <a:spcPts val="0"/>
              </a:spcAft>
            </a:pPr>
            <a:r>
              <a:rPr sz="1450" b="0" i="1">
                <a:solidFill>
                  <a:srgbClr val="57504D"/>
                </a:solidFill>
                <a:latin typeface="Calibri"/>
              </a:rPr>
              <a:t>Each one sits inside the one above it. Every LLM is deep learning; all deep learning is machine learning; all of it counts as AI.</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AI, ML, DL. Gen AI Diagram">
            <a:extLst>
              <a:ext uri="{FF2B5EF4-FFF2-40B4-BE49-F238E27FC236}">
                <a16:creationId xmlns:a16="http://schemas.microsoft.com/office/drawing/2014/main" id="{88CF3352-A5CB-B4D5-85C2-D69F2E9514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192000" cy="682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42536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WORDS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What is NOT artificial intelligence</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This matters, because departments buy things on the strength of the label.</a:t>
            </a:r>
          </a:p>
        </p:txBody>
      </p:sp>
      <p:sp>
        <p:nvSpPr>
          <p:cNvPr id="6" name="TextBox 5"/>
          <p:cNvSpPr txBox="1"/>
          <p:nvPr/>
        </p:nvSpPr>
        <p:spPr>
          <a:xfrm>
            <a:off x="777240" y="2578608"/>
            <a:ext cx="10362895" cy="2112694"/>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A threshold in a spreadsheet. 'Flag anyone whose </a:t>
            </a:r>
            <a:r>
              <a:rPr sz="1850" b="0" i="0" dirty="0" err="1">
                <a:solidFill>
                  <a:srgbClr val="1E1A1A"/>
                </a:solidFill>
                <a:latin typeface="Calibri"/>
              </a:rPr>
              <a:t>acute:chronic</a:t>
            </a:r>
            <a:r>
              <a:rPr sz="1850" b="0" i="0" dirty="0">
                <a:solidFill>
                  <a:srgbClr val="1E1A1A"/>
                </a:solidFill>
                <a:latin typeface="Calibri"/>
              </a:rPr>
              <a:t> ratio goes above 1.5' is a rule somebody typed.</a:t>
            </a:r>
          </a:p>
          <a:p>
            <a:pPr algn="l">
              <a:lnSpc>
                <a:spcPct val="126000"/>
              </a:lnSpc>
              <a:spcBef>
                <a:spcPts val="700"/>
              </a:spcBef>
              <a:spcAft>
                <a:spcPts val="200"/>
              </a:spcAft>
            </a:pPr>
            <a:r>
              <a:rPr sz="1850" b="0" i="0" dirty="0">
                <a:solidFill>
                  <a:srgbClr val="1E1A1A"/>
                </a:solidFill>
                <a:latin typeface="Calibri"/>
              </a:rPr>
              <a:t>•  A formula. TRIMP, </a:t>
            </a:r>
            <a:r>
              <a:rPr sz="1850" b="0" i="0" dirty="0" err="1">
                <a:solidFill>
                  <a:srgbClr val="1E1A1A"/>
                </a:solidFill>
                <a:latin typeface="Calibri"/>
              </a:rPr>
              <a:t>PlayerLoad</a:t>
            </a:r>
            <a:r>
              <a:rPr sz="1850" b="0" i="0" dirty="0">
                <a:solidFill>
                  <a:srgbClr val="1E1A1A"/>
                </a:solidFill>
                <a:latin typeface="Calibri"/>
              </a:rPr>
              <a:t>, session RPE × duration — arithmetic, not learning.</a:t>
            </a:r>
          </a:p>
          <a:p>
            <a:pPr algn="l">
              <a:lnSpc>
                <a:spcPct val="126000"/>
              </a:lnSpc>
              <a:spcBef>
                <a:spcPts val="700"/>
              </a:spcBef>
              <a:spcAft>
                <a:spcPts val="200"/>
              </a:spcAft>
            </a:pPr>
            <a:r>
              <a:rPr sz="1850" b="0" i="0" dirty="0">
                <a:solidFill>
                  <a:srgbClr val="1E1A1A"/>
                </a:solidFill>
                <a:latin typeface="Calibri"/>
              </a:rPr>
              <a:t>•  A regression fitted once, years ago, and never checked on anyone new.</a:t>
            </a:r>
          </a:p>
          <a:p>
            <a:pPr algn="l">
              <a:lnSpc>
                <a:spcPct val="126000"/>
              </a:lnSpc>
              <a:spcBef>
                <a:spcPts val="700"/>
              </a:spcBef>
              <a:spcAft>
                <a:spcPts val="200"/>
              </a:spcAft>
            </a:pPr>
            <a:r>
              <a:rPr sz="1850" b="0" i="0" dirty="0">
                <a:solidFill>
                  <a:srgbClr val="1E1A1A"/>
                </a:solidFill>
                <a:latin typeface="Calibri"/>
              </a:rPr>
              <a:t>•  A dashboard. A dashboard displays numbers. What produced the numbers is the question.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1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66928"/>
            <a:ext cx="10637215" cy="329184"/>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1B6470"/>
                </a:solidFill>
                <a:latin typeface="Calibri"/>
              </a:rPr>
              <a:t>DISCUSSION · IN PAIRS</a:t>
            </a:r>
          </a:p>
        </p:txBody>
      </p:sp>
      <p:sp>
        <p:nvSpPr>
          <p:cNvPr id="4" name="TextBox 3"/>
          <p:cNvSpPr txBox="1"/>
          <p:nvPr/>
        </p:nvSpPr>
        <p:spPr>
          <a:xfrm>
            <a:off x="777240" y="960120"/>
            <a:ext cx="10271455" cy="1005840"/>
          </a:xfrm>
          <a:prstGeom prst="rect">
            <a:avLst/>
          </a:prstGeom>
          <a:noFill/>
        </p:spPr>
        <p:txBody>
          <a:bodyPr wrap="square" lIns="0" tIns="0" rIns="0" bIns="0" anchor="t">
            <a:spAutoFit/>
          </a:bodyPr>
          <a:lstStyle/>
          <a:p>
            <a:pPr algn="l">
              <a:lnSpc>
                <a:spcPct val="110000"/>
              </a:lnSpc>
              <a:spcBef>
                <a:spcPts val="0"/>
              </a:spcBef>
              <a:spcAft>
                <a:spcPts val="0"/>
              </a:spcAft>
            </a:pPr>
            <a:r>
              <a:rPr sz="2800" b="1" i="0">
                <a:solidFill>
                  <a:srgbClr val="1E1A1A"/>
                </a:solidFill>
                <a:latin typeface="Georgia"/>
              </a:rPr>
              <a:t>Which is it?</a:t>
            </a:r>
          </a:p>
        </p:txBody>
      </p:sp>
      <p:sp>
        <p:nvSpPr>
          <p:cNvPr id="5" name="TextBox 4"/>
          <p:cNvSpPr txBox="1"/>
          <p:nvPr/>
        </p:nvSpPr>
        <p:spPr>
          <a:xfrm>
            <a:off x="777240" y="2148840"/>
            <a:ext cx="10180015" cy="4114800"/>
          </a:xfrm>
          <a:prstGeom prst="rect">
            <a:avLst/>
          </a:prstGeom>
          <a:noFill/>
        </p:spPr>
        <p:txBody>
          <a:bodyPr wrap="square" lIns="0" tIns="0" rIns="0" bIns="0" anchor="t">
            <a:spAutoFit/>
          </a:bodyPr>
          <a:lstStyle/>
          <a:p>
            <a:pPr algn="l">
              <a:lnSpc>
                <a:spcPct val="130000"/>
              </a:lnSpc>
              <a:spcBef>
                <a:spcPts val="1200"/>
              </a:spcBef>
              <a:spcAft>
                <a:spcPts val="300"/>
              </a:spcAft>
            </a:pPr>
            <a:r>
              <a:rPr sz="1900" b="0" i="0">
                <a:solidFill>
                  <a:srgbClr val="1E1A1A"/>
                </a:solidFill>
                <a:latin typeface="Calibri"/>
              </a:rPr>
              <a:t>1.   A wearable that tells an athlete their 'recovery score' is 68 out of 100.</a:t>
            </a:r>
          </a:p>
          <a:p>
            <a:pPr algn="l">
              <a:lnSpc>
                <a:spcPct val="130000"/>
              </a:lnSpc>
              <a:spcBef>
                <a:spcPts val="1200"/>
              </a:spcBef>
              <a:spcAft>
                <a:spcPts val="300"/>
              </a:spcAft>
            </a:pPr>
            <a:r>
              <a:rPr sz="1900" b="0" i="0">
                <a:solidFill>
                  <a:srgbClr val="1E1A1A"/>
                </a:solidFill>
                <a:latin typeface="Calibri"/>
              </a:rPr>
              <a:t>2.   A system that watches a match and automatically labels every pass, shot and tackle.</a:t>
            </a:r>
          </a:p>
          <a:p>
            <a:pPr algn="l">
              <a:lnSpc>
                <a:spcPct val="130000"/>
              </a:lnSpc>
              <a:spcBef>
                <a:spcPts val="1200"/>
              </a:spcBef>
              <a:spcAft>
                <a:spcPts val="300"/>
              </a:spcAft>
            </a:pPr>
            <a:r>
              <a:rPr sz="1900" b="0" i="0">
                <a:solidFill>
                  <a:srgbClr val="1E1A1A"/>
                </a:solidFill>
                <a:latin typeface="Calibri"/>
              </a:rPr>
              <a:t>3.   A spreadsheet that turns red when weekly load rises more than 10%.</a:t>
            </a:r>
          </a:p>
          <a:p>
            <a:pPr algn="l">
              <a:lnSpc>
                <a:spcPct val="130000"/>
              </a:lnSpc>
              <a:spcBef>
                <a:spcPts val="1200"/>
              </a:spcBef>
              <a:spcAft>
                <a:spcPts val="300"/>
              </a:spcAft>
            </a:pPr>
            <a:r>
              <a:rPr sz="1900" b="0" i="0">
                <a:solidFill>
                  <a:srgbClr val="1E1A1A"/>
                </a:solidFill>
                <a:latin typeface="Calibri"/>
              </a:rPr>
              <a:t>4.   An app that writes a twelve-week marathon plan after three questions.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8A1C2B"/>
        </a:solidFill>
        <a:effectLst/>
      </p:bgPr>
    </p:bg>
    <p:spTree>
      <p:nvGrpSpPr>
        <p:cNvPr id="1" name=""/>
        <p:cNvGrpSpPr/>
        <p:nvPr/>
      </p:nvGrpSpPr>
      <p:grpSpPr>
        <a:xfrm>
          <a:off x="0" y="0"/>
          <a:ext cx="0" cy="0"/>
          <a:chOff x="0" y="0"/>
          <a:chExt cx="0" cy="0"/>
        </a:xfrm>
      </p:grpSpPr>
      <p:sp>
        <p:nvSpPr>
          <p:cNvPr id="2" name="TextBox 1"/>
          <p:cNvSpPr txBox="1"/>
          <p:nvPr/>
        </p:nvSpPr>
        <p:spPr>
          <a:xfrm>
            <a:off x="1143000" y="2377440"/>
            <a:ext cx="1828800" cy="1280160"/>
          </a:xfrm>
          <a:prstGeom prst="rect">
            <a:avLst/>
          </a:prstGeom>
          <a:noFill/>
        </p:spPr>
        <p:txBody>
          <a:bodyPr wrap="square" lIns="0" tIns="0" rIns="0" bIns="0" anchor="t">
            <a:spAutoFit/>
          </a:bodyPr>
          <a:lstStyle/>
          <a:p>
            <a:pPr algn="l">
              <a:lnSpc>
                <a:spcPct val="122000"/>
              </a:lnSpc>
              <a:spcBef>
                <a:spcPts val="0"/>
              </a:spcBef>
              <a:spcAft>
                <a:spcPts val="0"/>
              </a:spcAft>
            </a:pPr>
            <a:r>
              <a:rPr sz="7000" b="1" i="0">
                <a:solidFill>
                  <a:srgbClr val="E09AA2"/>
                </a:solidFill>
                <a:latin typeface="Georgia"/>
              </a:rPr>
              <a:t>4</a:t>
            </a:r>
          </a:p>
        </p:txBody>
      </p:sp>
      <p:sp>
        <p:nvSpPr>
          <p:cNvPr id="3" name="TextBox 2"/>
          <p:cNvSpPr txBox="1"/>
          <p:nvPr/>
        </p:nvSpPr>
        <p:spPr>
          <a:xfrm>
            <a:off x="2834640" y="2514600"/>
            <a:ext cx="8168335" cy="2011680"/>
          </a:xfrm>
          <a:prstGeom prst="rect">
            <a:avLst/>
          </a:prstGeom>
          <a:noFill/>
        </p:spPr>
        <p:txBody>
          <a:bodyPr wrap="square" lIns="0" tIns="0" rIns="0" bIns="0" anchor="t">
            <a:spAutoFit/>
          </a:bodyPr>
          <a:lstStyle/>
          <a:p>
            <a:pPr algn="l">
              <a:lnSpc>
                <a:spcPct val="110000"/>
              </a:lnSpc>
              <a:spcBef>
                <a:spcPts val="0"/>
              </a:spcBef>
              <a:spcAft>
                <a:spcPts val="600"/>
              </a:spcAft>
            </a:pPr>
            <a:r>
              <a:rPr sz="3600" b="1" i="0">
                <a:solidFill>
                  <a:srgbClr val="FFFFFF"/>
                </a:solidFill>
                <a:latin typeface="Georgia"/>
              </a:rPr>
              <a:t>Where AI shows up in sport</a:t>
            </a:r>
          </a:p>
          <a:p>
            <a:pPr algn="l">
              <a:lnSpc>
                <a:spcPct val="130000"/>
              </a:lnSpc>
              <a:spcBef>
                <a:spcPts val="800"/>
              </a:spcBef>
              <a:spcAft>
                <a:spcPts val="600"/>
              </a:spcAft>
            </a:pPr>
            <a:r>
              <a:rPr sz="1700" b="0" i="0">
                <a:solidFill>
                  <a:srgbClr val="EEC9CD"/>
                </a:solidFill>
                <a:latin typeface="Calibri"/>
              </a:rPr>
              <a:t>Six places, one honest limitation each</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LANDSCAPE</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Six domains you will meet</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777240" y="2057400"/>
          <a:ext cx="10637214" cy="2825496"/>
        </p:xfrm>
        <a:graphic>
          <a:graphicData uri="http://schemas.openxmlformats.org/drawingml/2006/table">
            <a:tbl>
              <a:tblPr firstRow="1" bandRow="1">
                <a:tableStyleId>{5C22544A-7EE6-4342-B048-85BDC9FD1C3A}</a:tableStyleId>
              </a:tblPr>
              <a:tblGrid>
                <a:gridCol w="2127443">
                  <a:extLst>
                    <a:ext uri="{9D8B030D-6E8A-4147-A177-3AD203B41FA5}">
                      <a16:colId xmlns:a16="http://schemas.microsoft.com/office/drawing/2014/main" val="20000"/>
                    </a:ext>
                  </a:extLst>
                </a:gridCol>
                <a:gridCol w="4467630">
                  <a:extLst>
                    <a:ext uri="{9D8B030D-6E8A-4147-A177-3AD203B41FA5}">
                      <a16:colId xmlns:a16="http://schemas.microsoft.com/office/drawing/2014/main" val="20001"/>
                    </a:ext>
                  </a:extLst>
                </a:gridCol>
                <a:gridCol w="4042141">
                  <a:extLst>
                    <a:ext uri="{9D8B030D-6E8A-4147-A177-3AD203B41FA5}">
                      <a16:colId xmlns:a16="http://schemas.microsoft.com/office/drawing/2014/main" val="20002"/>
                    </a:ext>
                  </a:extLst>
                </a:gridCol>
              </a:tblGrid>
              <a:tr h="403642">
                <a:tc>
                  <a:txBody>
                    <a:bodyPr/>
                    <a:lstStyle/>
                    <a:p>
                      <a:pPr algn="l">
                        <a:lnSpc>
                          <a:spcPct val="122000"/>
                        </a:lnSpc>
                        <a:spcBef>
                          <a:spcPts val="0"/>
                        </a:spcBef>
                        <a:spcAft>
                          <a:spcPts val="0"/>
                        </a:spcAft>
                      </a:pPr>
                      <a:r>
                        <a:rPr sz="1250" b="1" i="0">
                          <a:solidFill>
                            <a:srgbClr val="FFFFFF"/>
                          </a:solidFill>
                          <a:latin typeface="Calibri"/>
                        </a:rPr>
                        <a:t>Domain</a:t>
                      </a:r>
                    </a:p>
                  </a:txBody>
                  <a:tcPr marT="50292" marB="50292">
                    <a:solidFill>
                      <a:srgbClr val="8A1C2B"/>
                    </a:solidFill>
                  </a:tcPr>
                </a:tc>
                <a:tc>
                  <a:txBody>
                    <a:bodyPr/>
                    <a:lstStyle/>
                    <a:p>
                      <a:pPr algn="l">
                        <a:lnSpc>
                          <a:spcPct val="122000"/>
                        </a:lnSpc>
                        <a:spcBef>
                          <a:spcPts val="0"/>
                        </a:spcBef>
                        <a:spcAft>
                          <a:spcPts val="0"/>
                        </a:spcAft>
                      </a:pPr>
                      <a:r>
                        <a:rPr sz="1250" b="1" i="0">
                          <a:solidFill>
                            <a:srgbClr val="FFFFFF"/>
                          </a:solidFill>
                          <a:latin typeface="Calibri"/>
                        </a:rPr>
                        <a:t>What it does</a:t>
                      </a:r>
                    </a:p>
                  </a:txBody>
                  <a:tcPr marT="50292" marB="50292">
                    <a:solidFill>
                      <a:srgbClr val="8A1C2B"/>
                    </a:solidFill>
                  </a:tcPr>
                </a:tc>
                <a:tc>
                  <a:txBody>
                    <a:bodyPr/>
                    <a:lstStyle/>
                    <a:p>
                      <a:pPr algn="l">
                        <a:lnSpc>
                          <a:spcPct val="122000"/>
                        </a:lnSpc>
                        <a:spcBef>
                          <a:spcPts val="0"/>
                        </a:spcBef>
                        <a:spcAft>
                          <a:spcPts val="0"/>
                        </a:spcAft>
                      </a:pPr>
                      <a:r>
                        <a:rPr sz="1250" b="1" i="0">
                          <a:solidFill>
                            <a:srgbClr val="FFFFFF"/>
                          </a:solidFill>
                          <a:latin typeface="Calibri"/>
                        </a:rPr>
                        <a:t>What it is honestly bad at</a:t>
                      </a:r>
                    </a:p>
                  </a:txBody>
                  <a:tcPr marT="50292" marB="50292">
                    <a:solidFill>
                      <a:srgbClr val="8A1C2B"/>
                    </a:solidFill>
                  </a:tcPr>
                </a:tc>
                <a:extLst>
                  <a:ext uri="{0D108BD9-81ED-4DB2-BD59-A6C34878D82A}">
                    <a16:rowId xmlns:a16="http://schemas.microsoft.com/office/drawing/2014/main" val="10000"/>
                  </a:ext>
                </a:extLst>
              </a:tr>
              <a:tr h="403642">
                <a:tc>
                  <a:txBody>
                    <a:bodyPr/>
                    <a:lstStyle/>
                    <a:p>
                      <a:pPr algn="l">
                        <a:lnSpc>
                          <a:spcPct val="116000"/>
                        </a:lnSpc>
                        <a:spcBef>
                          <a:spcPts val="0"/>
                        </a:spcBef>
                        <a:spcAft>
                          <a:spcPts val="0"/>
                        </a:spcAft>
                      </a:pPr>
                      <a:r>
                        <a:rPr sz="1300" b="0" i="0">
                          <a:solidFill>
                            <a:srgbClr val="1E1A1A"/>
                          </a:solidFill>
                          <a:latin typeface="Calibri"/>
                        </a:rPr>
                        <a:t>Performance analysis</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Tags events in video; expected-goals models</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Anything the training data never saw</a:t>
                      </a:r>
                    </a:p>
                  </a:txBody>
                  <a:tcPr marT="50292" marB="50292">
                    <a:solidFill>
                      <a:srgbClr val="FFFFFF"/>
                    </a:solidFill>
                  </a:tcPr>
                </a:tc>
                <a:extLst>
                  <a:ext uri="{0D108BD9-81ED-4DB2-BD59-A6C34878D82A}">
                    <a16:rowId xmlns:a16="http://schemas.microsoft.com/office/drawing/2014/main" val="10001"/>
                  </a:ext>
                </a:extLst>
              </a:tr>
              <a:tr h="403642">
                <a:tc>
                  <a:txBody>
                    <a:bodyPr/>
                    <a:lstStyle/>
                    <a:p>
                      <a:pPr algn="l">
                        <a:lnSpc>
                          <a:spcPct val="116000"/>
                        </a:lnSpc>
                        <a:spcBef>
                          <a:spcPts val="0"/>
                        </a:spcBef>
                        <a:spcAft>
                          <a:spcPts val="0"/>
                        </a:spcAft>
                      </a:pPr>
                      <a:r>
                        <a:rPr sz="1300" b="0" i="0">
                          <a:solidFill>
                            <a:srgbClr val="1E1A1A"/>
                          </a:solidFill>
                          <a:latin typeface="Calibri"/>
                        </a:rPr>
                        <a:t>Athlete health</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Injury and illness risk flags</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Being right often enough to act on alone</a:t>
                      </a:r>
                    </a:p>
                  </a:txBody>
                  <a:tcPr marT="50292" marB="50292">
                    <a:solidFill>
                      <a:srgbClr val="F4F1ED"/>
                    </a:solidFill>
                  </a:tcPr>
                </a:tc>
                <a:extLst>
                  <a:ext uri="{0D108BD9-81ED-4DB2-BD59-A6C34878D82A}">
                    <a16:rowId xmlns:a16="http://schemas.microsoft.com/office/drawing/2014/main" val="10002"/>
                  </a:ext>
                </a:extLst>
              </a:tr>
              <a:tr h="403642">
                <a:tc>
                  <a:txBody>
                    <a:bodyPr/>
                    <a:lstStyle/>
                    <a:p>
                      <a:pPr algn="l">
                        <a:lnSpc>
                          <a:spcPct val="116000"/>
                        </a:lnSpc>
                        <a:spcBef>
                          <a:spcPts val="0"/>
                        </a:spcBef>
                        <a:spcAft>
                          <a:spcPts val="0"/>
                        </a:spcAft>
                      </a:pPr>
                      <a:r>
                        <a:rPr sz="1300" b="0" i="0">
                          <a:solidFill>
                            <a:srgbClr val="1E1A1A"/>
                          </a:solidFill>
                          <a:latin typeface="Calibri"/>
                        </a:rPr>
                        <a:t>Biomechanics</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Markerless motion capture from video</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Absolute angles; anything out of the camera plane</a:t>
                      </a:r>
                    </a:p>
                  </a:txBody>
                  <a:tcPr marT="50292" marB="50292">
                    <a:solidFill>
                      <a:srgbClr val="FFFFFF"/>
                    </a:solidFill>
                  </a:tcPr>
                </a:tc>
                <a:extLst>
                  <a:ext uri="{0D108BD9-81ED-4DB2-BD59-A6C34878D82A}">
                    <a16:rowId xmlns:a16="http://schemas.microsoft.com/office/drawing/2014/main" val="10003"/>
                  </a:ext>
                </a:extLst>
              </a:tr>
              <a:tr h="403642">
                <a:tc>
                  <a:txBody>
                    <a:bodyPr/>
                    <a:lstStyle/>
                    <a:p>
                      <a:pPr algn="l">
                        <a:lnSpc>
                          <a:spcPct val="116000"/>
                        </a:lnSpc>
                        <a:spcBef>
                          <a:spcPts val="0"/>
                        </a:spcBef>
                        <a:spcAft>
                          <a:spcPts val="0"/>
                        </a:spcAft>
                      </a:pPr>
                      <a:r>
                        <a:rPr sz="1300" b="0" i="0">
                          <a:solidFill>
                            <a:srgbClr val="1E1A1A"/>
                          </a:solidFill>
                          <a:latin typeface="Calibri"/>
                        </a:rPr>
                        <a:t>Tactics</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Player tracking, space and pressure models</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Explaining why, in a coach's language</a:t>
                      </a:r>
                    </a:p>
                  </a:txBody>
                  <a:tcPr marT="50292" marB="50292">
                    <a:solidFill>
                      <a:srgbClr val="F4F1ED"/>
                    </a:solidFill>
                  </a:tcPr>
                </a:tc>
                <a:extLst>
                  <a:ext uri="{0D108BD9-81ED-4DB2-BD59-A6C34878D82A}">
                    <a16:rowId xmlns:a16="http://schemas.microsoft.com/office/drawing/2014/main" val="10004"/>
                  </a:ext>
                </a:extLst>
              </a:tr>
              <a:tr h="403642">
                <a:tc>
                  <a:txBody>
                    <a:bodyPr/>
                    <a:lstStyle/>
                    <a:p>
                      <a:pPr algn="l">
                        <a:lnSpc>
                          <a:spcPct val="116000"/>
                        </a:lnSpc>
                        <a:spcBef>
                          <a:spcPts val="0"/>
                        </a:spcBef>
                        <a:spcAft>
                          <a:spcPts val="0"/>
                        </a:spcAft>
                      </a:pPr>
                      <a:r>
                        <a:rPr sz="1300" b="0" i="0" dirty="0">
                          <a:solidFill>
                            <a:srgbClr val="1E1A1A"/>
                          </a:solidFill>
                          <a:latin typeface="Calibri"/>
                        </a:rPr>
                        <a:t>Officiating</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Ball tracking, semi-automated offside</a:t>
                      </a:r>
                    </a:p>
                  </a:txBody>
                  <a:tcPr marT="50292" marB="50292">
                    <a:solidFill>
                      <a:srgbClr val="FFFFFF"/>
                    </a:solidFill>
                  </a:tcPr>
                </a:tc>
                <a:tc>
                  <a:txBody>
                    <a:bodyPr/>
                    <a:lstStyle/>
                    <a:p>
                      <a:pPr algn="l">
                        <a:lnSpc>
                          <a:spcPct val="116000"/>
                        </a:lnSpc>
                        <a:spcBef>
                          <a:spcPts val="0"/>
                        </a:spcBef>
                        <a:spcAft>
                          <a:spcPts val="0"/>
                        </a:spcAft>
                      </a:pPr>
                      <a:r>
                        <a:rPr sz="1300" b="0" i="0">
                          <a:solidFill>
                            <a:srgbClr val="1E1A1A"/>
                          </a:solidFill>
                          <a:latin typeface="Calibri"/>
                        </a:rPr>
                        <a:t>Judgement calls that were never geometric</a:t>
                      </a:r>
                    </a:p>
                  </a:txBody>
                  <a:tcPr marT="50292" marB="50292">
                    <a:solidFill>
                      <a:srgbClr val="FFFFFF"/>
                    </a:solidFill>
                  </a:tcPr>
                </a:tc>
                <a:extLst>
                  <a:ext uri="{0D108BD9-81ED-4DB2-BD59-A6C34878D82A}">
                    <a16:rowId xmlns:a16="http://schemas.microsoft.com/office/drawing/2014/main" val="10005"/>
                  </a:ext>
                </a:extLst>
              </a:tr>
              <a:tr h="403644">
                <a:tc>
                  <a:txBody>
                    <a:bodyPr/>
                    <a:lstStyle/>
                    <a:p>
                      <a:pPr algn="l">
                        <a:lnSpc>
                          <a:spcPct val="116000"/>
                        </a:lnSpc>
                        <a:spcBef>
                          <a:spcPts val="0"/>
                        </a:spcBef>
                        <a:spcAft>
                          <a:spcPts val="0"/>
                        </a:spcAft>
                      </a:pPr>
                      <a:r>
                        <a:rPr sz="1300" b="0" i="0">
                          <a:solidFill>
                            <a:srgbClr val="1E1A1A"/>
                          </a:solidFill>
                          <a:latin typeface="Calibri"/>
                        </a:rPr>
                        <a:t>Business and fans</a:t>
                      </a:r>
                    </a:p>
                  </a:txBody>
                  <a:tcPr marT="50292" marB="50292">
                    <a:solidFill>
                      <a:srgbClr val="F4F1ED"/>
                    </a:solidFill>
                  </a:tcPr>
                </a:tc>
                <a:tc>
                  <a:txBody>
                    <a:bodyPr/>
                    <a:lstStyle/>
                    <a:p>
                      <a:pPr algn="l">
                        <a:lnSpc>
                          <a:spcPct val="116000"/>
                        </a:lnSpc>
                        <a:spcBef>
                          <a:spcPts val="0"/>
                        </a:spcBef>
                        <a:spcAft>
                          <a:spcPts val="0"/>
                        </a:spcAft>
                      </a:pPr>
                      <a:r>
                        <a:rPr sz="1300" b="0" i="0">
                          <a:solidFill>
                            <a:srgbClr val="1E1A1A"/>
                          </a:solidFill>
                          <a:latin typeface="Calibri"/>
                        </a:rPr>
                        <a:t>Segmentation, pricing, content</a:t>
                      </a:r>
                    </a:p>
                  </a:txBody>
                  <a:tcPr marT="50292" marB="50292">
                    <a:solidFill>
                      <a:srgbClr val="F4F1ED"/>
                    </a:solidFill>
                  </a:tcPr>
                </a:tc>
                <a:tc>
                  <a:txBody>
                    <a:bodyPr/>
                    <a:lstStyle/>
                    <a:p>
                      <a:pPr algn="l">
                        <a:lnSpc>
                          <a:spcPct val="116000"/>
                        </a:lnSpc>
                        <a:spcBef>
                          <a:spcPts val="0"/>
                        </a:spcBef>
                        <a:spcAft>
                          <a:spcPts val="0"/>
                        </a:spcAft>
                      </a:pPr>
                      <a:r>
                        <a:rPr sz="1300" b="0" i="0" dirty="0">
                          <a:solidFill>
                            <a:srgbClr val="1E1A1A"/>
                          </a:solidFill>
                          <a:latin typeface="Calibri"/>
                        </a:rPr>
                        <a:t>Not being creepy about personal data</a:t>
                      </a:r>
                    </a:p>
                  </a:txBody>
                  <a:tcPr marT="50292" marB="50292">
                    <a:solidFill>
                      <a:srgbClr val="F4F1ED"/>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LANDSCAPE</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Two things that are true at the same time</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362895" cy="2470163"/>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This technology is genuinely useful.</a:t>
            </a:r>
            <a:r>
              <a:rPr lang="en-TR" sz="1850" b="0" i="0" dirty="0">
                <a:solidFill>
                  <a:srgbClr val="1E1A1A"/>
                </a:solidFill>
                <a:latin typeface="Calibri"/>
              </a:rPr>
              <a:t>"</a:t>
            </a:r>
            <a:r>
              <a:rPr sz="1850" b="0" i="0" dirty="0">
                <a:solidFill>
                  <a:srgbClr val="1E1A1A"/>
                </a:solidFill>
                <a:latin typeface="Calibri"/>
              </a:rPr>
              <a:t> Automated video tagging saves analysts entire days. </a:t>
            </a:r>
            <a:r>
              <a:rPr sz="1850" b="0" i="0" dirty="0" err="1">
                <a:solidFill>
                  <a:srgbClr val="1E1A1A"/>
                </a:solidFill>
                <a:latin typeface="Calibri"/>
              </a:rPr>
              <a:t>Markerless</a:t>
            </a:r>
            <a:r>
              <a:rPr sz="1850" b="0" i="0" dirty="0">
                <a:solidFill>
                  <a:srgbClr val="1E1A1A"/>
                </a:solidFill>
                <a:latin typeface="Calibri"/>
              </a:rPr>
              <a:t> capture puts movement screening in places that will never own a laboratory.</a:t>
            </a:r>
          </a:p>
          <a:p>
            <a:pPr algn="l">
              <a:lnSpc>
                <a:spcPct val="126000"/>
              </a:lnSpc>
              <a:spcBef>
                <a:spcPts val="700"/>
              </a:spcBef>
              <a:spcAft>
                <a:spcPts val="200"/>
              </a:spcAft>
            </a:pPr>
            <a:r>
              <a:rPr sz="1850" b="0" i="0" dirty="0">
                <a:solidFill>
                  <a:srgbClr val="1E1A1A"/>
                </a:solidFill>
                <a:latin typeface="Calibri"/>
              </a:rPr>
              <a:t>• </a:t>
            </a:r>
            <a:r>
              <a:rPr lang="tr-TR" sz="1850" b="0" i="0" dirty="0">
                <a:solidFill>
                  <a:srgbClr val="1E1A1A"/>
                </a:solidFill>
                <a:latin typeface="Calibri"/>
              </a:rPr>
              <a:t> </a:t>
            </a:r>
            <a:r>
              <a:rPr sz="1850" b="0" i="0" dirty="0">
                <a:solidFill>
                  <a:srgbClr val="1E1A1A"/>
                </a:solidFill>
                <a:latin typeface="Calibri"/>
              </a:rPr>
              <a:t>A published injury-prediction model, evaluated honestly, reaches about 0.73–0.77 on a scale where 0.5 is a coin flip. Marketing materials routinely claim 0.95.</a:t>
            </a:r>
          </a:p>
          <a:p>
            <a:pPr algn="l">
              <a:lnSpc>
                <a:spcPct val="126000"/>
              </a:lnSpc>
              <a:spcBef>
                <a:spcPts val="700"/>
              </a:spcBef>
              <a:spcAft>
                <a:spcPts val="200"/>
              </a:spcAft>
            </a:pPr>
            <a:r>
              <a:rPr sz="1850" b="0" i="0" dirty="0">
                <a:solidFill>
                  <a:srgbClr val="1E1A1A"/>
                </a:solidFill>
                <a:latin typeface="Calibri"/>
              </a:rPr>
              <a:t>•  Holding both of these at once is the professional skill. Enthusiasts miss the second. Cynics miss the first.</a:t>
            </a:r>
          </a:p>
          <a:p>
            <a:pPr algn="l">
              <a:lnSpc>
                <a:spcPct val="126000"/>
              </a:lnSpc>
              <a:spcBef>
                <a:spcPts val="900"/>
              </a:spcBef>
              <a:spcAft>
                <a:spcPts val="200"/>
              </a:spcAft>
            </a:pPr>
            <a:r>
              <a:rPr sz="1700" b="1" i="0" dirty="0">
                <a:solidFill>
                  <a:srgbClr val="8A1C2B"/>
                </a:solidFill>
                <a:latin typeface="Calibri"/>
              </a:rPr>
              <a:t>Your job is not to be for or against AI. It is to be able to tell which one you are looking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8A1C2B"/>
        </a:solidFill>
        <a:effectLst/>
      </p:bgPr>
    </p:bg>
    <p:spTree>
      <p:nvGrpSpPr>
        <p:cNvPr id="1" name=""/>
        <p:cNvGrpSpPr/>
        <p:nvPr/>
      </p:nvGrpSpPr>
      <p:grpSpPr>
        <a:xfrm>
          <a:off x="0" y="0"/>
          <a:ext cx="0" cy="0"/>
          <a:chOff x="0" y="0"/>
          <a:chExt cx="0" cy="0"/>
        </a:xfrm>
      </p:grpSpPr>
      <p:sp>
        <p:nvSpPr>
          <p:cNvPr id="2" name="TextBox 1"/>
          <p:cNvSpPr txBox="1"/>
          <p:nvPr/>
        </p:nvSpPr>
        <p:spPr>
          <a:xfrm>
            <a:off x="1143000" y="2377440"/>
            <a:ext cx="1828800" cy="1280160"/>
          </a:xfrm>
          <a:prstGeom prst="rect">
            <a:avLst/>
          </a:prstGeom>
          <a:noFill/>
        </p:spPr>
        <p:txBody>
          <a:bodyPr wrap="square" lIns="0" tIns="0" rIns="0" bIns="0" anchor="t">
            <a:spAutoFit/>
          </a:bodyPr>
          <a:lstStyle/>
          <a:p>
            <a:pPr algn="l">
              <a:lnSpc>
                <a:spcPct val="122000"/>
              </a:lnSpc>
              <a:spcBef>
                <a:spcPts val="0"/>
              </a:spcBef>
              <a:spcAft>
                <a:spcPts val="0"/>
              </a:spcAft>
            </a:pPr>
            <a:r>
              <a:rPr sz="7000" b="1" i="0">
                <a:solidFill>
                  <a:srgbClr val="E09AA2"/>
                </a:solidFill>
                <a:latin typeface="Georgia"/>
              </a:rPr>
              <a:t>5</a:t>
            </a:r>
          </a:p>
        </p:txBody>
      </p:sp>
      <p:sp>
        <p:nvSpPr>
          <p:cNvPr id="3" name="TextBox 2"/>
          <p:cNvSpPr txBox="1"/>
          <p:nvPr/>
        </p:nvSpPr>
        <p:spPr>
          <a:xfrm>
            <a:off x="2834640" y="2514600"/>
            <a:ext cx="8168335" cy="564001"/>
          </a:xfrm>
          <a:prstGeom prst="rect">
            <a:avLst/>
          </a:prstGeom>
          <a:noFill/>
        </p:spPr>
        <p:txBody>
          <a:bodyPr wrap="square" lIns="0" tIns="0" rIns="0" bIns="0" anchor="t">
            <a:spAutoFit/>
          </a:bodyPr>
          <a:lstStyle/>
          <a:p>
            <a:pPr algn="l">
              <a:lnSpc>
                <a:spcPct val="110000"/>
              </a:lnSpc>
              <a:spcBef>
                <a:spcPts val="0"/>
              </a:spcBef>
              <a:spcAft>
                <a:spcPts val="600"/>
              </a:spcAft>
            </a:pPr>
            <a:r>
              <a:rPr sz="3600" b="1" i="0" dirty="0">
                <a:solidFill>
                  <a:srgbClr val="FFFFFF"/>
                </a:solidFill>
                <a:latin typeface="Georgia"/>
              </a:rPr>
              <a:t>The three questions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THE THREE QUESTIONS</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Ask these of every system, forever</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362895" cy="1997983"/>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Q1 — What was the model trained on, and does my athlete look like that?</a:t>
            </a:r>
            <a:r>
              <a:rPr lang="en-TR" sz="1850" b="0" i="0" dirty="0">
                <a:solidFill>
                  <a:srgbClr val="1E1A1A"/>
                </a:solidFill>
                <a:latin typeface="Calibri"/>
              </a:rPr>
              <a:t>"</a:t>
            </a:r>
            <a:endParaRPr sz="1850" b="0" i="0" dirty="0">
              <a:solidFill>
                <a:srgbClr val="1E1A1A"/>
              </a:solidFill>
              <a:latin typeface="Calibri"/>
            </a:endParaRPr>
          </a:p>
          <a:p>
            <a:pPr algn="l">
              <a:lnSpc>
                <a:spcPct val="124000"/>
              </a:lnSpc>
              <a:spcBef>
                <a:spcPts val="200"/>
              </a:spcBef>
              <a:spcAft>
                <a:spcPts val="200"/>
              </a:spcAft>
            </a:pPr>
            <a:r>
              <a:rPr sz="1600" b="0" i="0" dirty="0">
                <a:solidFill>
                  <a:srgbClr val="57504D"/>
                </a:solidFill>
                <a:latin typeface="Calibri"/>
              </a:rPr>
              <a:t>     –  Built on senior male professionals? Then it has never met your U17 female squad.</a:t>
            </a:r>
          </a:p>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Q2 — How was it evaluated, and would that number survive an honest test?</a:t>
            </a:r>
            <a:r>
              <a:rPr lang="en-TR" sz="1850" b="0" i="0" dirty="0">
                <a:solidFill>
                  <a:srgbClr val="1E1A1A"/>
                </a:solidFill>
                <a:latin typeface="Calibri"/>
              </a:rPr>
              <a:t>"</a:t>
            </a:r>
            <a:endParaRPr sz="1850" b="0" i="0" dirty="0">
              <a:solidFill>
                <a:srgbClr val="1E1A1A"/>
              </a:solidFill>
              <a:latin typeface="Calibri"/>
            </a:endParaRPr>
          </a:p>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Q3 — What happens when it is wrong, and who is accountable?</a:t>
            </a:r>
            <a:r>
              <a:rPr lang="en-TR" sz="1850" b="0" i="0" dirty="0">
                <a:solidFill>
                  <a:srgbClr val="1E1A1A"/>
                </a:solidFill>
                <a:latin typeface="Calibri"/>
              </a:rPr>
              <a:t>"</a:t>
            </a:r>
            <a:endParaRPr sz="1850" b="0" i="0" dirty="0">
              <a:solidFill>
                <a:srgbClr val="1E1A1A"/>
              </a:solidFill>
              <a:latin typeface="Calibri"/>
            </a:endParaRPr>
          </a:p>
          <a:p>
            <a:pPr algn="l">
              <a:lnSpc>
                <a:spcPct val="124000"/>
              </a:lnSpc>
              <a:spcBef>
                <a:spcPts val="200"/>
              </a:spcBef>
              <a:spcAft>
                <a:spcPts val="200"/>
              </a:spcAft>
            </a:pPr>
            <a:r>
              <a:rPr sz="1600" b="0" i="0" dirty="0">
                <a:solidFill>
                  <a:srgbClr val="57504D"/>
                </a:solidFill>
                <a:latin typeface="Calibri"/>
              </a:rPr>
              <a:t>     –  A missed injury and a needless rest day are not the same size of mistake.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1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566928"/>
            <a:ext cx="10637215" cy="329184"/>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1B6470"/>
                </a:solidFill>
                <a:latin typeface="Calibri"/>
              </a:rPr>
              <a:t>DISCUSSION · WHOLE ROOM</a:t>
            </a:r>
          </a:p>
        </p:txBody>
      </p:sp>
      <p:sp>
        <p:nvSpPr>
          <p:cNvPr id="4" name="TextBox 3"/>
          <p:cNvSpPr txBox="1"/>
          <p:nvPr/>
        </p:nvSpPr>
        <p:spPr>
          <a:xfrm>
            <a:off x="777240" y="960120"/>
            <a:ext cx="10271455" cy="1005840"/>
          </a:xfrm>
          <a:prstGeom prst="rect">
            <a:avLst/>
          </a:prstGeom>
          <a:noFill/>
        </p:spPr>
        <p:txBody>
          <a:bodyPr wrap="square" lIns="0" tIns="0" rIns="0" bIns="0" anchor="t">
            <a:spAutoFit/>
          </a:bodyPr>
          <a:lstStyle/>
          <a:p>
            <a:pPr algn="l">
              <a:lnSpc>
                <a:spcPct val="110000"/>
              </a:lnSpc>
              <a:spcBef>
                <a:spcPts val="0"/>
              </a:spcBef>
              <a:spcAft>
                <a:spcPts val="0"/>
              </a:spcAft>
            </a:pPr>
            <a:r>
              <a:rPr sz="2800" b="1" i="0">
                <a:solidFill>
                  <a:srgbClr val="1E1A1A"/>
                </a:solidFill>
                <a:latin typeface="Georgia"/>
              </a:rPr>
              <a:t>Apply them to the demo</a:t>
            </a:r>
          </a:p>
        </p:txBody>
      </p:sp>
      <p:sp>
        <p:nvSpPr>
          <p:cNvPr id="5" name="TextBox 4"/>
          <p:cNvSpPr txBox="1"/>
          <p:nvPr/>
        </p:nvSpPr>
        <p:spPr>
          <a:xfrm>
            <a:off x="777240" y="2148840"/>
            <a:ext cx="10180015" cy="4114800"/>
          </a:xfrm>
          <a:prstGeom prst="rect">
            <a:avLst/>
          </a:prstGeom>
          <a:noFill/>
        </p:spPr>
        <p:txBody>
          <a:bodyPr wrap="square" lIns="0" tIns="0" rIns="0" bIns="0" anchor="t">
            <a:spAutoFit/>
          </a:bodyPr>
          <a:lstStyle/>
          <a:p>
            <a:pPr algn="l">
              <a:lnSpc>
                <a:spcPct val="130000"/>
              </a:lnSpc>
              <a:spcBef>
                <a:spcPts val="1200"/>
              </a:spcBef>
              <a:spcAft>
                <a:spcPts val="300"/>
              </a:spcAft>
            </a:pPr>
            <a:r>
              <a:rPr sz="1900" b="0" i="0">
                <a:solidFill>
                  <a:srgbClr val="1E1A1A"/>
                </a:solidFill>
                <a:latin typeface="Calibri"/>
              </a:rPr>
              <a:t>1.   The pose system in the demo: what kind of people do you think it was built from?</a:t>
            </a:r>
          </a:p>
          <a:p>
            <a:pPr algn="l">
              <a:lnSpc>
                <a:spcPct val="130000"/>
              </a:lnSpc>
              <a:spcBef>
                <a:spcPts val="1200"/>
              </a:spcBef>
              <a:spcAft>
                <a:spcPts val="300"/>
              </a:spcAft>
            </a:pPr>
            <a:r>
              <a:rPr sz="1900" b="0" i="0">
                <a:solidFill>
                  <a:srgbClr val="1E1A1A"/>
                </a:solidFill>
                <a:latin typeface="Calibri"/>
              </a:rPr>
              <a:t>2.   How would you find out whether the knee angle it drew is correct?</a:t>
            </a:r>
          </a:p>
          <a:p>
            <a:pPr algn="l">
              <a:lnSpc>
                <a:spcPct val="130000"/>
              </a:lnSpc>
              <a:spcBef>
                <a:spcPts val="1200"/>
              </a:spcBef>
              <a:spcAft>
                <a:spcPts val="300"/>
              </a:spcAft>
            </a:pPr>
            <a:r>
              <a:rPr sz="1900" b="0" i="0">
                <a:solidFill>
                  <a:srgbClr val="1E1A1A"/>
                </a:solidFill>
                <a:latin typeface="Calibri"/>
              </a:rPr>
              <a:t>3.   If it is 8 degrees wrong and a physiotherapist believes it, what happens next?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4F0F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685800"/>
            <a:ext cx="10637215" cy="365760"/>
          </a:xfrm>
          <a:prstGeom prst="rect">
            <a:avLst/>
          </a:prstGeom>
          <a:noFill/>
        </p:spPr>
        <p:txBody>
          <a:bodyPr wrap="square" lIns="0" tIns="0" rIns="0" bIns="0" anchor="t">
            <a:spAutoFit/>
          </a:bodyPr>
          <a:lstStyle/>
          <a:p>
            <a:pPr algn="l">
              <a:lnSpc>
                <a:spcPct val="122000"/>
              </a:lnSpc>
              <a:spcBef>
                <a:spcPts val="0"/>
              </a:spcBef>
              <a:spcAft>
                <a:spcPts val="0"/>
              </a:spcAft>
            </a:pPr>
            <a:r>
              <a:rPr sz="1200" b="1" i="0">
                <a:solidFill>
                  <a:srgbClr val="1B6470"/>
                </a:solidFill>
                <a:latin typeface="Calibri"/>
              </a:rPr>
              <a:t>LABORATORY · THIS SESSION</a:t>
            </a:r>
          </a:p>
        </p:txBody>
      </p:sp>
      <p:sp>
        <p:nvSpPr>
          <p:cNvPr id="4" name="TextBox 3"/>
          <p:cNvSpPr txBox="1"/>
          <p:nvPr/>
        </p:nvSpPr>
        <p:spPr>
          <a:xfrm>
            <a:off x="777240" y="1097280"/>
            <a:ext cx="10180015" cy="914400"/>
          </a:xfrm>
          <a:prstGeom prst="rect">
            <a:avLst/>
          </a:prstGeom>
          <a:noFill/>
        </p:spPr>
        <p:txBody>
          <a:bodyPr wrap="square" lIns="0" tIns="0" rIns="0" bIns="0" anchor="t">
            <a:spAutoFit/>
          </a:bodyPr>
          <a:lstStyle/>
          <a:p>
            <a:pPr algn="l">
              <a:lnSpc>
                <a:spcPct val="110000"/>
              </a:lnSpc>
              <a:spcBef>
                <a:spcPts val="0"/>
              </a:spcBef>
              <a:spcAft>
                <a:spcPts val="0"/>
              </a:spcAft>
            </a:pPr>
            <a:r>
              <a:rPr sz="3200" b="1" i="0">
                <a:solidFill>
                  <a:srgbClr val="1E1A1A"/>
                </a:solidFill>
                <a:latin typeface="Georgia"/>
              </a:rPr>
              <a:t>Lab 1 — Welcome to Google Colab</a:t>
            </a:r>
          </a:p>
        </p:txBody>
      </p:sp>
      <p:sp>
        <p:nvSpPr>
          <p:cNvPr id="5" name="TextBox 4"/>
          <p:cNvSpPr txBox="1"/>
          <p:nvPr/>
        </p:nvSpPr>
        <p:spPr>
          <a:xfrm>
            <a:off x="777240" y="2148840"/>
            <a:ext cx="10180015" cy="1588192"/>
          </a:xfrm>
          <a:prstGeom prst="rect">
            <a:avLst/>
          </a:prstGeom>
          <a:noFill/>
        </p:spPr>
        <p:txBody>
          <a:bodyPr wrap="square" lIns="0" tIns="0" rIns="0" bIns="0" anchor="t">
            <a:spAutoFit/>
          </a:bodyPr>
          <a:lstStyle/>
          <a:p>
            <a:pPr algn="l">
              <a:lnSpc>
                <a:spcPct val="126000"/>
              </a:lnSpc>
              <a:spcBef>
                <a:spcPts val="800"/>
              </a:spcBef>
              <a:spcAft>
                <a:spcPts val="200"/>
              </a:spcAft>
            </a:pPr>
            <a:r>
              <a:rPr sz="1750" b="0" i="0" dirty="0">
                <a:solidFill>
                  <a:srgbClr val="1E1A1A"/>
                </a:solidFill>
                <a:latin typeface="Calibri"/>
              </a:rPr>
              <a:t>•  Everything runs in a browser tab. Nothing is installed. It is free.</a:t>
            </a:r>
          </a:p>
          <a:p>
            <a:pPr algn="l">
              <a:lnSpc>
                <a:spcPct val="126000"/>
              </a:lnSpc>
              <a:spcBef>
                <a:spcPts val="800"/>
              </a:spcBef>
              <a:spcAft>
                <a:spcPts val="200"/>
              </a:spcAft>
            </a:pPr>
            <a:r>
              <a:rPr sz="1750" b="0" i="0" dirty="0">
                <a:solidFill>
                  <a:srgbClr val="1E1A1A"/>
                </a:solidFill>
                <a:latin typeface="Calibri"/>
              </a:rPr>
              <a:t>•  You will open a notebook, run it, and see a table of twelve athletes.</a:t>
            </a:r>
          </a:p>
          <a:p>
            <a:pPr algn="l">
              <a:lnSpc>
                <a:spcPct val="126000"/>
              </a:lnSpc>
              <a:spcBef>
                <a:spcPts val="800"/>
              </a:spcBef>
              <a:spcAft>
                <a:spcPts val="200"/>
              </a:spcAft>
            </a:pPr>
            <a:r>
              <a:rPr sz="1750" b="0" i="0" dirty="0">
                <a:solidFill>
                  <a:srgbClr val="1E1A1A"/>
                </a:solidFill>
                <a:latin typeface="Calibri"/>
              </a:rPr>
              <a:t>•  You will make one figure, then add a single typing error to the data and watch the correlation collapse from −0.99 to −0.45.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HOUSEKEEPING</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Using AI tools in this course</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271455" cy="731520"/>
          </a:xfrm>
          <a:prstGeom prst="rect">
            <a:avLst/>
          </a:prstGeom>
          <a:noFill/>
        </p:spPr>
        <p:txBody>
          <a:bodyPr wrap="square" lIns="0" tIns="0" rIns="0" bIns="0" anchor="t">
            <a:spAutoFit/>
          </a:bodyPr>
          <a:lstStyle/>
          <a:p>
            <a:pPr algn="l">
              <a:lnSpc>
                <a:spcPct val="130000"/>
              </a:lnSpc>
              <a:spcBef>
                <a:spcPts val="0"/>
              </a:spcBef>
              <a:spcAft>
                <a:spcPts val="0"/>
              </a:spcAft>
            </a:pPr>
            <a:r>
              <a:rPr sz="1800" b="0" i="1">
                <a:solidFill>
                  <a:srgbClr val="57504D"/>
                </a:solidFill>
                <a:latin typeface="Calibri"/>
              </a:rPr>
              <a:t>You are expected to use ChatGPT, Claude or Gemini. That is part of the subject.</a:t>
            </a:r>
          </a:p>
        </p:txBody>
      </p:sp>
      <p:sp>
        <p:nvSpPr>
          <p:cNvPr id="6" name="TextBox 5"/>
          <p:cNvSpPr txBox="1"/>
          <p:nvPr/>
        </p:nvSpPr>
        <p:spPr>
          <a:xfrm>
            <a:off x="777240" y="2578608"/>
            <a:ext cx="10362895" cy="2112694"/>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Every submission carries an </a:t>
            </a:r>
            <a:r>
              <a:rPr lang="en-TR" sz="1850" b="0" i="0" dirty="0">
                <a:solidFill>
                  <a:srgbClr val="1E1A1A"/>
                </a:solidFill>
                <a:latin typeface="Calibri"/>
              </a:rPr>
              <a:t>"</a:t>
            </a:r>
            <a:r>
              <a:rPr sz="1850" b="0" i="0" dirty="0">
                <a:solidFill>
                  <a:srgbClr val="1E1A1A"/>
                </a:solidFill>
                <a:latin typeface="Calibri"/>
              </a:rPr>
              <a:t>AI Use Log</a:t>
            </a:r>
            <a:r>
              <a:rPr lang="en-TR" sz="1850" b="0" i="0" dirty="0">
                <a:solidFill>
                  <a:srgbClr val="1E1A1A"/>
                </a:solidFill>
                <a:latin typeface="Calibri"/>
              </a:rPr>
              <a:t>"</a:t>
            </a:r>
            <a:r>
              <a:rPr sz="1850" b="0" i="0" dirty="0">
                <a:solidFill>
                  <a:srgbClr val="1E1A1A"/>
                </a:solidFill>
                <a:latin typeface="Calibri"/>
              </a:rPr>
              <a:t>: which tool, what you asked, what it produced, and what you changed or rejected.</a:t>
            </a:r>
          </a:p>
          <a:p>
            <a:pPr algn="l">
              <a:lnSpc>
                <a:spcPct val="126000"/>
              </a:lnSpc>
              <a:spcBef>
                <a:spcPts val="700"/>
              </a:spcBef>
              <a:spcAft>
                <a:spcPts val="200"/>
              </a:spcAft>
            </a:pPr>
            <a:r>
              <a:rPr sz="1850" b="0" i="0" dirty="0">
                <a:solidFill>
                  <a:srgbClr val="1E1A1A"/>
                </a:solidFill>
                <a:latin typeface="Calibri"/>
              </a:rPr>
              <a:t>•  What you rejected tells me more about your judgement than what you kept.</a:t>
            </a:r>
          </a:p>
          <a:p>
            <a:pPr algn="l">
              <a:lnSpc>
                <a:spcPct val="126000"/>
              </a:lnSpc>
              <a:spcBef>
                <a:spcPts val="700"/>
              </a:spcBef>
              <a:spcAft>
                <a:spcPts val="200"/>
              </a:spcAft>
            </a:pPr>
            <a:r>
              <a:rPr sz="1850" b="0" i="0" dirty="0">
                <a:solidFill>
                  <a:srgbClr val="1E1A1A"/>
                </a:solidFill>
                <a:latin typeface="Calibri"/>
              </a:rPr>
              <a:t>•  You own every claim in your work. 'The model said so' is not a </a:t>
            </a:r>
            <a:r>
              <a:rPr sz="1850" b="0" i="0" dirty="0" err="1">
                <a:solidFill>
                  <a:srgbClr val="1E1A1A"/>
                </a:solidFill>
                <a:latin typeface="Calibri"/>
              </a:rPr>
              <a:t>defence</a:t>
            </a:r>
            <a:r>
              <a:rPr sz="1850" b="0" i="0" dirty="0">
                <a:solidFill>
                  <a:srgbClr val="1E1A1A"/>
                </a:solidFill>
                <a:latin typeface="Calibri"/>
              </a:rPr>
              <a:t> for a wrong number.</a:t>
            </a:r>
          </a:p>
          <a:p>
            <a:pPr algn="l">
              <a:lnSpc>
                <a:spcPct val="126000"/>
              </a:lnSpc>
              <a:spcBef>
                <a:spcPts val="700"/>
              </a:spcBef>
              <a:spcAft>
                <a:spcPts val="200"/>
              </a:spcAft>
            </a:pPr>
            <a:r>
              <a:rPr sz="1850" b="0" i="0" dirty="0">
                <a:solidFill>
                  <a:srgbClr val="1E1A1A"/>
                </a:solidFill>
                <a:latin typeface="Calibri"/>
              </a:rPr>
              <a:t>•  A fabricated citation is treated as a fabricated source: minus fifteen points and a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E1A1A"/>
        </a:solidFill>
        <a:effectLst/>
      </p:bgPr>
    </p:bg>
    <p:spTree>
      <p:nvGrpSpPr>
        <p:cNvPr id="1" name=""/>
        <p:cNvGrpSpPr/>
        <p:nvPr/>
      </p:nvGrpSpPr>
      <p:grpSpPr>
        <a:xfrm>
          <a:off x="0" y="0"/>
          <a:ext cx="0" cy="0"/>
          <a:chOff x="0" y="0"/>
          <a:chExt cx="0" cy="0"/>
        </a:xfrm>
      </p:grpSpPr>
      <p:sp>
        <p:nvSpPr>
          <p:cNvPr id="2" name="TextBox 1"/>
          <p:cNvSpPr txBox="1"/>
          <p:nvPr/>
        </p:nvSpPr>
        <p:spPr>
          <a:xfrm>
            <a:off x="777240" y="621792"/>
            <a:ext cx="10637215" cy="822960"/>
          </a:xfrm>
          <a:prstGeom prst="rect">
            <a:avLst/>
          </a:prstGeom>
          <a:noFill/>
        </p:spPr>
        <p:txBody>
          <a:bodyPr wrap="square" lIns="0" tIns="0" rIns="0" bIns="0" anchor="t">
            <a:spAutoFit/>
          </a:bodyPr>
          <a:lstStyle/>
          <a:p>
            <a:pPr algn="l">
              <a:lnSpc>
                <a:spcPct val="112000"/>
              </a:lnSpc>
              <a:spcBef>
                <a:spcPts val="0"/>
              </a:spcBef>
              <a:spcAft>
                <a:spcPts val="0"/>
              </a:spcAft>
            </a:pPr>
            <a:r>
              <a:rPr sz="3200" b="1" i="0">
                <a:solidFill>
                  <a:srgbClr val="FCFBF9"/>
                </a:solidFill>
                <a:latin typeface="Georgia"/>
              </a:rPr>
              <a:t>What to take away from today</a:t>
            </a:r>
          </a:p>
        </p:txBody>
      </p:sp>
      <p:sp>
        <p:nvSpPr>
          <p:cNvPr id="3" name="Rectangle 2"/>
          <p:cNvSpPr/>
          <p:nvPr/>
        </p:nvSpPr>
        <p:spPr>
          <a:xfrm>
            <a:off x="777240" y="1591056"/>
            <a:ext cx="1371600" cy="32004"/>
          </a:xfrm>
          <a:prstGeom prst="rect">
            <a:avLst/>
          </a:prstGeom>
          <a:solidFill>
            <a:srgbClr val="E58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920240"/>
            <a:ext cx="10180015" cy="4581144"/>
          </a:xfrm>
          <a:prstGeom prst="rect">
            <a:avLst/>
          </a:prstGeom>
          <a:noFill/>
        </p:spPr>
        <p:txBody>
          <a:bodyPr wrap="square" lIns="0" tIns="0" rIns="0" bIns="0" anchor="t">
            <a:spAutoFit/>
          </a:bodyPr>
          <a:lstStyle/>
          <a:p>
            <a:pPr algn="l">
              <a:lnSpc>
                <a:spcPct val="128000"/>
              </a:lnSpc>
              <a:spcBef>
                <a:spcPts val="1300"/>
              </a:spcBef>
              <a:spcAft>
                <a:spcPts val="200"/>
              </a:spcAft>
            </a:pPr>
            <a:r>
              <a:rPr sz="1900" b="0" i="0">
                <a:solidFill>
                  <a:srgbClr val="FCFBF9"/>
                </a:solidFill>
                <a:latin typeface="Calibri"/>
              </a:rPr>
              <a:t>1.   AI is a goal, not a method. 'Uses AI' tells you almost nothing — ask which kind, and how it was built.</a:t>
            </a:r>
          </a:p>
          <a:p>
            <a:pPr algn="l">
              <a:lnSpc>
                <a:spcPct val="128000"/>
              </a:lnSpc>
              <a:spcBef>
                <a:spcPts val="1300"/>
              </a:spcBef>
              <a:spcAft>
                <a:spcPts val="200"/>
              </a:spcAft>
            </a:pPr>
            <a:r>
              <a:rPr sz="1900" b="0" i="0">
                <a:solidFill>
                  <a:srgbClr val="FCFBF9"/>
                </a:solidFill>
                <a:latin typeface="Calibri"/>
              </a:rPr>
              <a:t>2.   Machine learning is one idea: stop writing the rules, start supplying examples. Everything else is detail.</a:t>
            </a:r>
          </a:p>
          <a:p>
            <a:pPr algn="l">
              <a:lnSpc>
                <a:spcPct val="128000"/>
              </a:lnSpc>
              <a:spcBef>
                <a:spcPts val="1300"/>
              </a:spcBef>
              <a:spcAft>
                <a:spcPts val="200"/>
              </a:spcAft>
            </a:pPr>
            <a:r>
              <a:rPr sz="1900" b="0" i="0">
                <a:solidFill>
                  <a:srgbClr val="FCFBF9"/>
                </a:solidFill>
                <a:latin typeface="Calibri"/>
              </a:rPr>
              <a:t>3.   The technology is genuinely useful AND most of what is sold is oversold. Both, at once.</a:t>
            </a:r>
          </a:p>
          <a:p>
            <a:pPr algn="l">
              <a:lnSpc>
                <a:spcPct val="128000"/>
              </a:lnSpc>
              <a:spcBef>
                <a:spcPts val="1300"/>
              </a:spcBef>
              <a:spcAft>
                <a:spcPts val="200"/>
              </a:spcAft>
            </a:pPr>
            <a:r>
              <a:rPr sz="1900" b="0" i="0">
                <a:solidFill>
                  <a:srgbClr val="FCFBF9"/>
                </a:solidFill>
                <a:latin typeface="Calibri"/>
              </a:rPr>
              <a:t>4.   Three questions, on the card, for the rest of your life: trained on what · evaluated how · wrong how badly, and who pays.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BF9"/>
        </a:solidFill>
        <a:effectLst/>
      </p:bgPr>
    </p:bg>
    <p:spTree>
      <p:nvGrpSpPr>
        <p:cNvPr id="1" name=""/>
        <p:cNvGrpSpPr/>
        <p:nvPr/>
      </p:nvGrpSpPr>
      <p:grpSpPr>
        <a:xfrm>
          <a:off x="0" y="0"/>
          <a:ext cx="0" cy="0"/>
          <a:chOff x="0" y="0"/>
          <a:chExt cx="0" cy="0"/>
        </a:xfrm>
      </p:grpSpPr>
      <p:sp>
        <p:nvSpPr>
          <p:cNvPr id="2" name="TextBox 1"/>
          <p:cNvSpPr txBox="1"/>
          <p:nvPr/>
        </p:nvSpPr>
        <p:spPr>
          <a:xfrm>
            <a:off x="777240" y="475488"/>
            <a:ext cx="10637215" cy="310896"/>
          </a:xfrm>
          <a:prstGeom prst="rect">
            <a:avLst/>
          </a:prstGeom>
          <a:noFill/>
        </p:spPr>
        <p:txBody>
          <a:bodyPr wrap="square" lIns="0" tIns="0" rIns="0" bIns="0" anchor="t">
            <a:spAutoFit/>
          </a:bodyPr>
          <a:lstStyle/>
          <a:p>
            <a:pPr algn="l">
              <a:lnSpc>
                <a:spcPct val="122000"/>
              </a:lnSpc>
              <a:spcBef>
                <a:spcPts val="0"/>
              </a:spcBef>
              <a:spcAft>
                <a:spcPts val="0"/>
              </a:spcAft>
            </a:pPr>
            <a:r>
              <a:rPr sz="1150" b="1" i="0">
                <a:solidFill>
                  <a:srgbClr val="8A1C2B"/>
                </a:solidFill>
                <a:latin typeface="Calibri"/>
              </a:rPr>
              <a:t>WEEK 1 · NEXT</a:t>
            </a:r>
          </a:p>
        </p:txBody>
      </p:sp>
      <p:sp>
        <p:nvSpPr>
          <p:cNvPr id="3" name="TextBox 2"/>
          <p:cNvSpPr txBox="1"/>
          <p:nvPr/>
        </p:nvSpPr>
        <p:spPr>
          <a:xfrm>
            <a:off x="777240" y="841248"/>
            <a:ext cx="10637215" cy="914400"/>
          </a:xfrm>
          <a:prstGeom prst="rect">
            <a:avLst/>
          </a:prstGeom>
          <a:noFill/>
        </p:spPr>
        <p:txBody>
          <a:bodyPr wrap="square" lIns="0" tIns="0" rIns="0" bIns="0" anchor="t">
            <a:spAutoFit/>
          </a:bodyPr>
          <a:lstStyle/>
          <a:p>
            <a:pPr algn="l">
              <a:lnSpc>
                <a:spcPct val="108000"/>
              </a:lnSpc>
              <a:spcBef>
                <a:spcPts val="0"/>
              </a:spcBef>
              <a:spcAft>
                <a:spcPts val="0"/>
              </a:spcAft>
            </a:pPr>
            <a:r>
              <a:rPr sz="2900" b="1" i="0">
                <a:solidFill>
                  <a:srgbClr val="1E1A1A"/>
                </a:solidFill>
                <a:latin typeface="Georgia"/>
              </a:rPr>
              <a:t>Before next week</a:t>
            </a:r>
          </a:p>
        </p:txBody>
      </p:sp>
      <p:sp>
        <p:nvSpPr>
          <p:cNvPr id="4" name="Rectangle 3"/>
          <p:cNvSpPr/>
          <p:nvPr/>
        </p:nvSpPr>
        <p:spPr>
          <a:xfrm>
            <a:off x="777240" y="1700784"/>
            <a:ext cx="1371600" cy="32004"/>
          </a:xfrm>
          <a:prstGeom prst="rect">
            <a:avLst/>
          </a:prstGeom>
          <a:solidFill>
            <a:srgbClr val="8A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975104"/>
            <a:ext cx="10362895" cy="3893695"/>
          </a:xfrm>
          <a:prstGeom prst="rect">
            <a:avLst/>
          </a:prstGeom>
          <a:noFill/>
        </p:spPr>
        <p:txBody>
          <a:bodyPr wrap="square" lIns="0" tIns="0" rIns="0" bIns="0" anchor="t">
            <a:spAutoFit/>
          </a:bodyPr>
          <a:lstStyle/>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lang="tr-TR" sz="1850" b="0" i="0" dirty="0" err="1">
                <a:solidFill>
                  <a:srgbClr val="1E1A1A"/>
                </a:solidFill>
                <a:latin typeface="Calibri"/>
              </a:rPr>
              <a:t>Study</a:t>
            </a:r>
            <a:r>
              <a:rPr sz="1850" b="0" i="0" dirty="0">
                <a:solidFill>
                  <a:srgbClr val="1E1A1A"/>
                </a:solidFill>
                <a:latin typeface="Calibri"/>
              </a:rPr>
              <a:t> Lab 1</a:t>
            </a:r>
            <a:r>
              <a:rPr lang="en-TR" sz="1850" b="0" i="0" dirty="0">
                <a:solidFill>
                  <a:srgbClr val="1E1A1A"/>
                </a:solidFill>
                <a:latin typeface="Calibri"/>
              </a:rPr>
              <a:t>"</a:t>
            </a:r>
            <a:r>
              <a:rPr sz="1850" b="0" i="0" dirty="0">
                <a:solidFill>
                  <a:srgbClr val="1E1A1A"/>
                </a:solidFill>
                <a:latin typeface="Calibri"/>
              </a:rPr>
              <a:t> </a:t>
            </a:r>
            <a:endParaRPr lang="tr-TR" sz="1850" b="0" i="0" dirty="0">
              <a:solidFill>
                <a:srgbClr val="1E1A1A"/>
              </a:solidFill>
              <a:latin typeface="Calibri"/>
            </a:endParaRPr>
          </a:p>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Read</a:t>
            </a:r>
            <a:r>
              <a:rPr lang="en-TR" sz="1850" b="0" i="0" dirty="0">
                <a:solidFill>
                  <a:srgbClr val="1E1A1A"/>
                </a:solidFill>
                <a:latin typeface="Calibri"/>
              </a:rPr>
              <a:t>"</a:t>
            </a:r>
            <a:r>
              <a:rPr sz="1850" b="0" i="0" dirty="0">
                <a:solidFill>
                  <a:srgbClr val="1E1A1A"/>
                </a:solidFill>
                <a:latin typeface="Calibri"/>
              </a:rPr>
              <a:t>: 'AI and Machine Learning in Sport Research: An Introduction for Non-data Scientists', *Frontiers in Sports and Active Living* (2021). Open access, about fifteen pages. Read the three learning-type sections.</a:t>
            </a:r>
          </a:p>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Set up</a:t>
            </a:r>
            <a:r>
              <a:rPr lang="en-TR" sz="1850" b="0" i="0" dirty="0">
                <a:solidFill>
                  <a:srgbClr val="1E1A1A"/>
                </a:solidFill>
                <a:latin typeface="Calibri"/>
              </a:rPr>
              <a:t>"</a:t>
            </a:r>
            <a:r>
              <a:rPr sz="1850" b="0" i="0" dirty="0">
                <a:solidFill>
                  <a:srgbClr val="1E1A1A"/>
                </a:solidFill>
                <a:latin typeface="Calibri"/>
              </a:rPr>
              <a:t>: a free account on </a:t>
            </a:r>
            <a:r>
              <a:rPr sz="1850" b="0" i="0" dirty="0" err="1">
                <a:solidFill>
                  <a:srgbClr val="1E1A1A"/>
                </a:solidFill>
                <a:latin typeface="Calibri"/>
              </a:rPr>
              <a:t>ChatGPT</a:t>
            </a:r>
            <a:r>
              <a:rPr sz="1850" b="0" i="0" dirty="0">
                <a:solidFill>
                  <a:srgbClr val="1E1A1A"/>
                </a:solidFill>
                <a:latin typeface="Calibri"/>
              </a:rPr>
              <a:t>, Claude or Gemini. Bring your laptop with it logged in.</a:t>
            </a:r>
          </a:p>
          <a:p>
            <a:pPr algn="l">
              <a:lnSpc>
                <a:spcPct val="126000"/>
              </a:lnSpc>
              <a:spcBef>
                <a:spcPts val="700"/>
              </a:spcBef>
              <a:spcAft>
                <a:spcPts val="200"/>
              </a:spcAft>
            </a:pPr>
            <a:r>
              <a:rPr sz="1850" b="0" i="0" dirty="0">
                <a:solidFill>
                  <a:srgbClr val="1E1A1A"/>
                </a:solidFill>
                <a:latin typeface="Calibri"/>
              </a:rPr>
              <a:t>•  </a:t>
            </a:r>
            <a:r>
              <a:rPr lang="en-TR" sz="1850" b="0" i="0" dirty="0">
                <a:solidFill>
                  <a:srgbClr val="1E1A1A"/>
                </a:solidFill>
                <a:latin typeface="Calibri"/>
              </a:rPr>
              <a:t>"</a:t>
            </a:r>
            <a:r>
              <a:rPr sz="1850" b="0" i="0" dirty="0">
                <a:solidFill>
                  <a:srgbClr val="1E1A1A"/>
                </a:solidFill>
                <a:latin typeface="Calibri"/>
              </a:rPr>
              <a:t>Next week</a:t>
            </a:r>
            <a:r>
              <a:rPr lang="en-TR" sz="1850" b="0" i="0" dirty="0">
                <a:solidFill>
                  <a:srgbClr val="1E1A1A"/>
                </a:solidFill>
                <a:latin typeface="Calibri"/>
              </a:rPr>
              <a:t>"</a:t>
            </a:r>
            <a:r>
              <a:rPr sz="1850" b="0" i="0" dirty="0">
                <a:solidFill>
                  <a:srgbClr val="1E1A1A"/>
                </a:solidFill>
                <a:latin typeface="Calibri"/>
              </a:rPr>
              <a:t>: large language models — what they actually do, why they make things up, and how to get one to write your analysis code for you.</a:t>
            </a:r>
            <a:endParaRPr lang="en-TR" sz="1850" b="0" i="0" dirty="0">
              <a:solidFill>
                <a:srgbClr val="1E1A1A"/>
              </a:solidFill>
              <a:latin typeface="Calibri"/>
            </a:endParaRPr>
          </a:p>
          <a:p>
            <a:pPr algn="l">
              <a:lnSpc>
                <a:spcPct val="126000"/>
              </a:lnSpc>
              <a:spcBef>
                <a:spcPts val="700"/>
              </a:spcBef>
              <a:spcAft>
                <a:spcPts val="200"/>
              </a:spcAft>
            </a:pPr>
            <a:r>
              <a:rPr lang="en-TR" sz="1850" b="0" i="0" dirty="0">
                <a:solidFill>
                  <a:srgbClr val="1E1A1A"/>
                </a:solidFill>
                <a:latin typeface="Calibri"/>
              </a:rPr>
              <a:t>• </a:t>
            </a:r>
            <a:r>
              <a:rPr lang="en-US" sz="1850" b="0" i="0" dirty="0">
                <a:solidFill>
                  <a:srgbClr val="1E1A1A"/>
                </a:solidFill>
                <a:latin typeface="Calibri"/>
                <a:hlinkClick r:id="rId3"/>
              </a:rPr>
              <a:t>https://universe.roboflow.com/browse/sports</a:t>
            </a:r>
            <a:endParaRPr lang="en-US" sz="1850" b="0" i="0" dirty="0">
              <a:solidFill>
                <a:srgbClr val="1E1A1A"/>
              </a:solidFill>
              <a:latin typeface="Calibri"/>
            </a:endParaRPr>
          </a:p>
          <a:p>
            <a:pPr algn="l">
              <a:lnSpc>
                <a:spcPct val="126000"/>
              </a:lnSpc>
              <a:spcBef>
                <a:spcPts val="700"/>
              </a:spcBef>
              <a:spcAft>
                <a:spcPts val="200"/>
              </a:spcAft>
            </a:pPr>
            <a:r>
              <a:rPr lang="en-TR" sz="1850" b="0" i="0" dirty="0">
                <a:solidFill>
                  <a:srgbClr val="1E1A1A"/>
                </a:solidFill>
                <a:latin typeface="Calibri"/>
              </a:rPr>
              <a:t>• </a:t>
            </a:r>
            <a:r>
              <a:rPr lang="en-US" sz="1850" b="0" i="0" dirty="0">
                <a:solidFill>
                  <a:srgbClr val="1E1A1A"/>
                </a:solidFill>
                <a:latin typeface="Calibri"/>
                <a:hlinkClick r:id="rId4"/>
              </a:rPr>
              <a:t>https://github.com/roboflow/sports</a:t>
            </a:r>
            <a:endParaRPr lang="en-US" sz="1850" b="0" i="0" dirty="0">
              <a:solidFill>
                <a:srgbClr val="1E1A1A"/>
              </a:solidFill>
              <a:latin typeface="Calibri"/>
            </a:endParaRPr>
          </a:p>
          <a:p>
            <a:pPr algn="l">
              <a:lnSpc>
                <a:spcPct val="126000"/>
              </a:lnSpc>
              <a:spcBef>
                <a:spcPts val="700"/>
              </a:spcBef>
              <a:spcAft>
                <a:spcPts val="200"/>
              </a:spcAft>
            </a:pPr>
            <a:endParaRPr sz="1850" b="0" i="0" dirty="0">
              <a:solidFill>
                <a:srgbClr val="1E1A1A"/>
              </a:solidFill>
              <a:latin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9632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566</TotalTime>
  <Words>3265</Words>
  <Application>Microsoft Macintosh PowerPoint</Application>
  <PresentationFormat>Widescreen</PresentationFormat>
  <Paragraphs>220</Paragraphs>
  <Slides>33</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Galip AYDIN</cp:lastModifiedBy>
  <cp:revision>11</cp:revision>
  <dcterms:created xsi:type="dcterms:W3CDTF">2013-01-27T09:14:16Z</dcterms:created>
  <dcterms:modified xsi:type="dcterms:W3CDTF">2026-10-07T06:55:36Z</dcterms:modified>
  <cp:category/>
</cp:coreProperties>
</file>