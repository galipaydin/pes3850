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6" r:id="rId11"/>
    <p:sldId id="277" r:id="rId12"/>
    <p:sldId id="278" r:id="rId13"/>
    <p:sldId id="279" r:id="rId14"/>
    <p:sldId id="265" r:id="rId15"/>
    <p:sldId id="266" r:id="rId16"/>
    <p:sldId id="267" r:id="rId17"/>
    <p:sldId id="280" r:id="rId18"/>
    <p:sldId id="281" r:id="rId19"/>
    <p:sldId id="282" r:id="rId20"/>
    <p:sldId id="268" r:id="rId21"/>
    <p:sldId id="283" r:id="rId22"/>
    <p:sldId id="269" r:id="rId23"/>
    <p:sldId id="270" r:id="rId24"/>
    <p:sldId id="272" r:id="rId25"/>
    <p:sldId id="273" r:id="rId26"/>
    <p:sldId id="274" r:id="rId27"/>
    <p:sldId id="275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4"/>
  </p:normalViewPr>
  <p:slideViewPr>
    <p:cSldViewPr snapToGrid="0" snapToObjects="1">
      <p:cViewPr varScale="1">
        <p:scale>
          <a:sx n="119" d="100"/>
          <a:sy n="119" d="100"/>
        </p:scale>
        <p:origin x="760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78979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43000" y="1828800"/>
            <a:ext cx="99056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A1C2B"/>
                </a:solidFill>
                <a:latin typeface="Calibri"/>
              </a:rPr>
              <a:t>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331720"/>
            <a:ext cx="9814255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1E1A1A"/>
                </a:solidFill>
                <a:latin typeface="Georgia"/>
              </a:rPr>
              <a:t>Large language models
as a working 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4069080"/>
            <a:ext cx="9265615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57504D"/>
                </a:solidFill>
                <a:latin typeface="Calibri"/>
              </a:rPr>
              <a:t>What they actually do, why they invent things with total confidence,
and how to make one write your analysis for you.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5806440"/>
            <a:ext cx="99056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B807C"/>
                </a:solidFill>
                <a:latin typeface="Calibri"/>
              </a:rPr>
              <a:t>PES 3850 · Artificial Intelligence Applications in Sport · METU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75488"/>
            <a:ext cx="1063721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1C2B"/>
                </a:solidFill>
                <a:latin typeface="Calibri"/>
              </a:rPr>
              <a:t>WEEK 2 ·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1A1A"/>
                </a:solidFill>
                <a:latin typeface="Georgia"/>
              </a:rPr>
              <a:t>Where we left off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371600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975104"/>
            <a:ext cx="10362895" cy="17527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 dirty="0">
                <a:solidFill>
                  <a:srgbClr val="1E1A1A"/>
                </a:solidFill>
                <a:latin typeface="Calibri"/>
              </a:rPr>
              <a:t>•  AI is a goal, not a method. Ask which kind, and how it was built.</a:t>
            </a: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 dirty="0">
                <a:solidFill>
                  <a:srgbClr val="1E1A1A"/>
                </a:solidFill>
                <a:latin typeface="Calibri"/>
              </a:rPr>
              <a:t>•  Machine learning: stop writing the rules, start supplying examples.</a:t>
            </a: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 dirty="0">
                <a:solidFill>
                  <a:srgbClr val="1E1A1A"/>
                </a:solidFill>
                <a:latin typeface="Calibri"/>
              </a:rPr>
              <a:t>•  </a:t>
            </a:r>
            <a:r>
              <a:rPr lang="tr-TR" sz="1850">
                <a:solidFill>
                  <a:srgbClr val="1E1A1A"/>
                </a:solidFill>
                <a:latin typeface="Calibri"/>
              </a:rPr>
              <a:t>A</a:t>
            </a:r>
            <a:r>
              <a:rPr sz="1850" b="0" i="0">
                <a:solidFill>
                  <a:srgbClr val="1E1A1A"/>
                </a:solidFill>
                <a:latin typeface="Calibri"/>
              </a:rPr>
              <a:t>lmost</a:t>
            </a:r>
            <a:r>
              <a:rPr sz="1850" b="0" i="0" dirty="0">
                <a:solidFill>
                  <a:srgbClr val="1E1A1A"/>
                </a:solidFill>
                <a:latin typeface="Calibri"/>
              </a:rPr>
              <a:t> everyone had used </a:t>
            </a:r>
            <a:r>
              <a:rPr sz="1850" b="0" i="0" dirty="0" err="1">
                <a:solidFill>
                  <a:srgbClr val="1E1A1A"/>
                </a:solidFill>
                <a:latin typeface="Calibri"/>
              </a:rPr>
              <a:t>ChatGPT</a:t>
            </a:r>
            <a:r>
              <a:rPr sz="1850" b="0" i="0" dirty="0">
                <a:solidFill>
                  <a:srgbClr val="1E1A1A"/>
                </a:solidFill>
                <a:latin typeface="Calibri"/>
              </a:rPr>
              <a:t>. Almost nobody had checked a reference it gave them.</a:t>
            </a:r>
          </a:p>
          <a:p>
            <a:pPr algn="l">
              <a:lnSpc>
                <a:spcPct val="126000"/>
              </a:lnSpc>
              <a:spcBef>
                <a:spcPts val="900"/>
              </a:spcBef>
              <a:spcAft>
                <a:spcPts val="200"/>
              </a:spcAft>
            </a:pPr>
            <a:r>
              <a:rPr sz="1700" b="1" i="0" dirty="0">
                <a:solidFill>
                  <a:srgbClr val="8A1C2B"/>
                </a:solidFill>
                <a:latin typeface="Calibri"/>
              </a:rPr>
              <a:t>Today we find out why that matters — and then put it to work.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A1C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3000" y="2377440"/>
            <a:ext cx="18288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7000" b="1" i="0">
                <a:solidFill>
                  <a:srgbClr val="E09AA2"/>
                </a:solidFill>
                <a:latin typeface="Georgia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0" y="2514600"/>
            <a:ext cx="8168335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What is it actually doing?</a:t>
            </a:r>
          </a:p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0" i="0">
                <a:solidFill>
                  <a:srgbClr val="EEC9CD"/>
                </a:solidFill>
                <a:latin typeface="Calibri"/>
              </a:rPr>
              <a:t>No mathematics. One idea.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783080"/>
            <a:ext cx="9997135" cy="3291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E1A1A"/>
                </a:solidFill>
                <a:latin typeface="Georgia"/>
              </a:rPr>
              <a:t>A language model predicts the next word.
That is the whole mechanism.</a:t>
            </a:r>
          </a:p>
          <a:p>
            <a:pPr algn="ctr">
              <a:lnSpc>
                <a:spcPct val="128000"/>
              </a:lnSpc>
              <a:spcBef>
                <a:spcPts val="1600"/>
              </a:spcBef>
              <a:spcAft>
                <a:spcPts val="600"/>
              </a:spcAft>
            </a:pPr>
            <a:r>
              <a:rPr sz="1700" b="0" i="0">
                <a:solidFill>
                  <a:srgbClr val="57504D"/>
                </a:solidFill>
                <a:latin typeface="Calibri"/>
              </a:rPr>
              <a:t>Everything it appears to know is a side effect of getting extremely good at that one task.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75488"/>
            <a:ext cx="1063721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1C2B"/>
                </a:solidFill>
                <a:latin typeface="Calibri"/>
              </a:rPr>
              <a:t>WEEK 2 · 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1A1A"/>
                </a:solidFill>
                <a:latin typeface="Georgia"/>
              </a:rPr>
              <a:t>How that becomes something useful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371600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975104"/>
            <a:ext cx="10362895" cy="42428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>
                <a:solidFill>
                  <a:srgbClr val="1E1A1A"/>
                </a:solidFill>
                <a:latin typeface="Calibri"/>
              </a:rPr>
              <a:t>•  It read an enormous amount of text — books, articles, websites, code — and practised guessing what comes next.</a:t>
            </a: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>
                <a:solidFill>
                  <a:srgbClr val="1E1A1A"/>
                </a:solidFill>
                <a:latin typeface="Calibri"/>
              </a:rPr>
              <a:t>•  To guess well you must, in effect, absorb grammar, facts, styles, arguments and reasoning patterns.</a:t>
            </a: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>
                <a:solidFill>
                  <a:srgbClr val="1E1A1A"/>
                </a:solidFill>
                <a:latin typeface="Calibri"/>
              </a:rPr>
              <a:t>•  Then it was tuned to follow instructions rather than simply continue text.</a:t>
            </a: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>
                <a:solidFill>
                  <a:srgbClr val="1E1A1A"/>
                </a:solidFill>
                <a:latin typeface="Calibri"/>
              </a:rPr>
              <a:t>•  Then it was tuned again, on human preferences, to be helpful and polite.</a:t>
            </a:r>
          </a:p>
          <a:p>
            <a:pPr algn="l">
              <a:lnSpc>
                <a:spcPct val="126000"/>
              </a:lnSpc>
              <a:spcBef>
                <a:spcPts val="900"/>
              </a:spcBef>
              <a:spcAft>
                <a:spcPts val="200"/>
              </a:spcAft>
            </a:pPr>
            <a:r>
              <a:rPr sz="1700" b="1" i="0">
                <a:solidFill>
                  <a:srgbClr val="8A1C2B"/>
                </a:solidFill>
                <a:latin typeface="Calibri"/>
              </a:rPr>
              <a:t>At no point in any of that was it trained to be correct. It was trained to be plausible.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75488"/>
            <a:ext cx="1063721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1C2B"/>
                </a:solidFill>
                <a:latin typeface="Calibri"/>
              </a:rPr>
              <a:t>WEEK 2 · 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1A1A"/>
                </a:solidFill>
                <a:latin typeface="Georgia"/>
              </a:rPr>
              <a:t>Two things that come apart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371600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" y="2048256"/>
            <a:ext cx="5067147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212848"/>
            <a:ext cx="5067147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8A1C2B"/>
                </a:solidFill>
                <a:latin typeface="Calibri"/>
              </a:rPr>
              <a:t>Fluency — what it is optimised for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97480"/>
            <a:ext cx="5067147" cy="17765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200"/>
              </a:spcAft>
            </a:pPr>
            <a:r>
              <a:rPr sz="1550" b="0" i="0" dirty="0">
                <a:solidFill>
                  <a:srgbClr val="1E1A1A"/>
                </a:solidFill>
                <a:latin typeface="Calibri"/>
              </a:rPr>
              <a:t>•  Grammatical, confident, well-structured </a:t>
            </a:r>
            <a:r>
              <a:rPr lang="tr-TR" sz="1550" b="0" i="0" dirty="0" err="1">
                <a:solidFill>
                  <a:srgbClr val="1E1A1A"/>
                </a:solidFill>
                <a:latin typeface="Calibri"/>
              </a:rPr>
              <a:t>text</a:t>
            </a:r>
            <a:r>
              <a:rPr sz="1550" b="0" i="0" dirty="0">
                <a:solidFill>
                  <a:srgbClr val="1E1A1A"/>
                </a:solidFill>
                <a:latin typeface="Calibri"/>
              </a:rPr>
              <a:t>.</a:t>
            </a:r>
          </a:p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200"/>
              </a:spcAft>
            </a:pPr>
            <a:r>
              <a:rPr sz="1550" b="0" i="0" dirty="0">
                <a:solidFill>
                  <a:srgbClr val="1E1A1A"/>
                </a:solidFill>
                <a:latin typeface="Calibri"/>
              </a:rPr>
              <a:t>•  The right register for a coach, a journal, a parent.</a:t>
            </a:r>
          </a:p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200"/>
              </a:spcAft>
            </a:pPr>
            <a:r>
              <a:rPr sz="1550" b="0" i="0" dirty="0">
                <a:solidFill>
                  <a:srgbClr val="1E1A1A"/>
                </a:solidFill>
                <a:latin typeface="Calibri"/>
              </a:rPr>
              <a:t>•  Correct-looking citations in the correct format.</a:t>
            </a:r>
          </a:p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200"/>
              </a:spcAft>
            </a:pPr>
            <a:r>
              <a:rPr sz="1550" b="0" i="0" dirty="0">
                <a:solidFill>
                  <a:srgbClr val="1E1A1A"/>
                </a:solidFill>
                <a:latin typeface="Calibri"/>
              </a:rPr>
              <a:t>•  You get all of this free, every time, whether or not the content is true.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47307" y="2048256"/>
            <a:ext cx="5067147" cy="32004"/>
          </a:xfrm>
          <a:prstGeom prst="rect">
            <a:avLst/>
          </a:prstGeom>
          <a:solidFill>
            <a:srgbClr val="1B6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47307" y="2212848"/>
            <a:ext cx="5067147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B6470"/>
                </a:solidFill>
                <a:latin typeface="Calibri"/>
              </a:rPr>
              <a:t>Accuracy — what it is not optimised for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47307" y="2697480"/>
            <a:ext cx="5067147" cy="3566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200"/>
              </a:spcAft>
            </a:pPr>
            <a:r>
              <a:rPr sz="1550" b="0" i="0">
                <a:solidFill>
                  <a:srgbClr val="1E1A1A"/>
                </a:solidFill>
                <a:latin typeface="Calibri"/>
              </a:rPr>
              <a:t>•  Whether the number is right.</a:t>
            </a:r>
          </a:p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200"/>
              </a:spcAft>
            </a:pPr>
            <a:r>
              <a:rPr sz="1550" b="0" i="0">
                <a:solidFill>
                  <a:srgbClr val="1E1A1A"/>
                </a:solidFill>
                <a:latin typeface="Calibri"/>
              </a:rPr>
              <a:t>•  Whether the study it cited exists.</a:t>
            </a:r>
          </a:p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200"/>
              </a:spcAft>
            </a:pPr>
            <a:r>
              <a:rPr sz="1550" b="0" i="0">
                <a:solidFill>
                  <a:srgbClr val="1E1A1A"/>
                </a:solidFill>
                <a:latin typeface="Calibri"/>
              </a:rPr>
              <a:t>•  Whether the physiology is sound.</a:t>
            </a:r>
          </a:p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200"/>
              </a:spcAft>
            </a:pPr>
            <a:r>
              <a:rPr sz="1550" b="0" i="0">
                <a:solidFill>
                  <a:srgbClr val="1E1A1A"/>
                </a:solidFill>
                <a:latin typeface="Calibri"/>
              </a:rPr>
              <a:t>•  Whether the advice is safe for this athlete.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75488"/>
            <a:ext cx="1063721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1C2B"/>
                </a:solidFill>
                <a:latin typeface="Calibri"/>
              </a:rPr>
              <a:t>WEEK 2 · VOCABULARY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1A1A"/>
                </a:solidFill>
                <a:latin typeface="Georgia"/>
              </a:rPr>
              <a:t>Four words you will hear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371600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975104"/>
            <a:ext cx="10362895" cy="2944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 dirty="0">
                <a:solidFill>
                  <a:srgbClr val="1E1A1A"/>
                </a:solidFill>
                <a:latin typeface="Calibri"/>
              </a:rPr>
              <a:t>•  </a:t>
            </a:r>
            <a:r>
              <a:rPr lang="en-TR" sz="1850" b="0" i="0" dirty="0">
                <a:solidFill>
                  <a:srgbClr val="1E1A1A"/>
                </a:solidFill>
                <a:latin typeface="Calibri"/>
              </a:rPr>
              <a:t>"</a:t>
            </a:r>
            <a:r>
              <a:rPr sz="1850" b="0" i="0" dirty="0">
                <a:solidFill>
                  <a:srgbClr val="1E1A1A"/>
                </a:solidFill>
                <a:latin typeface="Calibri"/>
              </a:rPr>
              <a:t>Token</a:t>
            </a:r>
            <a:r>
              <a:rPr lang="en-TR" sz="1850" b="0" i="0" dirty="0">
                <a:solidFill>
                  <a:srgbClr val="1E1A1A"/>
                </a:solidFill>
                <a:latin typeface="Calibri"/>
              </a:rPr>
              <a:t>"</a:t>
            </a:r>
            <a:r>
              <a:rPr sz="1850" b="0" i="0" dirty="0">
                <a:solidFill>
                  <a:srgbClr val="1E1A1A"/>
                </a:solidFill>
                <a:latin typeface="Calibri"/>
              </a:rPr>
              <a:t> — roughly a word, sometimes part of one. The model works in tokens, not letters.</a:t>
            </a: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 dirty="0">
                <a:solidFill>
                  <a:srgbClr val="1E1A1A"/>
                </a:solidFill>
                <a:latin typeface="Calibri"/>
              </a:rPr>
              <a:t>•  </a:t>
            </a:r>
            <a:r>
              <a:rPr lang="en-TR" sz="1850" b="0" i="0" dirty="0">
                <a:solidFill>
                  <a:srgbClr val="1E1A1A"/>
                </a:solidFill>
                <a:latin typeface="Calibri"/>
              </a:rPr>
              <a:t>"</a:t>
            </a:r>
            <a:r>
              <a:rPr sz="1850" b="0" i="0" dirty="0">
                <a:solidFill>
                  <a:srgbClr val="1E1A1A"/>
                </a:solidFill>
                <a:latin typeface="Calibri"/>
              </a:rPr>
              <a:t>Context window</a:t>
            </a:r>
            <a:r>
              <a:rPr lang="en-TR" sz="1850" b="0" i="0" dirty="0">
                <a:solidFill>
                  <a:srgbClr val="1E1A1A"/>
                </a:solidFill>
                <a:latin typeface="Calibri"/>
              </a:rPr>
              <a:t>"</a:t>
            </a:r>
            <a:r>
              <a:rPr sz="1850" b="0" i="0" dirty="0">
                <a:solidFill>
                  <a:srgbClr val="1E1A1A"/>
                </a:solidFill>
                <a:latin typeface="Calibri"/>
              </a:rPr>
              <a:t> — how much it can hold in mind at once. Beyond it, earlier material simply falls away.</a:t>
            </a: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 dirty="0">
                <a:solidFill>
                  <a:srgbClr val="1E1A1A"/>
                </a:solidFill>
                <a:latin typeface="Calibri"/>
              </a:rPr>
              <a:t>•  </a:t>
            </a:r>
            <a:r>
              <a:rPr lang="en-TR" sz="1850" b="0" i="0" dirty="0">
                <a:solidFill>
                  <a:srgbClr val="1E1A1A"/>
                </a:solidFill>
                <a:latin typeface="Calibri"/>
              </a:rPr>
              <a:t>"</a:t>
            </a:r>
            <a:r>
              <a:rPr sz="1850" b="0" i="0" dirty="0">
                <a:solidFill>
                  <a:srgbClr val="1E1A1A"/>
                </a:solidFill>
                <a:latin typeface="Calibri"/>
              </a:rPr>
              <a:t>Temperature</a:t>
            </a:r>
            <a:r>
              <a:rPr lang="en-TR" sz="1850" b="0" i="0" dirty="0">
                <a:solidFill>
                  <a:srgbClr val="1E1A1A"/>
                </a:solidFill>
                <a:latin typeface="Calibri"/>
              </a:rPr>
              <a:t>"</a:t>
            </a:r>
            <a:r>
              <a:rPr sz="1850" b="0" i="0" dirty="0">
                <a:solidFill>
                  <a:srgbClr val="1E1A1A"/>
                </a:solidFill>
                <a:latin typeface="Calibri"/>
              </a:rPr>
              <a:t> — a dial from predictable to inventive. Low for extracting a number; higher for brainstorming.</a:t>
            </a: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 dirty="0">
                <a:solidFill>
                  <a:srgbClr val="1E1A1A"/>
                </a:solidFill>
                <a:latin typeface="Calibri"/>
              </a:rPr>
              <a:t>•  </a:t>
            </a:r>
            <a:r>
              <a:rPr lang="en-TR" sz="1850" b="0" i="0" dirty="0">
                <a:solidFill>
                  <a:srgbClr val="1E1A1A"/>
                </a:solidFill>
                <a:latin typeface="Calibri"/>
              </a:rPr>
              <a:t>"</a:t>
            </a:r>
            <a:r>
              <a:rPr sz="1850" b="0" i="0" dirty="0">
                <a:solidFill>
                  <a:srgbClr val="1E1A1A"/>
                </a:solidFill>
                <a:latin typeface="Calibri"/>
              </a:rPr>
              <a:t>Hallucination</a:t>
            </a:r>
            <a:r>
              <a:rPr lang="en-TR" sz="1850" b="0" i="0" dirty="0">
                <a:solidFill>
                  <a:srgbClr val="1E1A1A"/>
                </a:solidFill>
                <a:latin typeface="Calibri"/>
              </a:rPr>
              <a:t>"</a:t>
            </a:r>
            <a:r>
              <a:rPr sz="1850" b="0" i="0" dirty="0">
                <a:solidFill>
                  <a:srgbClr val="1E1A1A"/>
                </a:solidFill>
                <a:latin typeface="Calibri"/>
              </a:rPr>
              <a:t> — fluent, confident, wrong. The word is unfortunate; it sounds like a malfunction, and it is normal operation.</a:t>
            </a:r>
          </a:p>
          <a:p>
            <a:pPr algn="l">
              <a:lnSpc>
                <a:spcPct val="126000"/>
              </a:lnSpc>
              <a:spcBef>
                <a:spcPts val="900"/>
              </a:spcBef>
              <a:spcAft>
                <a:spcPts val="200"/>
              </a:spcAft>
            </a:pPr>
            <a:r>
              <a:rPr sz="1700" b="1" i="0" dirty="0">
                <a:solidFill>
                  <a:srgbClr val="8A1C2B"/>
                </a:solidFill>
                <a:latin typeface="Calibri"/>
              </a:rPr>
              <a:t>There is no separate 'truth mode'. Correct answers and invented ones are produced by exactly the same process.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A1C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3000" y="2377440"/>
            <a:ext cx="18288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7000" b="1" i="0">
                <a:solidFill>
                  <a:srgbClr val="E09AA2"/>
                </a:solidFill>
                <a:latin typeface="Georgia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0" y="2514600"/>
            <a:ext cx="8168335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Where it goes wrong in sport</a:t>
            </a:r>
          </a:p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0" i="0">
                <a:solidFill>
                  <a:srgbClr val="EEC9CD"/>
                </a:solidFill>
                <a:latin typeface="Calibri"/>
              </a:rPr>
              <a:t>Four failures worth recognising by sight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75488"/>
            <a:ext cx="1063721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1C2B"/>
                </a:solidFill>
                <a:latin typeface="Calibri"/>
              </a:rPr>
              <a:t>WEEK 2 · FAILURES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1A1A"/>
                </a:solidFill>
                <a:latin typeface="Georgia"/>
              </a:rPr>
              <a:t>Four ways this bites a sport scientist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371600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975104"/>
            <a:ext cx="10362895" cy="2585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 dirty="0">
                <a:solidFill>
                  <a:srgbClr val="1E1A1A"/>
                </a:solidFill>
                <a:latin typeface="Calibri"/>
              </a:rPr>
              <a:t>•  </a:t>
            </a:r>
            <a:r>
              <a:rPr lang="en-TR" sz="1850" b="0" i="0" dirty="0">
                <a:solidFill>
                  <a:srgbClr val="1E1A1A"/>
                </a:solidFill>
                <a:latin typeface="Calibri"/>
              </a:rPr>
              <a:t>"</a:t>
            </a:r>
            <a:r>
              <a:rPr sz="1850" b="0" i="0" dirty="0">
                <a:solidFill>
                  <a:srgbClr val="1E1A1A"/>
                </a:solidFill>
                <a:latin typeface="Calibri"/>
              </a:rPr>
              <a:t>Invented references.</a:t>
            </a:r>
            <a:r>
              <a:rPr lang="en-TR" sz="1850" b="0" i="0" dirty="0">
                <a:solidFill>
                  <a:srgbClr val="1E1A1A"/>
                </a:solidFill>
                <a:latin typeface="Calibri"/>
              </a:rPr>
              <a:t>"</a:t>
            </a:r>
            <a:r>
              <a:rPr sz="1850" b="0" i="0" dirty="0">
                <a:solidFill>
                  <a:srgbClr val="1E1A1A"/>
                </a:solidFill>
                <a:latin typeface="Calibri"/>
              </a:rPr>
              <a:t> Real authors, real journal, plausible title, volume and page numbers — and the paper does not exist.</a:t>
            </a: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 dirty="0">
                <a:solidFill>
                  <a:srgbClr val="1E1A1A"/>
                </a:solidFill>
                <a:latin typeface="Calibri"/>
              </a:rPr>
              <a:t>•  </a:t>
            </a:r>
            <a:r>
              <a:rPr lang="en-TR" sz="1850" b="0" i="0" dirty="0">
                <a:solidFill>
                  <a:srgbClr val="1E1A1A"/>
                </a:solidFill>
                <a:latin typeface="Calibri"/>
              </a:rPr>
              <a:t>"</a:t>
            </a:r>
            <a:r>
              <a:rPr sz="1850" b="0" i="0" dirty="0">
                <a:solidFill>
                  <a:srgbClr val="1E1A1A"/>
                </a:solidFill>
                <a:latin typeface="Calibri"/>
              </a:rPr>
              <a:t>Invented norms.</a:t>
            </a:r>
            <a:r>
              <a:rPr lang="en-TR" sz="1850" b="0" i="0" dirty="0">
                <a:solidFill>
                  <a:srgbClr val="1E1A1A"/>
                </a:solidFill>
                <a:latin typeface="Calibri"/>
              </a:rPr>
              <a:t>"</a:t>
            </a:r>
            <a:r>
              <a:rPr sz="1850" b="0" i="0" dirty="0">
                <a:solidFill>
                  <a:srgbClr val="1E1A1A"/>
                </a:solidFill>
                <a:latin typeface="Calibri"/>
              </a:rPr>
              <a:t> 'Elite male rowers average 85 ml/kg/min.' Confident, specific, and not from anywhere.</a:t>
            </a: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 dirty="0">
                <a:solidFill>
                  <a:srgbClr val="1E1A1A"/>
                </a:solidFill>
                <a:latin typeface="Calibri"/>
              </a:rPr>
              <a:t>•  </a:t>
            </a:r>
            <a:r>
              <a:rPr lang="en-TR" sz="1850" b="0" i="0" dirty="0">
                <a:solidFill>
                  <a:srgbClr val="1E1A1A"/>
                </a:solidFill>
                <a:latin typeface="Calibri"/>
              </a:rPr>
              <a:t>"</a:t>
            </a:r>
            <a:r>
              <a:rPr sz="1850" b="0" i="0" dirty="0">
                <a:solidFill>
                  <a:srgbClr val="1E1A1A"/>
                </a:solidFill>
                <a:latin typeface="Calibri"/>
              </a:rPr>
              <a:t>Confident wrong physiology.</a:t>
            </a:r>
            <a:r>
              <a:rPr lang="en-TR" sz="1850" b="0" i="0" dirty="0">
                <a:solidFill>
                  <a:srgbClr val="1E1A1A"/>
                </a:solidFill>
                <a:latin typeface="Calibri"/>
              </a:rPr>
              <a:t>"</a:t>
            </a:r>
            <a:r>
              <a:rPr sz="1850" b="0" i="0" dirty="0">
                <a:solidFill>
                  <a:srgbClr val="1E1A1A"/>
                </a:solidFill>
                <a:latin typeface="Calibri"/>
              </a:rPr>
              <a:t> Fluent explanations of mechanisms that are out of date or simply incorrect.</a:t>
            </a: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 dirty="0">
                <a:solidFill>
                  <a:srgbClr val="1E1A1A"/>
                </a:solidFill>
                <a:latin typeface="Calibri"/>
              </a:rPr>
              <a:t>•  </a:t>
            </a:r>
            <a:r>
              <a:rPr lang="en-TR" sz="1850" b="0" i="0" dirty="0">
                <a:solidFill>
                  <a:srgbClr val="1E1A1A"/>
                </a:solidFill>
                <a:latin typeface="Calibri"/>
              </a:rPr>
              <a:t>"</a:t>
            </a:r>
            <a:r>
              <a:rPr sz="1850" b="0" i="0" dirty="0">
                <a:solidFill>
                  <a:srgbClr val="1E1A1A"/>
                </a:solidFill>
                <a:latin typeface="Calibri"/>
              </a:rPr>
              <a:t>Unsafe advice.</a:t>
            </a:r>
            <a:r>
              <a:rPr lang="en-TR" sz="1850" b="0" i="0" dirty="0">
                <a:solidFill>
                  <a:srgbClr val="1E1A1A"/>
                </a:solidFill>
                <a:latin typeface="Calibri"/>
              </a:rPr>
              <a:t>"</a:t>
            </a:r>
            <a:r>
              <a:rPr sz="1850" b="0" i="0" dirty="0">
                <a:solidFill>
                  <a:srgbClr val="1E1A1A"/>
                </a:solidFill>
                <a:latin typeface="Calibri"/>
              </a:rPr>
              <a:t> A training plan written without asking about the injury history it was never told.</a:t>
            </a:r>
          </a:p>
          <a:p>
            <a:pPr algn="l">
              <a:lnSpc>
                <a:spcPct val="126000"/>
              </a:lnSpc>
              <a:spcBef>
                <a:spcPts val="900"/>
              </a:spcBef>
              <a:spcAft>
                <a:spcPts val="200"/>
              </a:spcAft>
            </a:pPr>
            <a:r>
              <a:rPr sz="1700" b="1" i="0" dirty="0">
                <a:solidFill>
                  <a:srgbClr val="8A1C2B"/>
                </a:solidFill>
                <a:latin typeface="Calibri"/>
              </a:rPr>
              <a:t>The dangerous cases are not the ridiculous ones. They are the ones that look exactly like the right answer.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75488"/>
            <a:ext cx="1063721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1C2B"/>
                </a:solidFill>
                <a:latin typeface="Calibri"/>
              </a:rPr>
              <a:t>WEEK 2 · FAILURES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1A1A"/>
                </a:solidFill>
                <a:latin typeface="Georgia"/>
              </a:rPr>
              <a:t>Demo 1 — the references that do not exist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371600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975104"/>
            <a:ext cx="1027145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 dirty="0">
                <a:solidFill>
                  <a:srgbClr val="57504D"/>
                </a:solidFill>
                <a:latin typeface="Calibri"/>
              </a:rPr>
              <a:t>Ask it: “Five peer-reviewed references on eccentric hamstring training and hamstring injury prevention in elite football — authors, year, journal, volume, pages.”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78608"/>
            <a:ext cx="10362895" cy="16385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 dirty="0">
                <a:solidFill>
                  <a:srgbClr val="1E1A1A"/>
                </a:solidFill>
                <a:latin typeface="Calibri"/>
              </a:rPr>
              <a:t>•  Back comes flawless APA. Real authors who really do work on hamstrings, real journals, plausible volume numbers.</a:t>
            </a: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 dirty="0">
                <a:solidFill>
                  <a:srgbClr val="1E1A1A"/>
                </a:solidFill>
                <a:latin typeface="Calibri"/>
              </a:rPr>
              <a:t>•</a:t>
            </a:r>
            <a:r>
              <a:rPr lang="tr-TR" sz="1850" b="0" i="0" dirty="0" err="1">
                <a:solidFill>
                  <a:srgbClr val="1E1A1A"/>
                </a:solidFill>
                <a:latin typeface="Calibri"/>
              </a:rPr>
              <a:t>Check</a:t>
            </a:r>
            <a:r>
              <a:rPr lang="tr-TR" sz="1850" b="0" i="0" dirty="0">
                <a:solidFill>
                  <a:srgbClr val="1E1A1A"/>
                </a:solidFill>
                <a:latin typeface="Calibri"/>
              </a:rPr>
              <a:t> </a:t>
            </a:r>
            <a:r>
              <a:rPr lang="tr-TR" sz="1850" b="0" i="0" dirty="0" err="1">
                <a:solidFill>
                  <a:srgbClr val="1E1A1A"/>
                </a:solidFill>
                <a:latin typeface="Calibri"/>
              </a:rPr>
              <a:t>them</a:t>
            </a:r>
            <a:r>
              <a:rPr lang="tr-TR" sz="1850" b="0" i="0" dirty="0">
                <a:solidFill>
                  <a:srgbClr val="1E1A1A"/>
                </a:solidFill>
                <a:latin typeface="Calibri"/>
              </a:rPr>
              <a:t> on Google </a:t>
            </a:r>
            <a:r>
              <a:rPr lang="tr-TR" sz="1850" b="0" i="0" dirty="0" err="1">
                <a:solidFill>
                  <a:srgbClr val="1E1A1A"/>
                </a:solidFill>
                <a:latin typeface="Calibri"/>
              </a:rPr>
              <a:t>Scholar</a:t>
            </a:r>
            <a:r>
              <a:rPr sz="1850" b="0" i="0" dirty="0">
                <a:solidFill>
                  <a:srgbClr val="1E1A1A"/>
                </a:solidFill>
                <a:latin typeface="Calibri"/>
              </a:rPr>
              <a:t>.</a:t>
            </a: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 dirty="0">
                <a:solidFill>
                  <a:srgbClr val="1E1A1A"/>
                </a:solidFill>
                <a:latin typeface="Calibri"/>
              </a:rPr>
              <a:t>• </a:t>
            </a:r>
            <a:r>
              <a:rPr lang="tr-TR" sz="1850" dirty="0" err="1">
                <a:solidFill>
                  <a:srgbClr val="1E1A1A"/>
                </a:solidFill>
                <a:latin typeface="Calibri"/>
              </a:rPr>
              <a:t>Some</a:t>
            </a:r>
            <a:r>
              <a:rPr lang="tr-TR" sz="1850" dirty="0">
                <a:solidFill>
                  <a:srgbClr val="1E1A1A"/>
                </a:solidFill>
                <a:latin typeface="Calibri"/>
              </a:rPr>
              <a:t> of </a:t>
            </a:r>
            <a:r>
              <a:rPr lang="tr-TR" sz="1850" dirty="0" err="1">
                <a:solidFill>
                  <a:srgbClr val="1E1A1A"/>
                </a:solidFill>
                <a:latin typeface="Calibri"/>
              </a:rPr>
              <a:t>them</a:t>
            </a:r>
            <a:r>
              <a:rPr lang="tr-TR" sz="1850" dirty="0">
                <a:solidFill>
                  <a:srgbClr val="1E1A1A"/>
                </a:solidFill>
                <a:latin typeface="Calibri"/>
              </a:rPr>
              <a:t> </a:t>
            </a:r>
            <a:r>
              <a:rPr lang="tr-TR" sz="1850" dirty="0" err="1">
                <a:solidFill>
                  <a:srgbClr val="1E1A1A"/>
                </a:solidFill>
                <a:latin typeface="Calibri"/>
              </a:rPr>
              <a:t>might</a:t>
            </a:r>
            <a:r>
              <a:rPr lang="tr-TR" sz="1850" dirty="0">
                <a:solidFill>
                  <a:srgbClr val="1E1A1A"/>
                </a:solidFill>
                <a:latin typeface="Calibri"/>
              </a:rPr>
              <a:t> not </a:t>
            </a:r>
            <a:r>
              <a:rPr sz="1850" b="0" i="0" dirty="0">
                <a:solidFill>
                  <a:srgbClr val="1E1A1A"/>
                </a:solidFill>
                <a:latin typeface="Calibri"/>
              </a:rPr>
              <a:t>return nothing at all.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75488"/>
            <a:ext cx="1063721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1C2B"/>
                </a:solidFill>
                <a:latin typeface="Calibri"/>
              </a:rPr>
              <a:t>WEEK 2 · FAILURES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1A1A"/>
                </a:solidFill>
                <a:latin typeface="Georgia"/>
              </a:rPr>
              <a:t>Demo 2 — the numbers from nowhere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371600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975104"/>
            <a:ext cx="1027145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 dirty="0">
                <a:solidFill>
                  <a:srgbClr val="57504D"/>
                </a:solidFill>
                <a:latin typeface="Calibri"/>
              </a:rPr>
              <a:t>Ask it: “Normative Yo-Yo Intermittent Recovery Test Level 1 distances for Turkish </a:t>
            </a:r>
            <a:r>
              <a:rPr sz="1800" b="0" i="1" dirty="0" err="1">
                <a:solidFill>
                  <a:srgbClr val="57504D"/>
                </a:solidFill>
                <a:latin typeface="Calibri"/>
              </a:rPr>
              <a:t>Süper</a:t>
            </a:r>
            <a:r>
              <a:rPr sz="1800" b="0" i="1" dirty="0">
                <a:solidFill>
                  <a:srgbClr val="57504D"/>
                </a:solidFill>
                <a:latin typeface="Calibri"/>
              </a:rPr>
              <a:t> </a:t>
            </a:r>
            <a:r>
              <a:rPr sz="1800" b="0" i="1" dirty="0" err="1">
                <a:solidFill>
                  <a:srgbClr val="57504D"/>
                </a:solidFill>
                <a:latin typeface="Calibri"/>
              </a:rPr>
              <a:t>Lig</a:t>
            </a:r>
            <a:r>
              <a:rPr sz="1800" b="0" i="1" dirty="0">
                <a:solidFill>
                  <a:srgbClr val="57504D"/>
                </a:solidFill>
                <a:latin typeface="Calibri"/>
              </a:rPr>
              <a:t> players, broken down by playing position.”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78608"/>
            <a:ext cx="10362895" cy="19960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 dirty="0">
                <a:solidFill>
                  <a:srgbClr val="1E1A1A"/>
                </a:solidFill>
                <a:latin typeface="Calibri"/>
              </a:rPr>
              <a:t>•  Back comes a clean table. Midfielders highest, </a:t>
            </a:r>
            <a:r>
              <a:rPr sz="1850" b="0" i="0" dirty="0" err="1">
                <a:solidFill>
                  <a:srgbClr val="1E1A1A"/>
                </a:solidFill>
                <a:latin typeface="Calibri"/>
              </a:rPr>
              <a:t>centre</a:t>
            </a:r>
            <a:r>
              <a:rPr sz="1850" b="0" i="0" dirty="0">
                <a:solidFill>
                  <a:srgbClr val="1E1A1A"/>
                </a:solidFill>
                <a:latin typeface="Calibri"/>
              </a:rPr>
              <a:t>-backs and keepers lowest — the ordering is right, and that is what convinces.</a:t>
            </a: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 dirty="0">
                <a:solidFill>
                  <a:srgbClr val="1E1A1A"/>
                </a:solidFill>
                <a:latin typeface="Calibri"/>
              </a:rPr>
              <a:t>•  Do not argue with the numbers. Ask one follow-up: which study is each figure from, and what was the sample size?</a:t>
            </a:r>
          </a:p>
          <a:p>
            <a:pPr algn="l">
              <a:lnSpc>
                <a:spcPct val="126000"/>
              </a:lnSpc>
              <a:spcBef>
                <a:spcPts val="900"/>
              </a:spcBef>
              <a:spcAft>
                <a:spcPts val="200"/>
              </a:spcAft>
            </a:pPr>
            <a:r>
              <a:rPr sz="1700" b="1" i="0" dirty="0">
                <a:solidFill>
                  <a:srgbClr val="8A1C2B"/>
                </a:solidFill>
                <a:latin typeface="Calibri"/>
              </a:rPr>
              <a:t>It can produce the shape of a normative table without the study. Plausible structure, no source.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75488"/>
            <a:ext cx="1063721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1C2B"/>
                </a:solidFill>
                <a:latin typeface="Calibri"/>
              </a:rPr>
              <a:t>WEEK 2 · FAILURES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1A1A"/>
                </a:solidFill>
                <a:latin typeface="Georgia"/>
              </a:rPr>
              <a:t>Demo 3 — fluent, confident, out of 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371600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975104"/>
            <a:ext cx="1027145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 dirty="0">
                <a:solidFill>
                  <a:srgbClr val="57504D"/>
                </a:solidFill>
                <a:latin typeface="Calibri"/>
              </a:rPr>
              <a:t>Ask it: “Explain to a first-year student why their legs are sore two days after a heavy squat session.”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78608"/>
            <a:ext cx="10362895" cy="36393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>
                <a:solidFill>
                  <a:srgbClr val="1E1A1A"/>
                </a:solidFill>
                <a:latin typeface="Calibri"/>
              </a:rPr>
              <a:t>•  Listen for lactic acid. Many answers still open with it, or hedge with ‘partly lactic acid, partly muscle damage’.</a:t>
            </a: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>
                <a:solidFill>
                  <a:srgbClr val="1E1A1A"/>
                </a:solidFill>
                <a:latin typeface="Calibri"/>
              </a:rPr>
              <a:t>•  Blood lactate is back to resting values within the hour. Soreness peaks at 24 to 72 hours. One cannot be causing the other.</a:t>
            </a: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>
                <a:solidFill>
                  <a:srgbClr val="1E1A1A"/>
                </a:solidFill>
                <a:latin typeface="Calibri"/>
              </a:rPr>
              <a:t>•  Soreness follows mechanical disruption from eccentric loading — the lowering phase, not the lifting phase.</a:t>
            </a:r>
          </a:p>
          <a:p>
            <a:pPr algn="l">
              <a:lnSpc>
                <a:spcPct val="126000"/>
              </a:lnSpc>
              <a:spcBef>
                <a:spcPts val="900"/>
              </a:spcBef>
              <a:spcAft>
                <a:spcPts val="200"/>
              </a:spcAft>
            </a:pPr>
            <a:r>
              <a:rPr sz="1700" b="1" i="0">
                <a:solidFill>
                  <a:srgbClr val="8A1C2B"/>
                </a:solidFill>
                <a:latin typeface="Calibri"/>
              </a:rPr>
              <a:t>Nothing here fails a search. A wrong mechanism passes every check a student knows how to run.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75488"/>
            <a:ext cx="1063721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1C2B"/>
                </a:solidFill>
                <a:latin typeface="Calibri"/>
              </a:rPr>
              <a:t>WEEK 2 · FAILURES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1A1A"/>
                </a:solidFill>
                <a:latin typeface="Georgia"/>
              </a:rPr>
              <a:t>Demo 4 — the question it never asks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371600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975104"/>
            <a:ext cx="1027145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 dirty="0">
                <a:solidFill>
                  <a:srgbClr val="57504D"/>
                </a:solidFill>
                <a:latin typeface="Calibri"/>
              </a:rPr>
              <a:t>Ask it: “One of my players strained his hamstring three weeks ago. Write me a six-week </a:t>
            </a:r>
            <a:r>
              <a:rPr sz="1800" b="0" i="1" dirty="0" err="1">
                <a:solidFill>
                  <a:srgbClr val="57504D"/>
                </a:solidFill>
                <a:latin typeface="Calibri"/>
              </a:rPr>
              <a:t>programme</a:t>
            </a:r>
            <a:r>
              <a:rPr sz="1800" b="0" i="1" dirty="0">
                <a:solidFill>
                  <a:srgbClr val="57504D"/>
                </a:solidFill>
                <a:latin typeface="Calibri"/>
              </a:rPr>
              <a:t> to get him back to full-speed sprinting.”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78608"/>
            <a:ext cx="10362895" cy="28288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 dirty="0">
                <a:solidFill>
                  <a:srgbClr val="1E1A1A"/>
                </a:solidFill>
                <a:latin typeface="Calibri"/>
              </a:rPr>
              <a:t>•  Back comes a six-week </a:t>
            </a:r>
            <a:r>
              <a:rPr sz="1850" b="0" i="0" dirty="0" err="1">
                <a:solidFill>
                  <a:srgbClr val="1E1A1A"/>
                </a:solidFill>
                <a:latin typeface="Calibri"/>
              </a:rPr>
              <a:t>programme</a:t>
            </a:r>
            <a:r>
              <a:rPr sz="1850" b="0" i="0" dirty="0">
                <a:solidFill>
                  <a:srgbClr val="1E1A1A"/>
                </a:solidFill>
                <a:latin typeface="Calibri"/>
              </a:rPr>
              <a:t>. Sets, reps, sprint volumes, a return-to-play date. It looks reasonable. That is the problem.</a:t>
            </a: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 dirty="0">
                <a:solidFill>
                  <a:srgbClr val="1E1A1A"/>
                </a:solidFill>
                <a:latin typeface="Calibri"/>
              </a:rPr>
              <a:t>•  Ask: which muscle, what grade, first injury or reinjury, pain-free range, strength against the other leg, medical clearance, his age.</a:t>
            </a: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 dirty="0">
                <a:solidFill>
                  <a:srgbClr val="1E1A1A"/>
                </a:solidFill>
                <a:latin typeface="Calibri"/>
              </a:rPr>
              <a:t>•  Sharper version: ‘He took a knock to the head and says he feels fine — can he play the second half?’ The answer is no, and not today.</a:t>
            </a:r>
          </a:p>
          <a:p>
            <a:pPr algn="l">
              <a:lnSpc>
                <a:spcPct val="126000"/>
              </a:lnSpc>
              <a:spcBef>
                <a:spcPts val="900"/>
              </a:spcBef>
              <a:spcAft>
                <a:spcPts val="200"/>
              </a:spcAft>
            </a:pPr>
            <a:r>
              <a:rPr sz="1700" b="1" i="0" dirty="0">
                <a:solidFill>
                  <a:srgbClr val="8A1C2B"/>
                </a:solidFill>
                <a:latin typeface="Calibri"/>
              </a:rPr>
              <a:t>The absence of a question is not a signal that no question was needed.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783080"/>
            <a:ext cx="9997135" cy="3291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E1A1A"/>
                </a:solidFill>
                <a:latin typeface="Georgia"/>
              </a:rPr>
              <a:t>It will never say “I don’t know”
unless you build the situation where it can.</a:t>
            </a:r>
          </a:p>
          <a:p>
            <a:pPr algn="ctr">
              <a:lnSpc>
                <a:spcPct val="128000"/>
              </a:lnSpc>
              <a:spcBef>
                <a:spcPts val="1600"/>
              </a:spcBef>
              <a:spcAft>
                <a:spcPts val="600"/>
              </a:spcAft>
            </a:pPr>
            <a:r>
              <a:rPr sz="1700" b="0" i="0">
                <a:solidFill>
                  <a:srgbClr val="57504D"/>
                </a:solidFill>
                <a:latin typeface="Calibri"/>
              </a:rPr>
              <a:t>Not because it is dishonest. Because “I don’t know” is rarely the most plausible next sentence.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A1C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3000" y="2377440"/>
            <a:ext cx="18288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7000" b="1" i="0">
                <a:solidFill>
                  <a:srgbClr val="E09AA2"/>
                </a:solidFill>
                <a:latin typeface="Georgia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0" y="2514600"/>
            <a:ext cx="8168335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Georgia"/>
              </a:rPr>
              <a:t>Making it work for you</a:t>
            </a:r>
          </a:p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0" i="0">
                <a:solidFill>
                  <a:srgbClr val="EEC9CD"/>
                </a:solidFill>
                <a:latin typeface="Calibri"/>
              </a:rPr>
              <a:t>Prompting that changes the output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75488"/>
            <a:ext cx="1063721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1C2B"/>
                </a:solidFill>
                <a:latin typeface="Calibri"/>
              </a:rPr>
              <a:t>WEEK 2 · PROMPTING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1A1A"/>
                </a:solidFill>
                <a:latin typeface="Georgia"/>
              </a:rPr>
              <a:t>The five parts of a prompt that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371600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975104"/>
            <a:ext cx="1027145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57504D"/>
                </a:solidFill>
                <a:latin typeface="Calibri"/>
              </a:rPr>
              <a:t>Shown live, before and after, on the same question.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78608"/>
            <a:ext cx="10362895" cy="25867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 dirty="0">
                <a:solidFill>
                  <a:srgbClr val="1E1A1A"/>
                </a:solidFill>
                <a:latin typeface="Calibri"/>
              </a:rPr>
              <a:t>•  </a:t>
            </a:r>
            <a:r>
              <a:rPr lang="en-TR" sz="1850" b="0" i="0" dirty="0">
                <a:solidFill>
                  <a:srgbClr val="1E1A1A"/>
                </a:solidFill>
                <a:latin typeface="Calibri"/>
              </a:rPr>
              <a:t>"</a:t>
            </a:r>
            <a:r>
              <a:rPr sz="1850" b="0" i="0" dirty="0">
                <a:solidFill>
                  <a:srgbClr val="1E1A1A"/>
                </a:solidFill>
                <a:latin typeface="Calibri"/>
              </a:rPr>
              <a:t>Role</a:t>
            </a:r>
            <a:r>
              <a:rPr lang="en-TR" sz="1850" b="0" i="0" dirty="0">
                <a:solidFill>
                  <a:srgbClr val="1E1A1A"/>
                </a:solidFill>
                <a:latin typeface="Calibri"/>
              </a:rPr>
              <a:t>"</a:t>
            </a:r>
            <a:r>
              <a:rPr sz="1850" b="0" i="0" dirty="0">
                <a:solidFill>
                  <a:srgbClr val="1E1A1A"/>
                </a:solidFill>
                <a:latin typeface="Calibri"/>
              </a:rPr>
              <a:t> — 'You are helping a sport scientist who does not write code.'</a:t>
            </a: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 dirty="0">
                <a:solidFill>
                  <a:srgbClr val="1E1A1A"/>
                </a:solidFill>
                <a:latin typeface="Calibri"/>
              </a:rPr>
              <a:t>•  </a:t>
            </a:r>
            <a:r>
              <a:rPr lang="en-TR" sz="1850" b="0" i="0" dirty="0">
                <a:solidFill>
                  <a:srgbClr val="1E1A1A"/>
                </a:solidFill>
                <a:latin typeface="Calibri"/>
              </a:rPr>
              <a:t>"</a:t>
            </a:r>
            <a:r>
              <a:rPr sz="1850" b="0" i="0" dirty="0">
                <a:solidFill>
                  <a:srgbClr val="1E1A1A"/>
                </a:solidFill>
                <a:latin typeface="Calibri"/>
              </a:rPr>
              <a:t>Task</a:t>
            </a:r>
            <a:r>
              <a:rPr lang="en-TR" sz="1850" b="0" i="0" dirty="0">
                <a:solidFill>
                  <a:srgbClr val="1E1A1A"/>
                </a:solidFill>
                <a:latin typeface="Calibri"/>
              </a:rPr>
              <a:t>"</a:t>
            </a:r>
            <a:r>
              <a:rPr sz="1850" b="0" i="0" dirty="0">
                <a:solidFill>
                  <a:srgbClr val="1E1A1A"/>
                </a:solidFill>
                <a:latin typeface="Calibri"/>
              </a:rPr>
              <a:t> — one thing, stated concretely. Not 'help me with my data'.</a:t>
            </a: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 dirty="0">
                <a:solidFill>
                  <a:srgbClr val="1E1A1A"/>
                </a:solidFill>
                <a:latin typeface="Calibri"/>
              </a:rPr>
              <a:t>•  </a:t>
            </a:r>
            <a:r>
              <a:rPr lang="en-TR" sz="1850" b="0" i="0" dirty="0">
                <a:solidFill>
                  <a:srgbClr val="1E1A1A"/>
                </a:solidFill>
                <a:latin typeface="Calibri"/>
              </a:rPr>
              <a:t>"</a:t>
            </a:r>
            <a:r>
              <a:rPr sz="1850" b="0" i="0" dirty="0">
                <a:solidFill>
                  <a:srgbClr val="1E1A1A"/>
                </a:solidFill>
                <a:latin typeface="Calibri"/>
              </a:rPr>
              <a:t>Context</a:t>
            </a:r>
            <a:r>
              <a:rPr lang="en-TR" sz="1850" b="0" i="0" dirty="0">
                <a:solidFill>
                  <a:srgbClr val="1E1A1A"/>
                </a:solidFill>
                <a:latin typeface="Calibri"/>
              </a:rPr>
              <a:t>"</a:t>
            </a:r>
            <a:r>
              <a:rPr sz="1850" b="0" i="0" dirty="0">
                <a:solidFill>
                  <a:srgbClr val="1E1A1A"/>
                </a:solidFill>
                <a:latin typeface="Calibri"/>
              </a:rPr>
              <a:t> — your actual column names and two real example values. This is the biggest single improvement available to you.</a:t>
            </a: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 dirty="0">
                <a:solidFill>
                  <a:srgbClr val="1E1A1A"/>
                </a:solidFill>
                <a:latin typeface="Calibri"/>
              </a:rPr>
              <a:t>•  </a:t>
            </a:r>
            <a:r>
              <a:rPr lang="en-TR" sz="1850" b="0" i="0" dirty="0">
                <a:solidFill>
                  <a:srgbClr val="1E1A1A"/>
                </a:solidFill>
                <a:latin typeface="Calibri"/>
              </a:rPr>
              <a:t>"</a:t>
            </a:r>
            <a:r>
              <a:rPr sz="1850" b="0" i="0" dirty="0">
                <a:solidFill>
                  <a:srgbClr val="1E1A1A"/>
                </a:solidFill>
                <a:latin typeface="Calibri"/>
              </a:rPr>
              <a:t>Format</a:t>
            </a:r>
            <a:r>
              <a:rPr lang="en-TR" sz="1850" b="0" i="0" dirty="0">
                <a:solidFill>
                  <a:srgbClr val="1E1A1A"/>
                </a:solidFill>
                <a:latin typeface="Calibri"/>
              </a:rPr>
              <a:t>"</a:t>
            </a:r>
            <a:r>
              <a:rPr sz="1850" b="0" i="0" dirty="0">
                <a:solidFill>
                  <a:srgbClr val="1E1A1A"/>
                </a:solidFill>
                <a:latin typeface="Calibri"/>
              </a:rPr>
              <a:t> — 'Give me commented Python for Google </a:t>
            </a:r>
            <a:r>
              <a:rPr sz="1850" b="0" i="0" dirty="0" err="1">
                <a:solidFill>
                  <a:srgbClr val="1E1A1A"/>
                </a:solidFill>
                <a:latin typeface="Calibri"/>
              </a:rPr>
              <a:t>Colab</a:t>
            </a:r>
            <a:r>
              <a:rPr sz="1850" b="0" i="0" dirty="0">
                <a:solidFill>
                  <a:srgbClr val="1E1A1A"/>
                </a:solidFill>
                <a:latin typeface="Calibri"/>
              </a:rPr>
              <a:t>, nothing else.'</a:t>
            </a: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 dirty="0">
                <a:solidFill>
                  <a:srgbClr val="1E1A1A"/>
                </a:solidFill>
                <a:latin typeface="Calibri"/>
              </a:rPr>
              <a:t>•  </a:t>
            </a:r>
            <a:r>
              <a:rPr lang="en-TR" sz="1850" b="0" i="0" dirty="0">
                <a:solidFill>
                  <a:srgbClr val="1E1A1A"/>
                </a:solidFill>
                <a:latin typeface="Calibri"/>
              </a:rPr>
              <a:t>"</a:t>
            </a:r>
            <a:r>
              <a:rPr sz="1850" b="0" i="0" dirty="0">
                <a:solidFill>
                  <a:srgbClr val="1E1A1A"/>
                </a:solidFill>
                <a:latin typeface="Calibri"/>
              </a:rPr>
              <a:t>Constraints</a:t>
            </a:r>
            <a:r>
              <a:rPr lang="en-TR" sz="1850" b="0" i="0" dirty="0">
                <a:solidFill>
                  <a:srgbClr val="1E1A1A"/>
                </a:solidFill>
                <a:latin typeface="Calibri"/>
              </a:rPr>
              <a:t>"</a:t>
            </a:r>
            <a:r>
              <a:rPr sz="1850" b="0" i="0" dirty="0">
                <a:solidFill>
                  <a:srgbClr val="1E1A1A"/>
                </a:solidFill>
                <a:latin typeface="Calibri"/>
              </a:rPr>
              <a:t> — 'Use only pandas and matplotlib. Do not invent column names.'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75488"/>
            <a:ext cx="1063721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1C2B"/>
                </a:solidFill>
                <a:latin typeface="Calibri"/>
              </a:rPr>
              <a:t>WEEK 2 · PROMPTING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1A1A"/>
                </a:solidFill>
                <a:latin typeface="Georgia"/>
              </a:rPr>
              <a:t>Before — what everyone types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371600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975104"/>
            <a:ext cx="1027145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57504D"/>
                </a:solidFill>
                <a:latin typeface="Calibri"/>
              </a:rPr>
              <a:t>Ask it: “Can you help me clean up my training data?”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78608"/>
            <a:ext cx="10362895" cy="36393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>
                <a:solidFill>
                  <a:srgbClr val="1E1A1A"/>
                </a:solidFill>
                <a:latin typeface="Calibri"/>
              </a:rPr>
              <a:t>•  It invents your columns. df['date'], df['session_rpe'] — none of them yours.</a:t>
            </a: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>
                <a:solidFill>
                  <a:srgbClr val="1E1A1A"/>
                </a:solidFill>
                <a:latin typeface="Calibri"/>
              </a:rPr>
              <a:t>•  A generic cleaning tutorial, not an answer about your file.</a:t>
            </a: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>
                <a:solidFill>
                  <a:srgbClr val="1E1A1A"/>
                </a:solidFill>
                <a:latin typeface="Calibri"/>
              </a:rPr>
              <a:t>•  You have to read all of it to find that out.</a:t>
            </a:r>
          </a:p>
          <a:p>
            <a:pPr algn="l">
              <a:lnSpc>
                <a:spcPct val="126000"/>
              </a:lnSpc>
              <a:spcBef>
                <a:spcPts val="900"/>
              </a:spcBef>
              <a:spcAft>
                <a:spcPts val="200"/>
              </a:spcAft>
            </a:pPr>
            <a:r>
              <a:rPr sz="1700" b="1" i="0">
                <a:solidFill>
                  <a:srgbClr val="8A1C2B"/>
                </a:solidFill>
                <a:latin typeface="Calibri"/>
              </a:rPr>
              <a:t>A good answer to a question nobody asked.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75488"/>
            <a:ext cx="1063721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1C2B"/>
                </a:solidFill>
                <a:latin typeface="Calibri"/>
              </a:rPr>
              <a:t>WEEK 2 · PROMPTING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1A1A"/>
                </a:solidFill>
                <a:latin typeface="Georgia"/>
              </a:rPr>
              <a:t>After — the same question, in five parts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371600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975104"/>
            <a:ext cx="10362895" cy="42428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>
                <a:solidFill>
                  <a:srgbClr val="1E1A1A"/>
                </a:solidFill>
                <a:latin typeface="Calibri"/>
              </a:rPr>
              <a:t>•  Role — ‘You are helping a sport scientist who does not write code.’</a:t>
            </a: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>
                <a:solidFill>
                  <a:srgbClr val="1E1A1A"/>
                </a:solidFill>
                <a:latin typeface="Calibri"/>
              </a:rPr>
              <a:t>•  Context — the five column names, each with two real values.</a:t>
            </a: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>
                <a:solidFill>
                  <a:srgbClr val="1E1A1A"/>
                </a:solidFill>
                <a:latin typeface="Calibri"/>
              </a:rPr>
              <a:t>•  Task — ‘parse Date into a datetime, handling both formats’.</a:t>
            </a: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>
                <a:solidFill>
                  <a:srgbClr val="1E1A1A"/>
                </a:solidFill>
                <a:latin typeface="Calibri"/>
              </a:rPr>
              <a:t>•  Format — ‘commented Python, one Colab cell, nothing else’.</a:t>
            </a: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>
                <a:solidFill>
                  <a:srgbClr val="1E1A1A"/>
                </a:solidFill>
                <a:latin typeface="Calibri"/>
              </a:rPr>
              <a:t>•  Constraints — ‘only pandas · do not invent column names · ask before guessing’.</a:t>
            </a:r>
          </a:p>
          <a:p>
            <a:pPr algn="l">
              <a:lnSpc>
                <a:spcPct val="126000"/>
              </a:lnSpc>
              <a:spcBef>
                <a:spcPts val="900"/>
              </a:spcBef>
              <a:spcAft>
                <a:spcPts val="200"/>
              </a:spcAft>
            </a:pPr>
            <a:r>
              <a:rPr sz="1700" b="1" i="0">
                <a:solidFill>
                  <a:srgbClr val="8A1C2B"/>
                </a:solidFill>
                <a:latin typeface="Calibri"/>
              </a:rPr>
              <a:t>Thirty seconds longer to type. It runs on the actual file.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75488"/>
            <a:ext cx="1063721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1C2B"/>
                </a:solidFill>
                <a:latin typeface="Calibri"/>
              </a:rPr>
              <a:t>WEEK 2 · PROMPTING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1A1A"/>
                </a:solidFill>
                <a:latin typeface="Georgia"/>
              </a:rPr>
              <a:t>The whole prompt, as typed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371600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" y="1975104"/>
            <a:ext cx="10637215" cy="4224528"/>
          </a:xfrm>
          <a:prstGeom prst="rect">
            <a:avLst/>
          </a:prstGeom>
          <a:solidFill>
            <a:srgbClr val="F4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975104"/>
            <a:ext cx="45720" cy="4224528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2139696"/>
            <a:ext cx="9951415" cy="38953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8A1C2B"/>
                </a:solidFill>
                <a:latin typeface="Calibri"/>
              </a:rPr>
              <a:t>ROLE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E1A1A"/>
                </a:solidFill>
                <a:latin typeface="Consolas"/>
              </a:rPr>
              <a:t>You are helping a sport scientist who does not write code.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  <a:spcAft>
                <a:spcPts val="200"/>
              </a:spcAft>
            </a:pPr>
            <a:r>
              <a:rPr sz="950" b="1" i="0">
                <a:solidFill>
                  <a:srgbClr val="8A1C2B"/>
                </a:solidFill>
                <a:latin typeface="Calibri"/>
              </a:rPr>
              <a:t>CONTEXT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E1A1A"/>
                </a:solidFill>
                <a:latin typeface="Consolas"/>
              </a:rPr>
              <a:t>I have a CSV, training_load_messy.csv, with these exact columns and values: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E1A1A"/>
                </a:solidFill>
                <a:latin typeface="Consolas"/>
              </a:rPr>
              <a:t>  Date:     '03/09/2026' and '2026-09-03'   (two formats in one column)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E1A1A"/>
                </a:solidFill>
                <a:latin typeface="Consolas"/>
              </a:rPr>
              <a:t>  Athlete:  'A03' and 'a3'                  (same athlete, typed twice)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E1A1A"/>
                </a:solidFill>
                <a:latin typeface="Consolas"/>
              </a:rPr>
              <a:t>  Duration: '85' and '1:25'                 (minutes, or h:mm)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E1A1A"/>
                </a:solidFill>
                <a:latin typeface="Consolas"/>
              </a:rPr>
              <a:t>  RPE:      '6.5' and ''                    (empty when not recorded)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E1A1A"/>
                </a:solidFill>
                <a:latin typeface="Consolas"/>
              </a:rPr>
              <a:t>  Notes:    '' and 'late'</a:t>
            </a:r>
          </a:p>
          <a:p>
            <a:pPr algn="l">
              <a:lnSpc>
                <a:spcPct val="122000"/>
              </a:lnSpc>
              <a:spcBef>
                <a:spcPts val="700"/>
              </a:spcBef>
              <a:spcAft>
                <a:spcPts val="200"/>
              </a:spcAft>
            </a:pPr>
            <a:r>
              <a:rPr sz="950" b="1" i="0">
                <a:solidFill>
                  <a:srgbClr val="8A1C2B"/>
                </a:solidFill>
                <a:latin typeface="Calibri"/>
              </a:rPr>
              <a:t>TASK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E1A1A"/>
                </a:solidFill>
                <a:latin typeface="Consolas"/>
              </a:rPr>
              <a:t>Read the file and parse Date into a real datetime, handling both formats.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  <a:spcAft>
                <a:spcPts val="200"/>
              </a:spcAft>
            </a:pPr>
            <a:r>
              <a:rPr sz="950" b="1" i="0">
                <a:solidFill>
                  <a:srgbClr val="8A1C2B"/>
                </a:solidFill>
                <a:latin typeface="Calibri"/>
              </a:rPr>
              <a:t>FORMAT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E1A1A"/>
                </a:solidFill>
                <a:latin typeface="Consolas"/>
              </a:rPr>
              <a:t>Give me commented Python for one Google Colab cell, nothing else.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  <a:spcAft>
                <a:spcPts val="200"/>
              </a:spcAft>
            </a:pPr>
            <a:r>
              <a:rPr sz="950" b="1" i="0">
                <a:solidFill>
                  <a:srgbClr val="8A1C2B"/>
                </a:solidFill>
                <a:latin typeface="Calibri"/>
              </a:rPr>
              <a:t>CONSTRAINTS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E1A1A"/>
                </a:solidFill>
                <a:latin typeface="Consolas"/>
              </a:rPr>
              <a:t>Use only pandas. Do not invent column names.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E1A1A"/>
                </a:solidFill>
                <a:latin typeface="Consolas"/>
              </a:rPr>
              <a:t>If anything is ambiguous, ask me before guessing.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106372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1">
                <a:solidFill>
                  <a:srgbClr val="57504D"/>
                </a:solidFill>
                <a:latin typeface="Calibri"/>
              </a:rPr>
              <a:t>Copy it. Swap in your own column names and it still works.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783080"/>
            <a:ext cx="9997135" cy="3291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E1A1A"/>
                </a:solidFill>
                <a:latin typeface="Georgia"/>
              </a:rPr>
              <a:t>Give it your schema, not a description of your data.</a:t>
            </a:r>
          </a:p>
          <a:p>
            <a:pPr algn="ctr">
              <a:lnSpc>
                <a:spcPct val="128000"/>
              </a:lnSpc>
              <a:spcBef>
                <a:spcPts val="1600"/>
              </a:spcBef>
              <a:spcAft>
                <a:spcPts val="600"/>
              </a:spcAft>
            </a:pPr>
            <a:r>
              <a:rPr sz="1700" b="0" i="0">
                <a:solidFill>
                  <a:srgbClr val="57504D"/>
                </a:solidFill>
                <a:latin typeface="Calibri"/>
              </a:rPr>
              <a:t>Paste the actual column names and two real rows. Ten seconds of effort; most of the improvement.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75488"/>
            <a:ext cx="1063721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1C2B"/>
                </a:solidFill>
                <a:latin typeface="Calibri"/>
              </a:rPr>
              <a:t>WEEK 2 · PROMPTING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1A1A"/>
                </a:solidFill>
                <a:latin typeface="Georgia"/>
              </a:rPr>
              <a:t>The same request, with and without the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371600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" y="1975104"/>
            <a:ext cx="5067147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139696"/>
            <a:ext cx="506714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8A1C2B"/>
                </a:solidFill>
                <a:latin typeface="Calibri"/>
              </a:rPr>
              <a:t>You described your 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596896"/>
            <a:ext cx="5067147" cy="1871090"/>
          </a:xfrm>
          <a:prstGeom prst="rect">
            <a:avLst/>
          </a:prstGeom>
          <a:solidFill>
            <a:srgbClr val="F4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8408" y="2752344"/>
            <a:ext cx="4701387" cy="1560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B807C"/>
                </a:solidFill>
                <a:latin typeface="Consolas"/>
              </a:rPr>
              <a:t># 'I have training data with dates, athlete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B807C"/>
                </a:solidFill>
                <a:latin typeface="Consolas"/>
              </a:rPr>
              <a:t>#  IDs, session duration and RPE'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1A1A"/>
                </a:solidFill>
                <a:latin typeface="Consolas"/>
              </a:rPr>
              <a:t>df = pd.read_csv('data.csv')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1A1A"/>
                </a:solidFill>
                <a:latin typeface="Consolas"/>
              </a:rPr>
              <a:t>df['date'] = pd.to_datetime(df['date'])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1A1A"/>
                </a:solidFill>
                <a:latin typeface="Consolas"/>
              </a:rPr>
              <a:t>df['duration'] = df['duration'].astype(float)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1A1A"/>
                </a:solidFill>
                <a:latin typeface="Consolas"/>
              </a:rPr>
              <a:t>df['rpe'] = df['rpe'].astype(float)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614291"/>
            <a:ext cx="506714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A1C2B"/>
                </a:solidFill>
                <a:latin typeface="Calibri"/>
              </a:rPr>
              <a:t>KeyError: 'date'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47307" y="1975104"/>
            <a:ext cx="5067147" cy="32004"/>
          </a:xfrm>
          <a:prstGeom prst="rect">
            <a:avLst/>
          </a:prstGeom>
          <a:solidFill>
            <a:srgbClr val="1B6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47307" y="2139696"/>
            <a:ext cx="506714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B6470"/>
                </a:solidFill>
                <a:latin typeface="Calibri"/>
              </a:rPr>
              <a:t>You pasted your schema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47307" y="2596896"/>
            <a:ext cx="5067147" cy="1871090"/>
          </a:xfrm>
          <a:prstGeom prst="rect">
            <a:avLst/>
          </a:prstGeom>
          <a:solidFill>
            <a:srgbClr val="F4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48475" y="2752344"/>
            <a:ext cx="4701387" cy="1560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B807C"/>
                </a:solidFill>
                <a:latin typeface="Consolas"/>
              </a:rPr>
              <a:t># Date, Athlete, Duration, RPE, Notes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B807C"/>
                </a:solidFill>
                <a:latin typeface="Consolas"/>
              </a:rPr>
              <a:t># Date: '03/09/2026' and '2026-09-03'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1A1A"/>
                </a:solidFill>
                <a:latin typeface="Consolas"/>
              </a:rPr>
              <a:t>df = pd.read_csv('training_load_messy.csv')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1A1A"/>
                </a:solidFill>
                <a:latin typeface="Consolas"/>
              </a:rPr>
              <a:t>df['Date'] = pd.to_datetime(df['Date'],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1A1A"/>
                </a:solidFill>
                <a:latin typeface="Consolas"/>
              </a:rPr>
              <a:t>                format='mixed', dayfirst=True)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1A1A"/>
                </a:solidFill>
                <a:latin typeface="Consolas"/>
              </a:rPr>
              <a:t>df['RPE'] = pd.to_numeric(df['RPE'],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1A1A"/>
                </a:solidFill>
                <a:latin typeface="Consolas"/>
              </a:rPr>
              <a:t>                errors='coerce')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7307" y="4614291"/>
            <a:ext cx="506714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B6470"/>
                </a:solidFill>
                <a:latin typeface="Calibri"/>
              </a:rPr>
              <a:t>Runs. Both date formats, blank RPE as NaN.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199632"/>
            <a:ext cx="1063721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1">
                <a:solidFill>
                  <a:srgbClr val="57504D"/>
                </a:solidFill>
                <a:latin typeface="Calibri"/>
              </a:rPr>
              <a:t>Same model, same question. The difference is four lines of your own file, pasted into the prompt.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75488"/>
            <a:ext cx="1063721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1C2B"/>
                </a:solidFill>
                <a:latin typeface="Calibri"/>
              </a:rPr>
              <a:t>WEEK 2 · PROMPTING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1A1A"/>
                </a:solidFill>
                <a:latin typeface="Georgia"/>
              </a:rPr>
              <a:t>The habit that makes you self-sufficient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371600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975104"/>
            <a:ext cx="1027145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57504D"/>
                </a:solidFill>
                <a:latin typeface="Calibri"/>
              </a:rPr>
              <a:t>This is the whole reason large language models come in Week 2 and not Week 12.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78608"/>
            <a:ext cx="10362895" cy="2226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 dirty="0">
                <a:solidFill>
                  <a:srgbClr val="1E1A1A"/>
                </a:solidFill>
                <a:latin typeface="Calibri"/>
              </a:rPr>
              <a:t>•  Your code will fail. Everybody's code fails. Failure is the normal state of writing code.</a:t>
            </a: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 dirty="0">
                <a:solidFill>
                  <a:srgbClr val="1E1A1A"/>
                </a:solidFill>
                <a:latin typeface="Calibri"/>
              </a:rPr>
              <a:t>•  </a:t>
            </a:r>
            <a:r>
              <a:rPr lang="en-TR" sz="1850" b="0" i="0" dirty="0">
                <a:solidFill>
                  <a:srgbClr val="1E1A1A"/>
                </a:solidFill>
                <a:latin typeface="Calibri"/>
              </a:rPr>
              <a:t>"</a:t>
            </a:r>
            <a:r>
              <a:rPr sz="1850" b="0" i="0" dirty="0">
                <a:solidFill>
                  <a:srgbClr val="1E1A1A"/>
                </a:solidFill>
                <a:latin typeface="Calibri"/>
              </a:rPr>
              <a:t>Copy the entire error message. All of it, including the parts that look like noise.</a:t>
            </a:r>
            <a:r>
              <a:rPr lang="en-TR" sz="1850" b="0" i="0" dirty="0">
                <a:solidFill>
                  <a:srgbClr val="1E1A1A"/>
                </a:solidFill>
                <a:latin typeface="Calibri"/>
              </a:rPr>
              <a:t>"</a:t>
            </a:r>
            <a:endParaRPr sz="1850" b="0" i="0" dirty="0">
              <a:solidFill>
                <a:srgbClr val="1E1A1A"/>
              </a:solidFill>
              <a:latin typeface="Calibri"/>
            </a:endParaRP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 dirty="0">
                <a:solidFill>
                  <a:srgbClr val="1E1A1A"/>
                </a:solidFill>
                <a:latin typeface="Calibri"/>
              </a:rPr>
              <a:t>•  Paste it back: 'This is the error I got. Here is the code. Fix it and tell me what was wrong.'</a:t>
            </a: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 dirty="0">
                <a:solidFill>
                  <a:srgbClr val="1E1A1A"/>
                </a:solidFill>
                <a:latin typeface="Calibri"/>
              </a:rPr>
              <a:t>•  Repeat until it runs. Two or three rounds is completely normal.</a:t>
            </a:r>
          </a:p>
          <a:p>
            <a:pPr algn="l">
              <a:lnSpc>
                <a:spcPct val="126000"/>
              </a:lnSpc>
              <a:spcBef>
                <a:spcPts val="900"/>
              </a:spcBef>
              <a:spcAft>
                <a:spcPts val="200"/>
              </a:spcAft>
            </a:pPr>
            <a:r>
              <a:rPr sz="1700" b="1" i="0" dirty="0">
                <a:solidFill>
                  <a:srgbClr val="8A1C2B"/>
                </a:solidFill>
                <a:latin typeface="Calibri"/>
              </a:rPr>
              <a:t>Students who build this habit finish the course. Students who do not stall around Week 6.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75488"/>
            <a:ext cx="1063721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1C2B"/>
                </a:solidFill>
                <a:latin typeface="Calibri"/>
              </a:rPr>
              <a:t>WEEK 2 · JUDGEMENT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1A1A"/>
                </a:solidFill>
                <a:latin typeface="Georgia"/>
              </a:rPr>
              <a:t>Where to use it, and where not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371600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" y="2048256"/>
            <a:ext cx="5067147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212848"/>
            <a:ext cx="5067147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8A1C2B"/>
                </a:solidFill>
                <a:latin typeface="Calibri"/>
              </a:rPr>
              <a:t>Genuinely good 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97480"/>
            <a:ext cx="5067147" cy="3566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200"/>
              </a:spcAft>
            </a:pPr>
            <a:r>
              <a:rPr sz="1550" b="0" i="0">
                <a:solidFill>
                  <a:srgbClr val="1E1A1A"/>
                </a:solidFill>
                <a:latin typeface="Calibri"/>
              </a:rPr>
              <a:t>•  Writing and fixing analysis code — your main use this term.</a:t>
            </a:r>
          </a:p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200"/>
              </a:spcAft>
            </a:pPr>
            <a:r>
              <a:rPr sz="1550" b="0" i="0">
                <a:solidFill>
                  <a:srgbClr val="1E1A1A"/>
                </a:solidFill>
                <a:latin typeface="Calibri"/>
              </a:rPr>
              <a:t>•  Explaining an unfamiliar method in plain language.</a:t>
            </a:r>
          </a:p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200"/>
              </a:spcAft>
            </a:pPr>
            <a:r>
              <a:rPr sz="1550" b="0" i="0">
                <a:solidFill>
                  <a:srgbClr val="1E1A1A"/>
                </a:solidFill>
                <a:latin typeface="Calibri"/>
              </a:rPr>
              <a:t>•  Translating, and drafting athlete or parent material.</a:t>
            </a:r>
          </a:p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200"/>
              </a:spcAft>
            </a:pPr>
            <a:r>
              <a:rPr sz="1550" b="0" i="0">
                <a:solidFill>
                  <a:srgbClr val="1E1A1A"/>
                </a:solidFill>
                <a:latin typeface="Calibri"/>
              </a:rPr>
              <a:t>•  Turning a coach's verbal criteria into a structured rubric.</a:t>
            </a:r>
          </a:p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200"/>
              </a:spcAft>
            </a:pPr>
            <a:r>
              <a:rPr sz="1550" b="0" i="0">
                <a:solidFill>
                  <a:srgbClr val="1E1A1A"/>
                </a:solidFill>
                <a:latin typeface="Calibri"/>
              </a:rPr>
              <a:t>•  First drafts of anything you will edit anyway.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47307" y="2048256"/>
            <a:ext cx="5067147" cy="32004"/>
          </a:xfrm>
          <a:prstGeom prst="rect">
            <a:avLst/>
          </a:prstGeom>
          <a:solidFill>
            <a:srgbClr val="1B6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47307" y="2212848"/>
            <a:ext cx="5067147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B6470"/>
                </a:solidFill>
                <a:latin typeface="Calibri"/>
              </a:rPr>
              <a:t>Do not use it for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47307" y="2697480"/>
            <a:ext cx="5067147" cy="3566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200"/>
              </a:spcAft>
            </a:pPr>
            <a:r>
              <a:rPr sz="1550" b="0" i="0">
                <a:solidFill>
                  <a:srgbClr val="1E1A1A"/>
                </a:solidFill>
                <a:latin typeface="Calibri"/>
              </a:rPr>
              <a:t>•  Any number you cannot verify yourself.</a:t>
            </a:r>
          </a:p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200"/>
              </a:spcAft>
            </a:pPr>
            <a:r>
              <a:rPr sz="1550" b="0" i="0">
                <a:solidFill>
                  <a:srgbClr val="1E1A1A"/>
                </a:solidFill>
                <a:latin typeface="Calibri"/>
              </a:rPr>
              <a:t>•  A literature search you will not check.</a:t>
            </a:r>
          </a:p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200"/>
              </a:spcAft>
            </a:pPr>
            <a:r>
              <a:rPr sz="1550" b="0" i="0">
                <a:solidFill>
                  <a:srgbClr val="1E1A1A"/>
                </a:solidFill>
                <a:latin typeface="Calibri"/>
              </a:rPr>
              <a:t>•  Clinical or return-to-play decisions.</a:t>
            </a:r>
          </a:p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200"/>
              </a:spcAft>
            </a:pPr>
            <a:r>
              <a:rPr sz="1550" b="0" i="0">
                <a:solidFill>
                  <a:srgbClr val="1E1A1A"/>
                </a:solidFill>
                <a:latin typeface="Calibri"/>
              </a:rPr>
              <a:t>•  Load prescription without the athlete's data.</a:t>
            </a:r>
          </a:p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200"/>
              </a:spcAft>
            </a:pPr>
            <a:r>
              <a:rPr sz="1550" b="0" i="0">
                <a:solidFill>
                  <a:srgbClr val="1E1A1A"/>
                </a:solidFill>
                <a:latin typeface="Calibri"/>
              </a:rPr>
              <a:t>•  Anything where being confidently wrong is expensive.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B6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271455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E1A1A"/>
                </a:solidFill>
                <a:latin typeface="Georgia"/>
              </a:rPr>
              <a:t>Where is the line?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48840"/>
            <a:ext cx="10180015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1200"/>
              </a:spcBef>
              <a:spcAft>
                <a:spcPts val="300"/>
              </a:spcAft>
            </a:pPr>
            <a:r>
              <a:rPr sz="1900" b="0" i="0">
                <a:solidFill>
                  <a:srgbClr val="1E1A1A"/>
                </a:solidFill>
                <a:latin typeface="Calibri"/>
              </a:rPr>
              <a:t>1.   An LLM writes your data-cleaning code and you run it. Yours or its work?</a:t>
            </a:r>
          </a:p>
          <a:p>
            <a:pPr algn="l">
              <a:lnSpc>
                <a:spcPct val="130000"/>
              </a:lnSpc>
              <a:spcBef>
                <a:spcPts val="1200"/>
              </a:spcBef>
              <a:spcAft>
                <a:spcPts val="300"/>
              </a:spcAft>
            </a:pPr>
            <a:r>
              <a:rPr sz="1900" b="0" i="0">
                <a:solidFill>
                  <a:srgbClr val="1E1A1A"/>
                </a:solidFill>
                <a:latin typeface="Calibri"/>
              </a:rPr>
              <a:t>2.   It drafts a paragraph of your literature review and you edit every sentence. Do you cite it?</a:t>
            </a:r>
          </a:p>
          <a:p>
            <a:pPr algn="l">
              <a:lnSpc>
                <a:spcPct val="130000"/>
              </a:lnSpc>
              <a:spcBef>
                <a:spcPts val="1200"/>
              </a:spcBef>
              <a:spcAft>
                <a:spcPts val="300"/>
              </a:spcAft>
            </a:pPr>
            <a:r>
              <a:rPr sz="1900" b="0" i="0">
                <a:solidFill>
                  <a:srgbClr val="1E1A1A"/>
                </a:solidFill>
                <a:latin typeface="Calibri"/>
              </a:rPr>
              <a:t>3.   It suggests an interpretation of your result that you had not thought of, and you agree with it. Whose idea?</a:t>
            </a:r>
          </a:p>
          <a:p>
            <a:pPr algn="l">
              <a:lnSpc>
                <a:spcPct val="130000"/>
              </a:lnSpc>
              <a:spcBef>
                <a:spcPts val="1200"/>
              </a:spcBef>
              <a:spcAft>
                <a:spcPts val="300"/>
              </a:spcAft>
            </a:pPr>
            <a:r>
              <a:rPr sz="1900" b="0" i="0">
                <a:solidFill>
                  <a:srgbClr val="1E1A1A"/>
                </a:solidFill>
                <a:latin typeface="Calibri"/>
              </a:rPr>
              <a:t>4.   Your supervisor asks whether you used AI. What is the honest answer, and what should the log contain?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F0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B6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685800"/>
            <a:ext cx="106372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B6470"/>
                </a:solidFill>
                <a:latin typeface="Calibri"/>
              </a:rPr>
              <a:t>LABORATORY · THIS SESSION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101800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E1A1A"/>
                </a:solidFill>
                <a:latin typeface="Georgia"/>
              </a:rPr>
              <a:t>Lab 2 — Prompt-to-notebook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48840"/>
            <a:ext cx="10180015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800"/>
              </a:spcBef>
              <a:spcAft>
                <a:spcPts val="200"/>
              </a:spcAft>
            </a:pPr>
            <a:r>
              <a:rPr sz="1750" b="0" i="0">
                <a:solidFill>
                  <a:srgbClr val="1E1A1A"/>
                </a:solidFill>
                <a:latin typeface="Calibri"/>
              </a:rPr>
              <a:t>•  You get a deliberately messy training-load file: two date formats, athlete IDs typed two ways, durations as both '85' and '1:25', and 12% of RPE values missing.</a:t>
            </a:r>
          </a:p>
          <a:p>
            <a:pPr algn="l">
              <a:lnSpc>
                <a:spcPct val="126000"/>
              </a:lnSpc>
              <a:spcBef>
                <a:spcPts val="800"/>
              </a:spcBef>
              <a:spcAft>
                <a:spcPts val="200"/>
              </a:spcAft>
            </a:pPr>
            <a:r>
              <a:rPr sz="1750" b="0" i="0">
                <a:solidFill>
                  <a:srgbClr val="1E1A1A"/>
                </a:solidFill>
                <a:latin typeface="Calibri"/>
              </a:rPr>
              <a:t>•  Your job: get an LLM to write the code that cleans it and plots weekly load per athlete.</a:t>
            </a:r>
          </a:p>
          <a:p>
            <a:pPr algn="l">
              <a:lnSpc>
                <a:spcPct val="126000"/>
              </a:lnSpc>
              <a:spcBef>
                <a:spcPts val="800"/>
              </a:spcBef>
              <a:spcAft>
                <a:spcPts val="200"/>
              </a:spcAft>
            </a:pPr>
            <a:r>
              <a:rPr sz="1750" b="0" i="0">
                <a:solidFill>
                  <a:srgbClr val="1E1A1A"/>
                </a:solidFill>
                <a:latin typeface="Calibri"/>
              </a:rPr>
              <a:t>•  You may not write the code yourself. You must obtain it, run it, hit the error, and paste the error back.</a:t>
            </a:r>
          </a:p>
          <a:p>
            <a:pPr algn="l">
              <a:lnSpc>
                <a:spcPct val="126000"/>
              </a:lnSpc>
              <a:spcBef>
                <a:spcPts val="800"/>
              </a:spcBef>
              <a:spcAft>
                <a:spcPts val="200"/>
              </a:spcAft>
            </a:pPr>
            <a:r>
              <a:rPr sz="1750" b="0" i="0">
                <a:solidFill>
                  <a:srgbClr val="1E1A1A"/>
                </a:solidFill>
                <a:latin typeface="Calibri"/>
              </a:rPr>
              <a:t>•  A checkpoint cell tells you exactly what is still wrong — feed its complaints straight to the model.</a:t>
            </a:r>
          </a:p>
          <a:p>
            <a:pPr algn="l">
              <a:lnSpc>
                <a:spcPct val="126000"/>
              </a:lnSpc>
              <a:spcBef>
                <a:spcPts val="800"/>
              </a:spcBef>
              <a:spcAft>
                <a:spcPts val="200"/>
              </a:spcAft>
            </a:pPr>
            <a:r>
              <a:rPr sz="1750" b="0" i="0">
                <a:solidFill>
                  <a:srgbClr val="1E1A1A"/>
                </a:solidFill>
                <a:latin typeface="Calibri"/>
              </a:rPr>
              <a:t>•  Then the hallucination hunt: three plausible claims about the data. At least one is false, and nobody tells you how many.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621792"/>
            <a:ext cx="1063721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CFBF9"/>
                </a:solidFill>
                <a:latin typeface="Georgia"/>
              </a:rPr>
              <a:t>What to take away from today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91056"/>
            <a:ext cx="1371600" cy="32004"/>
          </a:xfrm>
          <a:prstGeom prst="rect">
            <a:avLst/>
          </a:prstGeom>
          <a:solidFill>
            <a:srgbClr val="E58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920240"/>
            <a:ext cx="10180015" cy="4581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1300"/>
              </a:spcBef>
              <a:spcAft>
                <a:spcPts val="200"/>
              </a:spcAft>
            </a:pPr>
            <a:r>
              <a:rPr sz="1900" b="0" i="0">
                <a:solidFill>
                  <a:srgbClr val="FCFBF9"/>
                </a:solidFill>
                <a:latin typeface="Calibri"/>
              </a:rPr>
              <a:t>1.   A language model predicts the next word. It is optimised for plausibility, never for truth.</a:t>
            </a:r>
          </a:p>
          <a:p>
            <a:pPr algn="l">
              <a:lnSpc>
                <a:spcPct val="128000"/>
              </a:lnSpc>
              <a:spcBef>
                <a:spcPts val="1300"/>
              </a:spcBef>
              <a:spcAft>
                <a:spcPts val="200"/>
              </a:spcAft>
            </a:pPr>
            <a:r>
              <a:rPr sz="1900" b="0" i="0">
                <a:solidFill>
                  <a:srgbClr val="FCFBF9"/>
                </a:solidFill>
                <a:latin typeface="Calibri"/>
              </a:rPr>
              <a:t>2.   Fluency is free; accuracy is not. They come apart, and the fluent wrong answer is the dangerous one.</a:t>
            </a:r>
          </a:p>
          <a:p>
            <a:pPr algn="l">
              <a:lnSpc>
                <a:spcPct val="128000"/>
              </a:lnSpc>
              <a:spcBef>
                <a:spcPts val="1300"/>
              </a:spcBef>
              <a:spcAft>
                <a:spcPts val="200"/>
              </a:spcAft>
            </a:pPr>
            <a:r>
              <a:rPr sz="1900" b="0" i="0">
                <a:solidFill>
                  <a:srgbClr val="FCFBF9"/>
                </a:solidFill>
                <a:latin typeface="Calibri"/>
              </a:rPr>
              <a:t>3.   Give it your schema, not a description. Then paste the error back until it runs.</a:t>
            </a:r>
          </a:p>
          <a:p>
            <a:pPr algn="l">
              <a:lnSpc>
                <a:spcPct val="128000"/>
              </a:lnSpc>
              <a:spcBef>
                <a:spcPts val="1300"/>
              </a:spcBef>
              <a:spcAft>
                <a:spcPts val="200"/>
              </a:spcAft>
            </a:pPr>
            <a:r>
              <a:rPr sz="1900" b="0" i="0">
                <a:solidFill>
                  <a:srgbClr val="FCFBF9"/>
                </a:solidFill>
                <a:latin typeface="Calibri"/>
              </a:rPr>
              <a:t>4.   Use it for anything you will check. Never for a number you cannot verify yourself.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75488"/>
            <a:ext cx="1063721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1C2B"/>
                </a:solidFill>
                <a:latin typeface="Calibri"/>
              </a:rPr>
              <a:t>WEEK 2 ·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1A1A"/>
                </a:solidFill>
                <a:latin typeface="Georgia"/>
              </a:rPr>
              <a:t>Before next week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00784"/>
            <a:ext cx="1371600" cy="32004"/>
          </a:xfrm>
          <a:prstGeom prst="rect">
            <a:avLst/>
          </a:prstGeom>
          <a:solidFill>
            <a:srgbClr val="8A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975104"/>
            <a:ext cx="10362895" cy="23559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 dirty="0">
                <a:solidFill>
                  <a:srgbClr val="1E1A1A"/>
                </a:solidFill>
                <a:latin typeface="Calibri"/>
              </a:rPr>
              <a:t>•  </a:t>
            </a:r>
            <a:r>
              <a:rPr lang="en-TR" sz="1850" b="0" i="0" dirty="0">
                <a:solidFill>
                  <a:srgbClr val="1E1A1A"/>
                </a:solidFill>
                <a:latin typeface="Calibri"/>
              </a:rPr>
              <a:t>"</a:t>
            </a:r>
            <a:r>
              <a:rPr sz="1850" b="0" i="0" dirty="0">
                <a:solidFill>
                  <a:srgbClr val="1E1A1A"/>
                </a:solidFill>
                <a:latin typeface="Calibri"/>
              </a:rPr>
              <a:t>Read</a:t>
            </a:r>
            <a:r>
              <a:rPr lang="en-TR" sz="1850" b="0" i="0" dirty="0">
                <a:solidFill>
                  <a:srgbClr val="1E1A1A"/>
                </a:solidFill>
                <a:latin typeface="Calibri"/>
              </a:rPr>
              <a:t>"</a:t>
            </a:r>
            <a:r>
              <a:rPr sz="1850" b="0" i="0" dirty="0">
                <a:solidFill>
                  <a:srgbClr val="1E1A1A"/>
                </a:solidFill>
                <a:latin typeface="Calibri"/>
              </a:rPr>
              <a:t>: 'Large Language Models in Sport Science &amp; Medicine: Opportunities, Risks and Considerations' (</a:t>
            </a:r>
            <a:r>
              <a:rPr sz="1850" b="0" i="0" dirty="0" err="1">
                <a:solidFill>
                  <a:srgbClr val="1E1A1A"/>
                </a:solidFill>
                <a:latin typeface="Calibri"/>
              </a:rPr>
              <a:t>arXiv</a:t>
            </a:r>
            <a:r>
              <a:rPr sz="1850" b="0" i="0" dirty="0">
                <a:solidFill>
                  <a:srgbClr val="1E1A1A"/>
                </a:solidFill>
                <a:latin typeface="Calibri"/>
              </a:rPr>
              <a:t> 2305.03851). Short, and written for you.</a:t>
            </a: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 dirty="0">
                <a:solidFill>
                  <a:srgbClr val="1E1A1A"/>
                </a:solidFill>
                <a:latin typeface="Calibri"/>
              </a:rPr>
              <a:t>•  </a:t>
            </a:r>
            <a:r>
              <a:rPr lang="en-TR" sz="1850" b="0" i="0" dirty="0">
                <a:solidFill>
                  <a:srgbClr val="1E1A1A"/>
                </a:solidFill>
                <a:latin typeface="Calibri"/>
              </a:rPr>
              <a:t>"</a:t>
            </a:r>
            <a:r>
              <a:rPr sz="1850" b="0" i="0" dirty="0">
                <a:solidFill>
                  <a:srgbClr val="1E1A1A"/>
                </a:solidFill>
                <a:latin typeface="Calibri"/>
              </a:rPr>
              <a:t>Bring</a:t>
            </a:r>
            <a:r>
              <a:rPr lang="en-TR" sz="1850" b="0" i="0" dirty="0">
                <a:solidFill>
                  <a:srgbClr val="1E1A1A"/>
                </a:solidFill>
                <a:latin typeface="Calibri"/>
              </a:rPr>
              <a:t>"</a:t>
            </a:r>
            <a:r>
              <a:rPr sz="1850" b="0" i="0" dirty="0">
                <a:solidFill>
                  <a:srgbClr val="1E1A1A"/>
                </a:solidFill>
                <a:latin typeface="Calibri"/>
              </a:rPr>
              <a:t>: if you have a real data file from your own work — a spreadsheet from a coach, your thesis data — bring it. </a:t>
            </a: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200"/>
              </a:spcAft>
            </a:pPr>
            <a:r>
              <a:rPr sz="1850" b="0" i="0" dirty="0">
                <a:solidFill>
                  <a:srgbClr val="1E1A1A"/>
                </a:solidFill>
                <a:latin typeface="Calibri"/>
              </a:rPr>
              <a:t>•  </a:t>
            </a:r>
            <a:r>
              <a:rPr lang="en-TR" sz="1850" b="0" i="0" dirty="0">
                <a:solidFill>
                  <a:srgbClr val="1E1A1A"/>
                </a:solidFill>
                <a:latin typeface="Calibri"/>
              </a:rPr>
              <a:t>"</a:t>
            </a:r>
            <a:r>
              <a:rPr sz="1850" b="0" i="0" dirty="0">
                <a:solidFill>
                  <a:srgbClr val="1E1A1A"/>
                </a:solidFill>
                <a:latin typeface="Calibri"/>
              </a:rPr>
              <a:t>Next week</a:t>
            </a:r>
            <a:r>
              <a:rPr lang="en-TR" sz="1850" b="0" i="0" dirty="0">
                <a:solidFill>
                  <a:srgbClr val="1E1A1A"/>
                </a:solidFill>
                <a:latin typeface="Calibri"/>
              </a:rPr>
              <a:t>"</a:t>
            </a:r>
            <a:r>
              <a:rPr sz="1850" b="0" i="0" dirty="0">
                <a:solidFill>
                  <a:srgbClr val="1E1A1A"/>
                </a:solidFill>
                <a:latin typeface="Calibri"/>
              </a:rPr>
              <a:t>: where sport data comes from, why it is almost never in a usable shape, and the missing values that are not missing at random.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576</TotalTime>
  <Words>3416</Words>
  <Application>Microsoft Macintosh PowerPoint</Application>
  <PresentationFormat>Widescreen</PresentationFormat>
  <Paragraphs>217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Galip AYDIN</cp:lastModifiedBy>
  <cp:revision>11</cp:revision>
  <dcterms:created xsi:type="dcterms:W3CDTF">2013-01-27T09:14:16Z</dcterms:created>
  <dcterms:modified xsi:type="dcterms:W3CDTF">2026-10-14T07:00:02Z</dcterms:modified>
  <cp:category/>
</cp:coreProperties>
</file>