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11"/>
    <p:sldId id="277" r:id="rId12"/>
    <p:sldId id="278" r:id="rId13"/>
    <p:sldId id="279" r:id="rId14"/>
    <p:sldId id="265" r:id="rId15"/>
    <p:sldId id="266" r:id="rId16"/>
    <p:sldId id="267" r:id="rId17"/>
    <p:sldId id="280" r:id="rId18"/>
    <p:sldId id="281" r:id="rId19"/>
    <p:sldId id="282" r:id="rId20"/>
    <p:sldId id="268" r:id="rId21"/>
    <p:sldId id="283" r:id="rId22"/>
    <p:sldId id="269" r:id="rId23"/>
    <p:sldId id="270" r:id="rId24"/>
    <p:sldId id="272" r:id="rId25"/>
    <p:sldId id="273" r:id="rId26"/>
    <p:sldId id="274" r:id="rId27"/>
    <p:sldId id="27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19" d="100"/>
          <a:sy n="119" d="100"/>
        </p:scale>
        <p:origin x="76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7897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182880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1C2B"/>
                </a:solidFill>
                <a:latin typeface="Calibri"/>
              </a:rP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331720"/>
            <a:ext cx="981425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E1A1A"/>
                </a:solidFill>
                <a:latin typeface="Georgia"/>
              </a:rPr>
              <a:t>Large language models
as a working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069080"/>
            <a:ext cx="9265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7504D"/>
                </a:solidFill>
                <a:latin typeface="Calibri"/>
              </a:rPr>
              <a:t>What they actually do, why they invent things with total confidence,
and how to make one write your analysis for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80644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alibri"/>
              </a:rPr>
              <a:t>PES 3850 · Artificial Intelligence Applications in Sport · METU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Where we left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17527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AI is a goal, not a method. Ask which kind, and how it was built.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Machine learning: stop writing the rules, start supplying examples.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tr-TR" sz="1850">
                <a:solidFill>
                  <a:srgbClr val="1E1A1A"/>
                </a:solidFill>
                <a:latin typeface="Calibri"/>
              </a:rPr>
              <a:t>A</a:t>
            </a:r>
            <a:r>
              <a:rPr sz="1850" b="0" i="0">
                <a:solidFill>
                  <a:srgbClr val="1E1A1A"/>
                </a:solidFill>
                <a:latin typeface="Calibri"/>
              </a:rPr>
              <a:t>lmost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everyone had used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ChatGPT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. Almost nobody had checked a reference it gave them.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Today we find out why that matters — and then put it to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is it actually doing?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No mathematics. One idea.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A language model predicts the next word.
That is the whole mechanism.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Everything it appears to know is a side effect of getting extremely good at that one task.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How that becomes something useful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read an enormous amount of text — books, articles, websites, code — and practised guessing what comes next.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To guess well you must, in effect, absorb grammar, facts, styles, arguments and reasoning patterns.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Then it was tuned to follow instructions rather than simply continue text.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Then it was tuned again, on human preferences, to be helpful and polite.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At no point in any of that was it trained to be correct. It was trained to be plausible.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Two things that come apart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Fluency — what it is optimised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1776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Grammatical, confident, well-structured </a:t>
            </a:r>
            <a:r>
              <a:rPr lang="tr-TR" sz="1550" b="0" i="0" dirty="0" err="1">
                <a:solidFill>
                  <a:srgbClr val="1E1A1A"/>
                </a:solidFill>
                <a:latin typeface="Calibri"/>
              </a:rPr>
              <a:t>text</a:t>
            </a:r>
            <a:r>
              <a:rPr sz="1550" b="0" i="0" dirty="0">
                <a:solidFill>
                  <a:srgbClr val="1E1A1A"/>
                </a:solidFill>
                <a:latin typeface="Calibri"/>
              </a:rPr>
              <a:t>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The right register for a coach, a journal, a parent.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Correct-looking citations in the correct format.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 dirty="0">
                <a:solidFill>
                  <a:srgbClr val="1E1A1A"/>
                </a:solidFill>
                <a:latin typeface="Calibri"/>
              </a:rPr>
              <a:t>•  You get all of this free, every time, whether or not the content is true.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Accuracy — what it is not optimised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Whether the number is right.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Whether the study it cited exists.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Whether the physiology is sound.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Whether the advice is safe for this athlete.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words you will hear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9442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Token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roughly a word, sometimes part of one. The model works in tokens, not letters.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Context window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how much it can hold in mind at once. Beyond it, earlier material simply falls away.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Temperature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a dial from predictable to inventive. Low for extracting a number; higher for brainstorming.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Hallucination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fluent, confident, wrong. The word is unfortunate; it sounds like a malfunction, and it is normal operation.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There is no separate 'truth mode'. Correct answers and invented ones are produced by exactly the same process.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it goes wrong in sport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Four failures worth recognising by sight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ways this bites a sport scientist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585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Invented references.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Real authors, real journal, plausible title, volume and page numbers — and the paper does not exist.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Invented norms.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'Elite male rowers average 85 ml/kg/min.' Confident, specific, and not from anywhere.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Confident wrong physiology.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Fluent explanations of mechanisms that are out of date or simply incorrect.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Unsafe advice.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A training plan written without asking about the injury history it was never told.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The dangerous cases are not the ridiculous ones. They are the ones that look exactly like the right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Demo 1 — the references that do not exist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 dirty="0">
                <a:solidFill>
                  <a:srgbClr val="57504D"/>
                </a:solidFill>
                <a:latin typeface="Calibri"/>
              </a:rPr>
              <a:t>Ask it: “Five peer-reviewed references on eccentric hamstring training and hamstring injury prevention in elite football — authors, year, journal, volume, pages.”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1638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Back comes flawless APA. Real authors who really do work on hamstrings, real journals, plausible volume numbers.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</a:t>
            </a:r>
            <a:r>
              <a:rPr lang="tr-TR" sz="1850" b="0" i="0" dirty="0" err="1">
                <a:solidFill>
                  <a:srgbClr val="1E1A1A"/>
                </a:solidFill>
                <a:latin typeface="Calibri"/>
              </a:rPr>
              <a:t>Check</a:t>
            </a:r>
            <a:r>
              <a:rPr lang="tr-TR" sz="1850" b="0" i="0" dirty="0">
                <a:solidFill>
                  <a:srgbClr val="1E1A1A"/>
                </a:solidFill>
                <a:latin typeface="Calibri"/>
              </a:rPr>
              <a:t> </a:t>
            </a:r>
            <a:r>
              <a:rPr lang="tr-TR" sz="1850" b="0" i="0" dirty="0" err="1">
                <a:solidFill>
                  <a:srgbClr val="1E1A1A"/>
                </a:solidFill>
                <a:latin typeface="Calibri"/>
              </a:rPr>
              <a:t>them</a:t>
            </a:r>
            <a:r>
              <a:rPr lang="tr-TR" sz="1850" b="0" i="0" dirty="0">
                <a:solidFill>
                  <a:srgbClr val="1E1A1A"/>
                </a:solidFill>
                <a:latin typeface="Calibri"/>
              </a:rPr>
              <a:t> on Google </a:t>
            </a:r>
            <a:r>
              <a:rPr lang="tr-TR" sz="1850" b="0" i="0" dirty="0" err="1">
                <a:solidFill>
                  <a:srgbClr val="1E1A1A"/>
                </a:solidFill>
                <a:latin typeface="Calibri"/>
              </a:rPr>
              <a:t>Scholar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</a:t>
            </a:r>
            <a:r>
              <a:rPr lang="tr-TR" sz="1850" dirty="0" err="1">
                <a:solidFill>
                  <a:srgbClr val="1E1A1A"/>
                </a:solidFill>
                <a:latin typeface="Calibri"/>
              </a:rPr>
              <a:t>Some</a:t>
            </a:r>
            <a:r>
              <a:rPr lang="tr-TR" sz="1850" dirty="0">
                <a:solidFill>
                  <a:srgbClr val="1E1A1A"/>
                </a:solidFill>
                <a:latin typeface="Calibri"/>
              </a:rPr>
              <a:t> of </a:t>
            </a:r>
            <a:r>
              <a:rPr lang="tr-TR" sz="1850" dirty="0" err="1">
                <a:solidFill>
                  <a:srgbClr val="1E1A1A"/>
                </a:solidFill>
                <a:latin typeface="Calibri"/>
              </a:rPr>
              <a:t>them</a:t>
            </a:r>
            <a:r>
              <a:rPr lang="tr-TR" sz="1850" dirty="0">
                <a:solidFill>
                  <a:srgbClr val="1E1A1A"/>
                </a:solidFill>
                <a:latin typeface="Calibri"/>
              </a:rPr>
              <a:t> </a:t>
            </a:r>
            <a:r>
              <a:rPr lang="tr-TR" sz="1850" dirty="0" err="1">
                <a:solidFill>
                  <a:srgbClr val="1E1A1A"/>
                </a:solidFill>
                <a:latin typeface="Calibri"/>
              </a:rPr>
              <a:t>might</a:t>
            </a:r>
            <a:r>
              <a:rPr lang="tr-TR" sz="1850" dirty="0">
                <a:solidFill>
                  <a:srgbClr val="1E1A1A"/>
                </a:solidFill>
                <a:latin typeface="Calibri"/>
              </a:rPr>
              <a:t> not 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return nothing at all.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Demo 2 — the numbers from nowhere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 dirty="0">
                <a:solidFill>
                  <a:srgbClr val="57504D"/>
                </a:solidFill>
                <a:latin typeface="Calibri"/>
              </a:rPr>
              <a:t>Ask it: “Normative Yo-Yo Intermittent Recovery Test Level 1 distances for Turkish </a:t>
            </a:r>
            <a:r>
              <a:rPr sz="1800" b="0" i="1" dirty="0" err="1">
                <a:solidFill>
                  <a:srgbClr val="57504D"/>
                </a:solidFill>
                <a:latin typeface="Calibri"/>
              </a:rPr>
              <a:t>Süper</a:t>
            </a:r>
            <a:r>
              <a:rPr sz="1800" b="0" i="1" dirty="0">
                <a:solidFill>
                  <a:srgbClr val="57504D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57504D"/>
                </a:solidFill>
                <a:latin typeface="Calibri"/>
              </a:rPr>
              <a:t>Lig</a:t>
            </a:r>
            <a:r>
              <a:rPr sz="1800" b="0" i="1" dirty="0">
                <a:solidFill>
                  <a:srgbClr val="57504D"/>
                </a:solidFill>
                <a:latin typeface="Calibri"/>
              </a:rPr>
              <a:t> players, broken down by playing position.”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1996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Back comes a clean table. Midfielders highest,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centre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-backs and keepers lowest — the ordering is right, and that is what convinces.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Do not argue with the numbers. Ask one follow-up: which study is each figure from, and what was the sample size?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It can produce the shape of a normative table without the study. Plausible structure, no source.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Demo 3 — fluent, confident, out of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 dirty="0">
                <a:solidFill>
                  <a:srgbClr val="57504D"/>
                </a:solidFill>
                <a:latin typeface="Calibri"/>
              </a:rPr>
              <a:t>Ask it: “Explain to a first-year student why their legs are sore two days after a heavy squat session.”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Listen for lactic acid. Many answers still open with it, or hedge with ‘partly lactic acid, partly muscle damage’.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Blood lactate is back to resting values within the hour. Soreness peaks at 24 to 72 hours. One cannot be causing the other.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Soreness follows mechanical disruption from eccentric loading — the lowering phase, not the lifting phase.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Nothing here fails a search. A wrong mechanism passes every check a student knows how to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Demo 4 — the question it never 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 dirty="0">
                <a:solidFill>
                  <a:srgbClr val="57504D"/>
                </a:solidFill>
                <a:latin typeface="Calibri"/>
              </a:rPr>
              <a:t>Ask it: “One of my players strained his hamstring three weeks ago. Write me a six-week </a:t>
            </a:r>
            <a:r>
              <a:rPr sz="1800" b="0" i="1" dirty="0" err="1">
                <a:solidFill>
                  <a:srgbClr val="57504D"/>
                </a:solidFill>
                <a:latin typeface="Calibri"/>
              </a:rPr>
              <a:t>programme</a:t>
            </a:r>
            <a:r>
              <a:rPr sz="1800" b="0" i="1" dirty="0">
                <a:solidFill>
                  <a:srgbClr val="57504D"/>
                </a:solidFill>
                <a:latin typeface="Calibri"/>
              </a:rPr>
              <a:t> to get him back to full-speed sprinting.”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8288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Back comes a six-week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programme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. Sets, reps, sprint volumes, a return-to-play date. It looks reasonable. That is the problem.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Ask: which muscle, what grade, first injury or reinjury, pain-free range, strength against the other leg, medical clearance, his age.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Sharper version: ‘He took a knock to the head and says he feels fine — can he play the second half?’ The answer is no, and not today.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The absence of a question is not a signal that no question was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It will never say “I don’t know”
unless you build the situation where it can.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Not because it is dishonest. Because “I don’t know” is rarely the most plausible next sentence.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Making it work for you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Prompting that changes the output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five parts of a prompt that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Shown live, before and after, on the same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586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Role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'You are helping a sport scientist who does not write code.'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Task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one thing, stated concretely. Not 'help me with my data'.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Context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your actual column names and two real example values. This is the biggest single improvement available to you.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Format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'Give me commented Python for Google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Colab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, nothing else.'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Constraints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'Use only pandas and matplotlib. Do not invent column names.'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Before — what everyone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Ask it: “Can you help me clean up my training data?”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invents your columns. df['date'], df['session_rpe'] — none of them yours.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 generic cleaning tutorial, not an answer about your file.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You have to read all of it to find that out.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 good answer to a question nobody asked.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After — the same question, in five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Role — ‘You are helping a sport scientist who does not write code.’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Context — the five column names, each with two real values.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Task — ‘parse Date into a datetime, handling both formats’.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Format — ‘commented Python, one Colab cell, nothing else’.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Constraints — ‘only pandas · do not invent column names · ask before guessing’.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Thirty seconds longer to type. It runs on the actual file.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whole prompt, as typed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ROLE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You are helping a sport scientist who does not write code.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CONTEXT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I have a CSV, training_load_messy.csv, with these exact columns and values: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  Date:     '03/09/2026' and '2026-09-03'   (two formats in one column)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  Athlete:  'A03' and 'a3'                  (same athlete, typed twice)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  Duration: '85' and '1:25'                 (minutes, or h:mm)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  RPE:      '6.5' and ''                    (empty when not recorded)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  Notes:    '' and 'late'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TASK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Read the file and parse Date into a real datetime, handling both formats.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FORMAT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Give me commented Python for one Google Colab cell, nothing else.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CONSTRAINTS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Use only pandas. Do not invent column names.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A1A"/>
                </a:solidFill>
                <a:latin typeface="Consolas"/>
              </a:rPr>
              <a:t>If anything is ambiguous, ask me before guessing.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Copy it. Swap in your own column names and it still works.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Give it your schema, not a description of your data.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Paste the actual column names and two real rows. Ten seconds of effort; most of the improvement.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same request, with and without the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You described your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871090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560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onsolas"/>
              </a:rPr>
              <a:t># 'I have training data with dates, athlete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onsolas"/>
              </a:rPr>
              <a:t>#  IDs, session duration and RPE'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df = pd.read_csv('data.csv')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df['date'] = pd.to_datetime(df['date'])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df['duration'] = df['duration'].astype(float)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df['rpe'] = df['rpe'].astype(float)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4291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KeyError: 'date'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You pasted your schema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871090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560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onsolas"/>
              </a:rPr>
              <a:t># Date, Athlete, Duration, RPE, Notes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onsolas"/>
              </a:rPr>
              <a:t># Date: '03/09/2026' and '2026-09-03'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df = pd.read_csv('training_load_messy.csv')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df['Date'] = pd.to_datetime(df['Date'],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                format='mixed', dayfirst=True)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df['RPE'] = pd.to_numeric(df['RPE'],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                errors='coerce')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614291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Runs. Both date formats, blank RPE as NaN.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Same model, same question. The difference is four lines of your own file, pasted into the prompt.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habit that makes you self-sufficient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This is the whole reason large language models come in Week 2 and not Week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226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Your code will fail. Everybody's code fails. Failure is the normal state of writing code.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Copy the entire error message. All of it, including the parts that look like noise.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endParaRPr sz="1850" b="0" i="0" dirty="0">
              <a:solidFill>
                <a:srgbClr val="1E1A1A"/>
              </a:solidFill>
              <a:latin typeface="Calibri"/>
            </a:endParaRP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Paste it back: 'This is the error I got. Here is the code. Fix it and tell me what was wrong.'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Repeat until it runs. Two or three rounds is completely normal.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Students who build this habit finish the course. Students who do not stall around Week 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JUDGEMENT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Where to use it, and where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Genuinely good 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Writing and fixing analysis code — your main use this term.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Explaining an unfamiliar method in plain language.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Translating, and drafting athlete or parent material.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Turning a coach's verbal criteria into a structured rubric.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First drafts of anything you will edit anyway.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Do not use it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Any number you cannot verify yourself.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 literature search you will not check.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Clinical or return-to-play decisions.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Load prescription without the athlete's data.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Anything where being confidently wrong is expensive.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2714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E1A1A"/>
                </a:solidFill>
                <a:latin typeface="Georgia"/>
              </a:rPr>
              <a:t>Where is the line?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1.   An LLM writes your data-cleaning code and you run it. Yours or its work?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2.   It drafts a paragraph of your literature review and you edit every sentence. Do you cite it?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3.   It suggests an interpretation of your result that you had not thought of, and you agree with it. Whose idea?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4.   Your supervisor asks whether you used AI. What is the honest answer, and what should the log contain?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6470"/>
                </a:solidFill>
                <a:latin typeface="Calibri"/>
              </a:rPr>
              <a:t>LABORATORY · THIS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1800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1A1A"/>
                </a:solidFill>
                <a:latin typeface="Georgia"/>
              </a:rPr>
              <a:t>Lab 2 — Prompt-to-notebook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You get a deliberately messy training-load file: two date formats, athlete IDs typed two ways, durations as both '85' and '1:25', and 12% of RPE values missing.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Your job: get an LLM to write the code that cleans it and plots weekly load per athlete.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You may not write the code yourself. You must obtain it, run it, hit the error, and paste the error back.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A checkpoint cell tells you exactly what is still wrong — feed its complaints straight to the model.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Then the hallucination hunt: three plausible claims about the data. At least one is false, and nobody tells you how many.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21792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CFBF9"/>
                </a:solidFill>
                <a:latin typeface="Georgia"/>
              </a:rPr>
              <a:t>What to take away from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91056"/>
            <a:ext cx="1371600" cy="32004"/>
          </a:xfrm>
          <a:prstGeom prst="rect">
            <a:avLst/>
          </a:prstGeom>
          <a:solidFill>
            <a:srgbClr val="E58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180015" cy="4581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1.   A language model predicts the next word. It is optimised for plausibility, never for truth.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2.   Fluency is free; accuracy is not. They come apart, and the fluent wrong answer is the dangerous one.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3.   Give it your schema, not a description. Then paste the error back until it runs.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4.   Use it for anything you will check. Never for a number you cannot verify yourself.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2 ·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Before next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355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Read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: 'Large Language Models in Sport Science &amp; Medicine: Opportunities, Risks and Considerations' (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arXiv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2305.03851). Short, and written for you.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Bring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: if you have a real data file from your own work — a spreadsheet from a coach, your thesis data — bring it. 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Next week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: where sport data comes from, why it is almost never in a usable shape, and the missing values that are not missing at random.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</TotalTime>
  <Words>3416</Words>
  <Application>Microsoft Macintosh PowerPoint</Application>
  <PresentationFormat>Widescreen</PresentationFormat>
  <Paragraphs>217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Galip AYDIN</cp:lastModifiedBy>
  <cp:revision>11</cp:revision>
  <dcterms:created xsi:type="dcterms:W3CDTF">2013-01-27T09:14:16Z</dcterms:created>
  <dcterms:modified xsi:type="dcterms:W3CDTF">2026-10-14T07:00:02Z</dcterms:modified>
  <cp:category/>
</cp:coreProperties>
</file>